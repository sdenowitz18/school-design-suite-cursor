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7" r:id="rId2"/>
    <p:sldId id="753" r:id="rId3"/>
    <p:sldId id="698" r:id="rId4"/>
    <p:sldId id="756" r:id="rId5"/>
    <p:sldId id="754" r:id="rId6"/>
    <p:sldId id="738" r:id="rId7"/>
    <p:sldId id="740" r:id="rId8"/>
    <p:sldId id="741" r:id="rId9"/>
    <p:sldId id="739" r:id="rId10"/>
    <p:sldId id="742" r:id="rId11"/>
    <p:sldId id="743" r:id="rId12"/>
    <p:sldId id="757" r:id="rId13"/>
    <p:sldId id="745" r:id="rId14"/>
    <p:sldId id="746" r:id="rId15"/>
    <p:sldId id="750" r:id="rId16"/>
    <p:sldId id="758" r:id="rId17"/>
    <p:sldId id="759" r:id="rId18"/>
    <p:sldId id="751" r:id="rId19"/>
    <p:sldId id="744" r:id="rId20"/>
    <p:sldId id="755" r:id="rId21"/>
    <p:sldId id="737" r:id="rId22"/>
    <p:sldId id="748" r:id="rId23"/>
    <p:sldId id="74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791"/>
    <a:srgbClr val="EB9B99"/>
    <a:srgbClr val="D0EFD1"/>
    <a:srgbClr val="D9EA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3"/>
    <p:restoredTop sz="94555"/>
  </p:normalViewPr>
  <p:slideViewPr>
    <p:cSldViewPr snapToGrid="0">
      <p:cViewPr>
        <p:scale>
          <a:sx n="85" d="100"/>
          <a:sy n="85" d="100"/>
        </p:scale>
        <p:origin x="1288" y="5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BB10C7-F89A-E246-8AEB-E637D8A149C8}" type="datetimeFigureOut">
              <a:rPr lang="en-US" smtClean="0"/>
              <a:t>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B1502B-A0DC-E946-B4A2-80B356FCD76E}" type="slidenum">
              <a:rPr lang="en-US" smtClean="0"/>
              <a:t>‹#›</a:t>
            </a:fld>
            <a:endParaRPr lang="en-US"/>
          </a:p>
        </p:txBody>
      </p:sp>
    </p:spTree>
    <p:extLst>
      <p:ext uri="{BB962C8B-B14F-4D97-AF65-F5344CB8AC3E}">
        <p14:creationId xmlns:p14="http://schemas.microsoft.com/office/powerpoint/2010/main" val="129614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74B9DCD3-9BAB-C19F-9352-AB995963733D}"/>
            </a:ext>
          </a:extLst>
        </p:cNvPr>
        <p:cNvGrpSpPr/>
        <p:nvPr/>
      </p:nvGrpSpPr>
      <p:grpSpPr>
        <a:xfrm>
          <a:off x="0" y="0"/>
          <a:ext cx="0" cy="0"/>
          <a:chOff x="0" y="0"/>
          <a:chExt cx="0" cy="0"/>
        </a:xfrm>
      </p:grpSpPr>
      <p:sp>
        <p:nvSpPr>
          <p:cNvPr id="154" name="Google Shape;154;g389dda45f34_0_4773:notes">
            <a:extLst>
              <a:ext uri="{FF2B5EF4-FFF2-40B4-BE49-F238E27FC236}">
                <a16:creationId xmlns:a16="http://schemas.microsoft.com/office/drawing/2014/main" id="{343A1135-0CFB-81D7-FDBB-9FA0572B8E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55" name="Google Shape;155;g389dda45f34_0_4773:notes">
            <a:extLst>
              <a:ext uri="{FF2B5EF4-FFF2-40B4-BE49-F238E27FC236}">
                <a16:creationId xmlns:a16="http://schemas.microsoft.com/office/drawing/2014/main" id="{37D88696-2597-2C09-F5B8-C5FDE9494CB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6" name="Google Shape;156;g389dda45f34_0_4773:notes">
            <a:extLst>
              <a:ext uri="{FF2B5EF4-FFF2-40B4-BE49-F238E27FC236}">
                <a16:creationId xmlns:a16="http://schemas.microsoft.com/office/drawing/2014/main" id="{5E374AC3-7FBE-7BF4-3668-6D9E0D6D23C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rgbClr val="000000"/>
                </a:solidFill>
                <a:latin typeface="Arial"/>
                <a:ea typeface="Arial"/>
                <a:cs typeface="Arial"/>
                <a:sym typeface="Arial"/>
              </a:rPr>
              <a:t>2</a:t>
            </a:fld>
            <a:endParaRPr sz="1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89501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28772-4737-F79B-3135-E7788AC73F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5485A-C022-03FD-4F20-5E0664F4AEB9}"/>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3EB3F26C-73A5-8AA7-AEE2-6B2D611E80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7B6F09-3294-1771-1B7A-2848E1A2E0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A8A38-674C-DC43-A9B6-EB3A9DDB572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68515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B85CF-35F7-BD23-E836-547047DD2C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75D77-4B80-6E3F-A04A-6BCE3E8B2BBD}"/>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95E1FF61-50F3-7C53-8E0C-9ECC417F0B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B047D2-E652-E4D6-73BB-DCA9A03D29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A8A38-674C-DC43-A9B6-EB3A9DDB572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746690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A7461-BC90-C87D-CEA7-7D6B0A00D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A8DAC-1D5B-0240-38A9-4FE75B42E2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31223E-38E6-E408-5240-E2EFD4D2C4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244917-4D53-30E6-BBD3-95048556F486}"/>
              </a:ext>
            </a:extLst>
          </p:cNvPr>
          <p:cNvSpPr>
            <a:spLocks noGrp="1"/>
          </p:cNvSpPr>
          <p:nvPr>
            <p:ph type="sldNum" sz="quarter" idx="5"/>
          </p:nvPr>
        </p:nvSpPr>
        <p:spPr/>
        <p:txBody>
          <a:bodyPr/>
          <a:lstStyle/>
          <a:p>
            <a:fld id="{3A9A8A38-674C-DC43-A9B6-EB3A9DDB5729}" type="slidenum">
              <a:rPr lang="en-US" smtClean="0"/>
              <a:t>5</a:t>
            </a:fld>
            <a:endParaRPr lang="en-US"/>
          </a:p>
        </p:txBody>
      </p:sp>
    </p:spTree>
    <p:extLst>
      <p:ext uri="{BB962C8B-B14F-4D97-AF65-F5344CB8AC3E}">
        <p14:creationId xmlns:p14="http://schemas.microsoft.com/office/powerpoint/2010/main" val="3285116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9F474-5376-74CA-1194-2757B2144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306D5-6B79-6CF3-35AD-C491B8060E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D71568-9577-71E1-C58C-55F080957C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D232FA-7FA1-BA32-0CA6-C247DB5C1AF2}"/>
              </a:ext>
            </a:extLst>
          </p:cNvPr>
          <p:cNvSpPr>
            <a:spLocks noGrp="1"/>
          </p:cNvSpPr>
          <p:nvPr>
            <p:ph type="sldNum" sz="quarter" idx="5"/>
          </p:nvPr>
        </p:nvSpPr>
        <p:spPr/>
        <p:txBody>
          <a:bodyPr/>
          <a:lstStyle/>
          <a:p>
            <a:fld id="{3A9A8A38-674C-DC43-A9B6-EB3A9DDB5729}" type="slidenum">
              <a:rPr lang="en-US" smtClean="0"/>
              <a:t>6</a:t>
            </a:fld>
            <a:endParaRPr lang="en-US"/>
          </a:p>
        </p:txBody>
      </p:sp>
    </p:spTree>
    <p:extLst>
      <p:ext uri="{BB962C8B-B14F-4D97-AF65-F5344CB8AC3E}">
        <p14:creationId xmlns:p14="http://schemas.microsoft.com/office/powerpoint/2010/main" val="1292426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7F74C-04F8-3675-B36B-61E7FCD91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E1DAB-1407-C387-684A-7B49EBD3AF7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5EF7FC-8345-3D79-E9FD-625B5C783B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AE2820-B853-5781-565B-0AAB728F772F}"/>
              </a:ext>
            </a:extLst>
          </p:cNvPr>
          <p:cNvSpPr>
            <a:spLocks noGrp="1"/>
          </p:cNvSpPr>
          <p:nvPr>
            <p:ph type="sldNum" sz="quarter" idx="5"/>
          </p:nvPr>
        </p:nvSpPr>
        <p:spPr/>
        <p:txBody>
          <a:bodyPr/>
          <a:lstStyle/>
          <a:p>
            <a:fld id="{3A9A8A38-674C-DC43-A9B6-EB3A9DDB5729}" type="slidenum">
              <a:rPr lang="en-US" smtClean="0"/>
              <a:t>7</a:t>
            </a:fld>
            <a:endParaRPr lang="en-US"/>
          </a:p>
        </p:txBody>
      </p:sp>
    </p:spTree>
    <p:extLst>
      <p:ext uri="{BB962C8B-B14F-4D97-AF65-F5344CB8AC3E}">
        <p14:creationId xmlns:p14="http://schemas.microsoft.com/office/powerpoint/2010/main" val="1756127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F97CE-2762-F862-AFCF-2EF3E0B2A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1C81C-5947-2E08-4A90-37B9401D898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546DCA-2C26-FB46-ED5D-27FD7E1320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BBFE8A-16CB-DFD8-0279-5F6FAA8EBD23}"/>
              </a:ext>
            </a:extLst>
          </p:cNvPr>
          <p:cNvSpPr>
            <a:spLocks noGrp="1"/>
          </p:cNvSpPr>
          <p:nvPr>
            <p:ph type="sldNum" sz="quarter" idx="5"/>
          </p:nvPr>
        </p:nvSpPr>
        <p:spPr/>
        <p:txBody>
          <a:bodyPr/>
          <a:lstStyle/>
          <a:p>
            <a:fld id="{3A9A8A38-674C-DC43-A9B6-EB3A9DDB5729}" type="slidenum">
              <a:rPr lang="en-US" smtClean="0"/>
              <a:t>8</a:t>
            </a:fld>
            <a:endParaRPr lang="en-US"/>
          </a:p>
        </p:txBody>
      </p:sp>
    </p:spTree>
    <p:extLst>
      <p:ext uri="{BB962C8B-B14F-4D97-AF65-F5344CB8AC3E}">
        <p14:creationId xmlns:p14="http://schemas.microsoft.com/office/powerpoint/2010/main" val="3085613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911B6-63C3-A7D3-2C28-4E8C2FFD1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6E6BF2-D1FC-0CF3-15B7-673D81B5A0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202F3E3-CD89-BB62-0553-360D3F2946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469C0A-7177-4267-5D3E-5B638E03B814}"/>
              </a:ext>
            </a:extLst>
          </p:cNvPr>
          <p:cNvSpPr>
            <a:spLocks noGrp="1"/>
          </p:cNvSpPr>
          <p:nvPr>
            <p:ph type="sldNum" sz="quarter" idx="5"/>
          </p:nvPr>
        </p:nvSpPr>
        <p:spPr/>
        <p:txBody>
          <a:bodyPr/>
          <a:lstStyle/>
          <a:p>
            <a:fld id="{3A9A8A38-674C-DC43-A9B6-EB3A9DDB5729}" type="slidenum">
              <a:rPr lang="en-US" smtClean="0"/>
              <a:t>9</a:t>
            </a:fld>
            <a:endParaRPr lang="en-US"/>
          </a:p>
        </p:txBody>
      </p:sp>
    </p:spTree>
    <p:extLst>
      <p:ext uri="{BB962C8B-B14F-4D97-AF65-F5344CB8AC3E}">
        <p14:creationId xmlns:p14="http://schemas.microsoft.com/office/powerpoint/2010/main" val="3742633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144C2-6AD5-1817-9F3F-CBC27DA61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19B9C1-85DD-E4DA-72FA-C245AF14C7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797B12-9844-6027-34DE-81AB6FAB59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B0E52A-D4AE-36A8-3AD9-EA2A1226D86F}"/>
              </a:ext>
            </a:extLst>
          </p:cNvPr>
          <p:cNvSpPr>
            <a:spLocks noGrp="1"/>
          </p:cNvSpPr>
          <p:nvPr>
            <p:ph type="sldNum" sz="quarter" idx="5"/>
          </p:nvPr>
        </p:nvSpPr>
        <p:spPr/>
        <p:txBody>
          <a:bodyPr/>
          <a:lstStyle/>
          <a:p>
            <a:fld id="{3A9A8A38-674C-DC43-A9B6-EB3A9DDB5729}" type="slidenum">
              <a:rPr lang="en-US" smtClean="0"/>
              <a:t>10</a:t>
            </a:fld>
            <a:endParaRPr lang="en-US"/>
          </a:p>
        </p:txBody>
      </p:sp>
    </p:spTree>
    <p:extLst>
      <p:ext uri="{BB962C8B-B14F-4D97-AF65-F5344CB8AC3E}">
        <p14:creationId xmlns:p14="http://schemas.microsoft.com/office/powerpoint/2010/main" val="3885095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6C9C6-34F1-6E04-0355-33D25304A3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5B8F37-EF36-8529-FC4E-4A574E1E12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602DA8-01C8-2ED7-8ABA-18545E7293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CFB92F-1BB4-1685-AAF6-746A10A580E6}"/>
              </a:ext>
            </a:extLst>
          </p:cNvPr>
          <p:cNvSpPr>
            <a:spLocks noGrp="1"/>
          </p:cNvSpPr>
          <p:nvPr>
            <p:ph type="sldNum" sz="quarter" idx="5"/>
          </p:nvPr>
        </p:nvSpPr>
        <p:spPr/>
        <p:txBody>
          <a:bodyPr/>
          <a:lstStyle/>
          <a:p>
            <a:fld id="{3A9A8A38-674C-DC43-A9B6-EB3A9DDB5729}" type="slidenum">
              <a:rPr lang="en-US" smtClean="0"/>
              <a:t>11</a:t>
            </a:fld>
            <a:endParaRPr lang="en-US"/>
          </a:p>
        </p:txBody>
      </p:sp>
    </p:spTree>
    <p:extLst>
      <p:ext uri="{BB962C8B-B14F-4D97-AF65-F5344CB8AC3E}">
        <p14:creationId xmlns:p14="http://schemas.microsoft.com/office/powerpoint/2010/main" val="432574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15180-0C65-F94D-71DE-F9C6714431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080B19-11F9-36B3-37F6-7F04E3598F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0BAC081-83CF-24E9-D7ED-AB1BE4D096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341AD2-01E1-DF4B-1C30-B962DA4C319D}"/>
              </a:ext>
            </a:extLst>
          </p:cNvPr>
          <p:cNvSpPr>
            <a:spLocks noGrp="1"/>
          </p:cNvSpPr>
          <p:nvPr>
            <p:ph type="sldNum" sz="quarter" idx="5"/>
          </p:nvPr>
        </p:nvSpPr>
        <p:spPr/>
        <p:txBody>
          <a:bodyPr/>
          <a:lstStyle/>
          <a:p>
            <a:fld id="{3A9A8A38-674C-DC43-A9B6-EB3A9DDB5729}" type="slidenum">
              <a:rPr lang="en-US" smtClean="0"/>
              <a:t>12</a:t>
            </a:fld>
            <a:endParaRPr lang="en-US"/>
          </a:p>
        </p:txBody>
      </p:sp>
    </p:spTree>
    <p:extLst>
      <p:ext uri="{BB962C8B-B14F-4D97-AF65-F5344CB8AC3E}">
        <p14:creationId xmlns:p14="http://schemas.microsoft.com/office/powerpoint/2010/main" val="889276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9C756-EB3B-7580-B151-6346BC93C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A4B97-5F40-3456-38DD-9054E4DDA4B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76373B-AFC1-17CF-C07C-2FF69DA624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20004C-B9F6-02E3-029A-6A1CF61094C0}"/>
              </a:ext>
            </a:extLst>
          </p:cNvPr>
          <p:cNvSpPr>
            <a:spLocks noGrp="1"/>
          </p:cNvSpPr>
          <p:nvPr>
            <p:ph type="sldNum" sz="quarter" idx="5"/>
          </p:nvPr>
        </p:nvSpPr>
        <p:spPr/>
        <p:txBody>
          <a:bodyPr/>
          <a:lstStyle/>
          <a:p>
            <a:fld id="{3A9A8A38-674C-DC43-A9B6-EB3A9DDB5729}" type="slidenum">
              <a:rPr lang="en-US" smtClean="0"/>
              <a:t>13</a:t>
            </a:fld>
            <a:endParaRPr lang="en-US"/>
          </a:p>
        </p:txBody>
      </p:sp>
    </p:spTree>
    <p:extLst>
      <p:ext uri="{BB962C8B-B14F-4D97-AF65-F5344CB8AC3E}">
        <p14:creationId xmlns:p14="http://schemas.microsoft.com/office/powerpoint/2010/main" val="11820332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CD73E-8DE5-D5A1-C359-74DE2044B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DD921-9C45-7219-0C95-F837AE8E62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826829-DD7D-C2BC-B30D-594887EB1A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C72C2A-37CA-9BE5-48AF-42B8F35BF156}"/>
              </a:ext>
            </a:extLst>
          </p:cNvPr>
          <p:cNvSpPr>
            <a:spLocks noGrp="1"/>
          </p:cNvSpPr>
          <p:nvPr>
            <p:ph type="sldNum" sz="quarter" idx="5"/>
          </p:nvPr>
        </p:nvSpPr>
        <p:spPr/>
        <p:txBody>
          <a:bodyPr/>
          <a:lstStyle/>
          <a:p>
            <a:fld id="{3A9A8A38-674C-DC43-A9B6-EB3A9DDB5729}" type="slidenum">
              <a:rPr lang="en-US" smtClean="0"/>
              <a:t>14</a:t>
            </a:fld>
            <a:endParaRPr lang="en-US"/>
          </a:p>
        </p:txBody>
      </p:sp>
    </p:spTree>
    <p:extLst>
      <p:ext uri="{BB962C8B-B14F-4D97-AF65-F5344CB8AC3E}">
        <p14:creationId xmlns:p14="http://schemas.microsoft.com/office/powerpoint/2010/main" val="3789545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1C6A6-CD7C-FA6B-5037-E2B94DFF54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656124-A11E-17CD-7131-281605C44B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1442FD-2812-ADBC-D678-2716508C94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8F526C-8DAC-05FE-36DA-6A5840560A96}"/>
              </a:ext>
            </a:extLst>
          </p:cNvPr>
          <p:cNvSpPr>
            <a:spLocks noGrp="1"/>
          </p:cNvSpPr>
          <p:nvPr>
            <p:ph type="sldNum" sz="quarter" idx="5"/>
          </p:nvPr>
        </p:nvSpPr>
        <p:spPr/>
        <p:txBody>
          <a:bodyPr/>
          <a:lstStyle/>
          <a:p>
            <a:fld id="{3A9A8A38-674C-DC43-A9B6-EB3A9DDB5729}" type="slidenum">
              <a:rPr lang="en-US" smtClean="0"/>
              <a:t>15</a:t>
            </a:fld>
            <a:endParaRPr lang="en-US"/>
          </a:p>
        </p:txBody>
      </p:sp>
    </p:spTree>
    <p:extLst>
      <p:ext uri="{BB962C8B-B14F-4D97-AF65-F5344CB8AC3E}">
        <p14:creationId xmlns:p14="http://schemas.microsoft.com/office/powerpoint/2010/main" val="674867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2F20D3DB-CD68-EDEF-26AA-335F7DB6D7D0}"/>
            </a:ext>
          </a:extLst>
        </p:cNvPr>
        <p:cNvGrpSpPr/>
        <p:nvPr/>
      </p:nvGrpSpPr>
      <p:grpSpPr>
        <a:xfrm>
          <a:off x="0" y="0"/>
          <a:ext cx="0" cy="0"/>
          <a:chOff x="0" y="0"/>
          <a:chExt cx="0" cy="0"/>
        </a:xfrm>
      </p:grpSpPr>
      <p:sp>
        <p:nvSpPr>
          <p:cNvPr id="154" name="Google Shape;154;g389dda45f34_0_4773:notes">
            <a:extLst>
              <a:ext uri="{FF2B5EF4-FFF2-40B4-BE49-F238E27FC236}">
                <a16:creationId xmlns:a16="http://schemas.microsoft.com/office/drawing/2014/main" id="{ACD84590-B1EB-FC93-C505-71DA381C0A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55" name="Google Shape;155;g389dda45f34_0_4773:notes">
            <a:extLst>
              <a:ext uri="{FF2B5EF4-FFF2-40B4-BE49-F238E27FC236}">
                <a16:creationId xmlns:a16="http://schemas.microsoft.com/office/drawing/2014/main" id="{6ED2ADD7-F8B9-F720-94F6-4133AB3818A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6" name="Google Shape;156;g389dda45f34_0_4773:notes">
            <a:extLst>
              <a:ext uri="{FF2B5EF4-FFF2-40B4-BE49-F238E27FC236}">
                <a16:creationId xmlns:a16="http://schemas.microsoft.com/office/drawing/2014/main" id="{09474A44-A04D-3BD1-C682-ED8576491E9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rgbClr val="000000"/>
                </a:solidFill>
                <a:latin typeface="Arial"/>
                <a:ea typeface="Arial"/>
                <a:cs typeface="Arial"/>
                <a:sym typeface="Arial"/>
              </a:rPr>
              <a:t>16</a:t>
            </a:fld>
            <a:endParaRPr sz="1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187505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D47B35A9-40D1-5E6A-3119-2ABD03FB6F1A}"/>
            </a:ext>
          </a:extLst>
        </p:cNvPr>
        <p:cNvGrpSpPr/>
        <p:nvPr/>
      </p:nvGrpSpPr>
      <p:grpSpPr>
        <a:xfrm>
          <a:off x="0" y="0"/>
          <a:ext cx="0" cy="0"/>
          <a:chOff x="0" y="0"/>
          <a:chExt cx="0" cy="0"/>
        </a:xfrm>
      </p:grpSpPr>
      <p:sp>
        <p:nvSpPr>
          <p:cNvPr id="154" name="Google Shape;154;g389dda45f34_0_4773:notes">
            <a:extLst>
              <a:ext uri="{FF2B5EF4-FFF2-40B4-BE49-F238E27FC236}">
                <a16:creationId xmlns:a16="http://schemas.microsoft.com/office/drawing/2014/main" id="{1F2C75F0-3F03-F753-A6C0-09EB85CF75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55" name="Google Shape;155;g389dda45f34_0_4773:notes">
            <a:extLst>
              <a:ext uri="{FF2B5EF4-FFF2-40B4-BE49-F238E27FC236}">
                <a16:creationId xmlns:a16="http://schemas.microsoft.com/office/drawing/2014/main" id="{2B04C4EF-6536-7365-C7AB-54F5747C9D9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6" name="Google Shape;156;g389dda45f34_0_4773:notes">
            <a:extLst>
              <a:ext uri="{FF2B5EF4-FFF2-40B4-BE49-F238E27FC236}">
                <a16:creationId xmlns:a16="http://schemas.microsoft.com/office/drawing/2014/main" id="{5C7653BF-5E00-6C35-61CB-17EFCC24D91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rgbClr val="000000"/>
                </a:solidFill>
                <a:latin typeface="Arial"/>
                <a:ea typeface="Arial"/>
                <a:cs typeface="Arial"/>
                <a:sym typeface="Arial"/>
              </a:rPr>
              <a:t>17</a:t>
            </a:fld>
            <a:endParaRPr sz="1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7053414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9425C43A-1A81-C424-826C-395B2F8D7E3A}"/>
            </a:ext>
          </a:extLst>
        </p:cNvPr>
        <p:cNvGrpSpPr/>
        <p:nvPr/>
      </p:nvGrpSpPr>
      <p:grpSpPr>
        <a:xfrm>
          <a:off x="0" y="0"/>
          <a:ext cx="0" cy="0"/>
          <a:chOff x="0" y="0"/>
          <a:chExt cx="0" cy="0"/>
        </a:xfrm>
      </p:grpSpPr>
      <p:sp>
        <p:nvSpPr>
          <p:cNvPr id="154" name="Google Shape;154;g389dda45f34_0_4773:notes">
            <a:extLst>
              <a:ext uri="{FF2B5EF4-FFF2-40B4-BE49-F238E27FC236}">
                <a16:creationId xmlns:a16="http://schemas.microsoft.com/office/drawing/2014/main" id="{133FC8C8-9C8B-C7F1-5611-91CCD5A42B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55" name="Google Shape;155;g389dda45f34_0_4773:notes">
            <a:extLst>
              <a:ext uri="{FF2B5EF4-FFF2-40B4-BE49-F238E27FC236}">
                <a16:creationId xmlns:a16="http://schemas.microsoft.com/office/drawing/2014/main" id="{12075B53-FB50-4B13-C682-8EDFCC0BB56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6" name="Google Shape;156;g389dda45f34_0_4773:notes">
            <a:extLst>
              <a:ext uri="{FF2B5EF4-FFF2-40B4-BE49-F238E27FC236}">
                <a16:creationId xmlns:a16="http://schemas.microsoft.com/office/drawing/2014/main" id="{246433BD-BB10-26FF-2C1C-C6B2939074A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rgbClr val="000000"/>
                </a:solidFill>
                <a:latin typeface="Arial"/>
                <a:ea typeface="Arial"/>
                <a:cs typeface="Arial"/>
                <a:sym typeface="Arial"/>
              </a:rPr>
              <a:t>18</a:t>
            </a:fld>
            <a:endParaRPr sz="1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101598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3B8E7-1FB3-F1B5-FE5A-FD5D209CC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0F7A1-8A19-D397-71B3-F5ACF08265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200B17-913C-A547-4EC2-1CC8AE4E0D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34E689-90E1-B195-9181-9EC35C6E9352}"/>
              </a:ext>
            </a:extLst>
          </p:cNvPr>
          <p:cNvSpPr>
            <a:spLocks noGrp="1"/>
          </p:cNvSpPr>
          <p:nvPr>
            <p:ph type="sldNum" sz="quarter" idx="5"/>
          </p:nvPr>
        </p:nvSpPr>
        <p:spPr/>
        <p:txBody>
          <a:bodyPr/>
          <a:lstStyle/>
          <a:p>
            <a:fld id="{3A9A8A38-674C-DC43-A9B6-EB3A9DDB5729}" type="slidenum">
              <a:rPr lang="en-US" smtClean="0"/>
              <a:t>19</a:t>
            </a:fld>
            <a:endParaRPr lang="en-US"/>
          </a:p>
        </p:txBody>
      </p:sp>
    </p:spTree>
    <p:extLst>
      <p:ext uri="{BB962C8B-B14F-4D97-AF65-F5344CB8AC3E}">
        <p14:creationId xmlns:p14="http://schemas.microsoft.com/office/powerpoint/2010/main" val="41304384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428C2-D390-100F-3834-061F870F6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AED54C-1078-8776-F3BD-01BAD91E479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258ADEE-625E-7238-69C2-F6661C1F70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E13F9A-2A90-04F0-1F94-0ED2C07D8706}"/>
              </a:ext>
            </a:extLst>
          </p:cNvPr>
          <p:cNvSpPr>
            <a:spLocks noGrp="1"/>
          </p:cNvSpPr>
          <p:nvPr>
            <p:ph type="sldNum" sz="quarter" idx="5"/>
          </p:nvPr>
        </p:nvSpPr>
        <p:spPr/>
        <p:txBody>
          <a:bodyPr/>
          <a:lstStyle/>
          <a:p>
            <a:fld id="{3A9A8A38-674C-DC43-A9B6-EB3A9DDB5729}" type="slidenum">
              <a:rPr lang="en-US" smtClean="0"/>
              <a:t>20</a:t>
            </a:fld>
            <a:endParaRPr lang="en-US"/>
          </a:p>
        </p:txBody>
      </p:sp>
    </p:spTree>
    <p:extLst>
      <p:ext uri="{BB962C8B-B14F-4D97-AF65-F5344CB8AC3E}">
        <p14:creationId xmlns:p14="http://schemas.microsoft.com/office/powerpoint/2010/main" val="13537188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19F4F-F02D-DE2A-68DE-B75415968D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BE20C-B5AF-C6A1-CDCA-95FDC1802C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92F063-B02D-F15D-EB77-872B87420B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5D037D-26EF-639F-A62B-359CFF523565}"/>
              </a:ext>
            </a:extLst>
          </p:cNvPr>
          <p:cNvSpPr>
            <a:spLocks noGrp="1"/>
          </p:cNvSpPr>
          <p:nvPr>
            <p:ph type="sldNum" sz="quarter" idx="5"/>
          </p:nvPr>
        </p:nvSpPr>
        <p:spPr/>
        <p:txBody>
          <a:bodyPr/>
          <a:lstStyle/>
          <a:p>
            <a:fld id="{3A9A8A38-674C-DC43-A9B6-EB3A9DDB5729}" type="slidenum">
              <a:rPr lang="en-US" smtClean="0"/>
              <a:t>21</a:t>
            </a:fld>
            <a:endParaRPr lang="en-US"/>
          </a:p>
        </p:txBody>
      </p:sp>
    </p:spTree>
    <p:extLst>
      <p:ext uri="{BB962C8B-B14F-4D97-AF65-F5344CB8AC3E}">
        <p14:creationId xmlns:p14="http://schemas.microsoft.com/office/powerpoint/2010/main" val="19483105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07E3E-1D3B-EFAA-3325-915BC1A1FF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02D8B-9CB1-8018-CAC8-8CA1768BBD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26F1C20-7EDD-E268-6A31-A2D41E82A7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38FEB5-9E70-3FB1-4F14-B5B34B2EFDCB}"/>
              </a:ext>
            </a:extLst>
          </p:cNvPr>
          <p:cNvSpPr>
            <a:spLocks noGrp="1"/>
          </p:cNvSpPr>
          <p:nvPr>
            <p:ph type="sldNum" sz="quarter" idx="5"/>
          </p:nvPr>
        </p:nvSpPr>
        <p:spPr/>
        <p:txBody>
          <a:bodyPr/>
          <a:lstStyle/>
          <a:p>
            <a:fld id="{3A9A8A38-674C-DC43-A9B6-EB3A9DDB5729}" type="slidenum">
              <a:rPr lang="en-US" smtClean="0"/>
              <a:t>22</a:t>
            </a:fld>
            <a:endParaRPr lang="en-US"/>
          </a:p>
        </p:txBody>
      </p:sp>
    </p:spTree>
    <p:extLst>
      <p:ext uri="{BB962C8B-B14F-4D97-AF65-F5344CB8AC3E}">
        <p14:creationId xmlns:p14="http://schemas.microsoft.com/office/powerpoint/2010/main" val="5752618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3E14D-530E-2557-EFC7-11E073077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EE1277-C3E4-590E-CA65-E49FE82CF7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4541F9-6A05-3637-E98B-7A8ED2161F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3D3E02-5B7F-A417-60FB-60A33838BEF2}"/>
              </a:ext>
            </a:extLst>
          </p:cNvPr>
          <p:cNvSpPr>
            <a:spLocks noGrp="1"/>
          </p:cNvSpPr>
          <p:nvPr>
            <p:ph type="sldNum" sz="quarter" idx="5"/>
          </p:nvPr>
        </p:nvSpPr>
        <p:spPr/>
        <p:txBody>
          <a:bodyPr/>
          <a:lstStyle/>
          <a:p>
            <a:fld id="{3A9A8A38-674C-DC43-A9B6-EB3A9DDB5729}" type="slidenum">
              <a:rPr lang="en-US" smtClean="0"/>
              <a:t>23</a:t>
            </a:fld>
            <a:endParaRPr lang="en-US"/>
          </a:p>
        </p:txBody>
      </p:sp>
    </p:spTree>
    <p:extLst>
      <p:ext uri="{BB962C8B-B14F-4D97-AF65-F5344CB8AC3E}">
        <p14:creationId xmlns:p14="http://schemas.microsoft.com/office/powerpoint/2010/main" val="2369289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FD17E-6B2C-B43B-EEBB-30361C2B1C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590A97-E3CD-CD16-1F44-A6EC55F3AB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E2FCD9C-7A6F-E2F9-A2CC-EBF580CF34C8}"/>
              </a:ext>
            </a:extLst>
          </p:cNvPr>
          <p:cNvSpPr>
            <a:spLocks noGrp="1"/>
          </p:cNvSpPr>
          <p:nvPr>
            <p:ph type="dt" sz="half" idx="10"/>
          </p:nvPr>
        </p:nvSpPr>
        <p:spPr/>
        <p:txBody>
          <a:bodyPr/>
          <a:lstStyle/>
          <a:p>
            <a:fld id="{65B88DD8-67E9-E54B-8060-DC7A30750EDC}" type="datetimeFigureOut">
              <a:rPr lang="en-US" smtClean="0"/>
              <a:t>4/20/26</a:t>
            </a:fld>
            <a:endParaRPr lang="en-US"/>
          </a:p>
        </p:txBody>
      </p:sp>
      <p:sp>
        <p:nvSpPr>
          <p:cNvPr id="5" name="Footer Placeholder 4">
            <a:extLst>
              <a:ext uri="{FF2B5EF4-FFF2-40B4-BE49-F238E27FC236}">
                <a16:creationId xmlns:a16="http://schemas.microsoft.com/office/drawing/2014/main" id="{3DDDB6B7-8396-B568-9F2C-C752CD197A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AC343C-A8BF-E342-9614-CF7C0ECC46C0}"/>
              </a:ext>
            </a:extLst>
          </p:cNvPr>
          <p:cNvSpPr>
            <a:spLocks noGrp="1"/>
          </p:cNvSpPr>
          <p:nvPr>
            <p:ph type="sldNum" sz="quarter" idx="12"/>
          </p:nvPr>
        </p:nvSpPr>
        <p:spPr/>
        <p:txBody>
          <a:bodyPr/>
          <a:lstStyle/>
          <a:p>
            <a:fld id="{859813E3-C998-D149-89ED-6AE0DD3A9803}" type="slidenum">
              <a:rPr lang="en-US" smtClean="0"/>
              <a:t>‹#›</a:t>
            </a:fld>
            <a:endParaRPr lang="en-US"/>
          </a:p>
        </p:txBody>
      </p:sp>
    </p:spTree>
    <p:extLst>
      <p:ext uri="{BB962C8B-B14F-4D97-AF65-F5344CB8AC3E}">
        <p14:creationId xmlns:p14="http://schemas.microsoft.com/office/powerpoint/2010/main" val="2059863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3DFA2-05B3-0616-F517-3A347CFB7E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F7150F-8E53-4365-F454-A8D3D91BD6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24232B-DE18-58E7-C599-5FDF42023DE2}"/>
              </a:ext>
            </a:extLst>
          </p:cNvPr>
          <p:cNvSpPr>
            <a:spLocks noGrp="1"/>
          </p:cNvSpPr>
          <p:nvPr>
            <p:ph type="dt" sz="half" idx="10"/>
          </p:nvPr>
        </p:nvSpPr>
        <p:spPr/>
        <p:txBody>
          <a:bodyPr/>
          <a:lstStyle/>
          <a:p>
            <a:fld id="{65B88DD8-67E9-E54B-8060-DC7A30750EDC}" type="datetimeFigureOut">
              <a:rPr lang="en-US" smtClean="0"/>
              <a:t>4/20/26</a:t>
            </a:fld>
            <a:endParaRPr lang="en-US"/>
          </a:p>
        </p:txBody>
      </p:sp>
      <p:sp>
        <p:nvSpPr>
          <p:cNvPr id="5" name="Footer Placeholder 4">
            <a:extLst>
              <a:ext uri="{FF2B5EF4-FFF2-40B4-BE49-F238E27FC236}">
                <a16:creationId xmlns:a16="http://schemas.microsoft.com/office/drawing/2014/main" id="{56AE5F18-ADD2-FAB7-6349-0ACD100AED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E9DF2-F48A-741E-1A6E-4492964E59B5}"/>
              </a:ext>
            </a:extLst>
          </p:cNvPr>
          <p:cNvSpPr>
            <a:spLocks noGrp="1"/>
          </p:cNvSpPr>
          <p:nvPr>
            <p:ph type="sldNum" sz="quarter" idx="12"/>
          </p:nvPr>
        </p:nvSpPr>
        <p:spPr/>
        <p:txBody>
          <a:bodyPr/>
          <a:lstStyle/>
          <a:p>
            <a:fld id="{859813E3-C998-D149-89ED-6AE0DD3A9803}" type="slidenum">
              <a:rPr lang="en-US" smtClean="0"/>
              <a:t>‹#›</a:t>
            </a:fld>
            <a:endParaRPr lang="en-US"/>
          </a:p>
        </p:txBody>
      </p:sp>
    </p:spTree>
    <p:extLst>
      <p:ext uri="{BB962C8B-B14F-4D97-AF65-F5344CB8AC3E}">
        <p14:creationId xmlns:p14="http://schemas.microsoft.com/office/powerpoint/2010/main" val="243551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E356-0FF8-893C-C453-533AD0FFFE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3B0950-53CC-05EC-904E-BA88AA6EC1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18F5CA-E80D-0969-076F-F37245561834}"/>
              </a:ext>
            </a:extLst>
          </p:cNvPr>
          <p:cNvSpPr>
            <a:spLocks noGrp="1"/>
          </p:cNvSpPr>
          <p:nvPr>
            <p:ph type="dt" sz="half" idx="10"/>
          </p:nvPr>
        </p:nvSpPr>
        <p:spPr/>
        <p:txBody>
          <a:bodyPr/>
          <a:lstStyle/>
          <a:p>
            <a:fld id="{65B88DD8-67E9-E54B-8060-DC7A30750EDC}" type="datetimeFigureOut">
              <a:rPr lang="en-US" smtClean="0"/>
              <a:t>4/20/26</a:t>
            </a:fld>
            <a:endParaRPr lang="en-US"/>
          </a:p>
        </p:txBody>
      </p:sp>
      <p:sp>
        <p:nvSpPr>
          <p:cNvPr id="5" name="Footer Placeholder 4">
            <a:extLst>
              <a:ext uri="{FF2B5EF4-FFF2-40B4-BE49-F238E27FC236}">
                <a16:creationId xmlns:a16="http://schemas.microsoft.com/office/drawing/2014/main" id="{03C27061-9628-12AB-BAA0-E8894E2807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880709-4025-D047-13E7-EE0856CB33C1}"/>
              </a:ext>
            </a:extLst>
          </p:cNvPr>
          <p:cNvSpPr>
            <a:spLocks noGrp="1"/>
          </p:cNvSpPr>
          <p:nvPr>
            <p:ph type="sldNum" sz="quarter" idx="12"/>
          </p:nvPr>
        </p:nvSpPr>
        <p:spPr/>
        <p:txBody>
          <a:bodyPr/>
          <a:lstStyle/>
          <a:p>
            <a:fld id="{859813E3-C998-D149-89ED-6AE0DD3A9803}" type="slidenum">
              <a:rPr lang="en-US" smtClean="0"/>
              <a:t>‹#›</a:t>
            </a:fld>
            <a:endParaRPr lang="en-US"/>
          </a:p>
        </p:txBody>
      </p:sp>
    </p:spTree>
    <p:extLst>
      <p:ext uri="{BB962C8B-B14F-4D97-AF65-F5344CB8AC3E}">
        <p14:creationId xmlns:p14="http://schemas.microsoft.com/office/powerpoint/2010/main" val="2025642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DFC98-863C-34A8-8145-5FB11400F6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691E38-DB29-246E-AEC2-43AA23CA8F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2C3413-ED82-AC6C-F399-3DC343FE34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60D7DB-8435-1C38-0CA8-9ED6B4C2489F}"/>
              </a:ext>
            </a:extLst>
          </p:cNvPr>
          <p:cNvSpPr>
            <a:spLocks noGrp="1"/>
          </p:cNvSpPr>
          <p:nvPr>
            <p:ph type="dt" sz="half" idx="10"/>
          </p:nvPr>
        </p:nvSpPr>
        <p:spPr/>
        <p:txBody>
          <a:bodyPr/>
          <a:lstStyle/>
          <a:p>
            <a:fld id="{65B88DD8-67E9-E54B-8060-DC7A30750EDC}" type="datetimeFigureOut">
              <a:rPr lang="en-US" smtClean="0"/>
              <a:t>4/20/26</a:t>
            </a:fld>
            <a:endParaRPr lang="en-US"/>
          </a:p>
        </p:txBody>
      </p:sp>
      <p:sp>
        <p:nvSpPr>
          <p:cNvPr id="6" name="Footer Placeholder 5">
            <a:extLst>
              <a:ext uri="{FF2B5EF4-FFF2-40B4-BE49-F238E27FC236}">
                <a16:creationId xmlns:a16="http://schemas.microsoft.com/office/drawing/2014/main" id="{0EE76F52-4955-F866-251F-579D31BC07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E5DB5D-20B8-9057-886D-670847DDCBCC}"/>
              </a:ext>
            </a:extLst>
          </p:cNvPr>
          <p:cNvSpPr>
            <a:spLocks noGrp="1"/>
          </p:cNvSpPr>
          <p:nvPr>
            <p:ph type="sldNum" sz="quarter" idx="12"/>
          </p:nvPr>
        </p:nvSpPr>
        <p:spPr/>
        <p:txBody>
          <a:bodyPr/>
          <a:lstStyle/>
          <a:p>
            <a:fld id="{859813E3-C998-D149-89ED-6AE0DD3A9803}" type="slidenum">
              <a:rPr lang="en-US" smtClean="0"/>
              <a:t>‹#›</a:t>
            </a:fld>
            <a:endParaRPr lang="en-US"/>
          </a:p>
        </p:txBody>
      </p:sp>
    </p:spTree>
    <p:extLst>
      <p:ext uri="{BB962C8B-B14F-4D97-AF65-F5344CB8AC3E}">
        <p14:creationId xmlns:p14="http://schemas.microsoft.com/office/powerpoint/2010/main" val="158804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8BF14-884B-CEA0-8454-1C9A268C2E4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918105-6E13-7FD4-6AD1-123308EDBD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A9FC67-23CA-CC80-FB66-E0F789CA69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644161-F732-DC41-6407-BD848FB696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1CA6C9-8E6D-0A17-BA16-B0DF1D2B45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803988-5480-B9A8-701F-0615B808E803}"/>
              </a:ext>
            </a:extLst>
          </p:cNvPr>
          <p:cNvSpPr>
            <a:spLocks noGrp="1"/>
          </p:cNvSpPr>
          <p:nvPr>
            <p:ph type="dt" sz="half" idx="10"/>
          </p:nvPr>
        </p:nvSpPr>
        <p:spPr/>
        <p:txBody>
          <a:bodyPr/>
          <a:lstStyle/>
          <a:p>
            <a:fld id="{65B88DD8-67E9-E54B-8060-DC7A30750EDC}" type="datetimeFigureOut">
              <a:rPr lang="en-US" smtClean="0"/>
              <a:t>4/20/26</a:t>
            </a:fld>
            <a:endParaRPr lang="en-US"/>
          </a:p>
        </p:txBody>
      </p:sp>
      <p:sp>
        <p:nvSpPr>
          <p:cNvPr id="8" name="Footer Placeholder 7">
            <a:extLst>
              <a:ext uri="{FF2B5EF4-FFF2-40B4-BE49-F238E27FC236}">
                <a16:creationId xmlns:a16="http://schemas.microsoft.com/office/drawing/2014/main" id="{31BEB491-AFC8-B16F-2316-CD39380E87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73D8AA-DD78-DEDC-E7BA-1B5D9E7A426B}"/>
              </a:ext>
            </a:extLst>
          </p:cNvPr>
          <p:cNvSpPr>
            <a:spLocks noGrp="1"/>
          </p:cNvSpPr>
          <p:nvPr>
            <p:ph type="sldNum" sz="quarter" idx="12"/>
          </p:nvPr>
        </p:nvSpPr>
        <p:spPr/>
        <p:txBody>
          <a:bodyPr/>
          <a:lstStyle/>
          <a:p>
            <a:fld id="{859813E3-C998-D149-89ED-6AE0DD3A9803}" type="slidenum">
              <a:rPr lang="en-US" smtClean="0"/>
              <a:t>‹#›</a:t>
            </a:fld>
            <a:endParaRPr lang="en-US"/>
          </a:p>
        </p:txBody>
      </p:sp>
    </p:spTree>
    <p:extLst>
      <p:ext uri="{BB962C8B-B14F-4D97-AF65-F5344CB8AC3E}">
        <p14:creationId xmlns:p14="http://schemas.microsoft.com/office/powerpoint/2010/main" val="2062429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C0E4F-2395-3E92-AE9A-94400CCBCD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2510B8-7275-465D-DDDA-9FC52A9D2817}"/>
              </a:ext>
            </a:extLst>
          </p:cNvPr>
          <p:cNvSpPr>
            <a:spLocks noGrp="1"/>
          </p:cNvSpPr>
          <p:nvPr>
            <p:ph type="dt" sz="half" idx="10"/>
          </p:nvPr>
        </p:nvSpPr>
        <p:spPr/>
        <p:txBody>
          <a:bodyPr/>
          <a:lstStyle/>
          <a:p>
            <a:fld id="{65B88DD8-67E9-E54B-8060-DC7A30750EDC}" type="datetimeFigureOut">
              <a:rPr lang="en-US" smtClean="0"/>
              <a:t>4/20/26</a:t>
            </a:fld>
            <a:endParaRPr lang="en-US"/>
          </a:p>
        </p:txBody>
      </p:sp>
      <p:sp>
        <p:nvSpPr>
          <p:cNvPr id="4" name="Footer Placeholder 3">
            <a:extLst>
              <a:ext uri="{FF2B5EF4-FFF2-40B4-BE49-F238E27FC236}">
                <a16:creationId xmlns:a16="http://schemas.microsoft.com/office/drawing/2014/main" id="{F737BB63-38E3-C05F-E2D5-F0CF7972BF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658D79-B764-EB0B-35E3-8B1234FD8420}"/>
              </a:ext>
            </a:extLst>
          </p:cNvPr>
          <p:cNvSpPr>
            <a:spLocks noGrp="1"/>
          </p:cNvSpPr>
          <p:nvPr>
            <p:ph type="sldNum" sz="quarter" idx="12"/>
          </p:nvPr>
        </p:nvSpPr>
        <p:spPr/>
        <p:txBody>
          <a:bodyPr/>
          <a:lstStyle/>
          <a:p>
            <a:fld id="{859813E3-C998-D149-89ED-6AE0DD3A9803}" type="slidenum">
              <a:rPr lang="en-US" smtClean="0"/>
              <a:t>‹#›</a:t>
            </a:fld>
            <a:endParaRPr lang="en-US"/>
          </a:p>
        </p:txBody>
      </p:sp>
    </p:spTree>
    <p:extLst>
      <p:ext uri="{BB962C8B-B14F-4D97-AF65-F5344CB8AC3E}">
        <p14:creationId xmlns:p14="http://schemas.microsoft.com/office/powerpoint/2010/main" val="551944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8956C7-FE02-2C8C-4203-822CA9BD4644}"/>
              </a:ext>
            </a:extLst>
          </p:cNvPr>
          <p:cNvSpPr>
            <a:spLocks noGrp="1"/>
          </p:cNvSpPr>
          <p:nvPr>
            <p:ph type="dt" sz="half" idx="10"/>
          </p:nvPr>
        </p:nvSpPr>
        <p:spPr/>
        <p:txBody>
          <a:bodyPr/>
          <a:lstStyle/>
          <a:p>
            <a:fld id="{65B88DD8-67E9-E54B-8060-DC7A30750EDC}" type="datetimeFigureOut">
              <a:rPr lang="en-US" smtClean="0"/>
              <a:t>4/20/26</a:t>
            </a:fld>
            <a:endParaRPr lang="en-US"/>
          </a:p>
        </p:txBody>
      </p:sp>
      <p:sp>
        <p:nvSpPr>
          <p:cNvPr id="3" name="Footer Placeholder 2">
            <a:extLst>
              <a:ext uri="{FF2B5EF4-FFF2-40B4-BE49-F238E27FC236}">
                <a16:creationId xmlns:a16="http://schemas.microsoft.com/office/drawing/2014/main" id="{913643A3-C276-397D-300C-565359A74E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96F57A-7E44-F72F-02AE-E7064AE00009}"/>
              </a:ext>
            </a:extLst>
          </p:cNvPr>
          <p:cNvSpPr>
            <a:spLocks noGrp="1"/>
          </p:cNvSpPr>
          <p:nvPr>
            <p:ph type="sldNum" sz="quarter" idx="12"/>
          </p:nvPr>
        </p:nvSpPr>
        <p:spPr/>
        <p:txBody>
          <a:bodyPr/>
          <a:lstStyle/>
          <a:p>
            <a:fld id="{859813E3-C998-D149-89ED-6AE0DD3A9803}" type="slidenum">
              <a:rPr lang="en-US" smtClean="0"/>
              <a:t>‹#›</a:t>
            </a:fld>
            <a:endParaRPr lang="en-US"/>
          </a:p>
        </p:txBody>
      </p:sp>
    </p:spTree>
    <p:extLst>
      <p:ext uri="{BB962C8B-B14F-4D97-AF65-F5344CB8AC3E}">
        <p14:creationId xmlns:p14="http://schemas.microsoft.com/office/powerpoint/2010/main" val="3183278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B2928-AEC1-D8D5-52C5-ABDEB58FB0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72520A-3478-EBC7-BDFE-640B98A57D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20AFE8-4D07-342F-608E-B6DDE87B43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2F3FA0-1E9E-5513-AB52-5B00DBA88F00}"/>
              </a:ext>
            </a:extLst>
          </p:cNvPr>
          <p:cNvSpPr>
            <a:spLocks noGrp="1"/>
          </p:cNvSpPr>
          <p:nvPr>
            <p:ph type="dt" sz="half" idx="10"/>
          </p:nvPr>
        </p:nvSpPr>
        <p:spPr/>
        <p:txBody>
          <a:bodyPr/>
          <a:lstStyle/>
          <a:p>
            <a:fld id="{65B88DD8-67E9-E54B-8060-DC7A30750EDC}" type="datetimeFigureOut">
              <a:rPr lang="en-US" smtClean="0"/>
              <a:t>4/20/26</a:t>
            </a:fld>
            <a:endParaRPr lang="en-US"/>
          </a:p>
        </p:txBody>
      </p:sp>
      <p:sp>
        <p:nvSpPr>
          <p:cNvPr id="6" name="Footer Placeholder 5">
            <a:extLst>
              <a:ext uri="{FF2B5EF4-FFF2-40B4-BE49-F238E27FC236}">
                <a16:creationId xmlns:a16="http://schemas.microsoft.com/office/drawing/2014/main" id="{5EFDFA59-7BAD-4456-8E24-49DD6734DD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A0C9CE-4F4A-95C5-99F1-E7F8B97DC60D}"/>
              </a:ext>
            </a:extLst>
          </p:cNvPr>
          <p:cNvSpPr>
            <a:spLocks noGrp="1"/>
          </p:cNvSpPr>
          <p:nvPr>
            <p:ph type="sldNum" sz="quarter" idx="12"/>
          </p:nvPr>
        </p:nvSpPr>
        <p:spPr/>
        <p:txBody>
          <a:bodyPr/>
          <a:lstStyle/>
          <a:p>
            <a:fld id="{859813E3-C998-D149-89ED-6AE0DD3A9803}" type="slidenum">
              <a:rPr lang="en-US" smtClean="0"/>
              <a:t>‹#›</a:t>
            </a:fld>
            <a:endParaRPr lang="en-US"/>
          </a:p>
        </p:txBody>
      </p:sp>
    </p:spTree>
    <p:extLst>
      <p:ext uri="{BB962C8B-B14F-4D97-AF65-F5344CB8AC3E}">
        <p14:creationId xmlns:p14="http://schemas.microsoft.com/office/powerpoint/2010/main" val="1156258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04D21-E9FB-ACE6-29DC-D42B0691E2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101DF6-C0B6-E488-41EC-00DDED51D3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7EA656-F034-AE09-5ED1-FCE620DC63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A8084A-8128-27F3-7130-57205D3005E7}"/>
              </a:ext>
            </a:extLst>
          </p:cNvPr>
          <p:cNvSpPr>
            <a:spLocks noGrp="1"/>
          </p:cNvSpPr>
          <p:nvPr>
            <p:ph type="dt" sz="half" idx="10"/>
          </p:nvPr>
        </p:nvSpPr>
        <p:spPr/>
        <p:txBody>
          <a:bodyPr/>
          <a:lstStyle/>
          <a:p>
            <a:fld id="{65B88DD8-67E9-E54B-8060-DC7A30750EDC}" type="datetimeFigureOut">
              <a:rPr lang="en-US" smtClean="0"/>
              <a:t>4/20/26</a:t>
            </a:fld>
            <a:endParaRPr lang="en-US"/>
          </a:p>
        </p:txBody>
      </p:sp>
      <p:sp>
        <p:nvSpPr>
          <p:cNvPr id="6" name="Footer Placeholder 5">
            <a:extLst>
              <a:ext uri="{FF2B5EF4-FFF2-40B4-BE49-F238E27FC236}">
                <a16:creationId xmlns:a16="http://schemas.microsoft.com/office/drawing/2014/main" id="{EBD04249-0B65-817C-ED41-E0DCA45FDB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9877B7-B27F-2E4E-A9D8-92053A9F46BD}"/>
              </a:ext>
            </a:extLst>
          </p:cNvPr>
          <p:cNvSpPr>
            <a:spLocks noGrp="1"/>
          </p:cNvSpPr>
          <p:nvPr>
            <p:ph type="sldNum" sz="quarter" idx="12"/>
          </p:nvPr>
        </p:nvSpPr>
        <p:spPr/>
        <p:txBody>
          <a:bodyPr/>
          <a:lstStyle/>
          <a:p>
            <a:fld id="{859813E3-C998-D149-89ED-6AE0DD3A9803}" type="slidenum">
              <a:rPr lang="en-US" smtClean="0"/>
              <a:t>‹#›</a:t>
            </a:fld>
            <a:endParaRPr lang="en-US"/>
          </a:p>
        </p:txBody>
      </p:sp>
    </p:spTree>
    <p:extLst>
      <p:ext uri="{BB962C8B-B14F-4D97-AF65-F5344CB8AC3E}">
        <p14:creationId xmlns:p14="http://schemas.microsoft.com/office/powerpoint/2010/main" val="4125762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14872-87C5-6074-2FC9-6220DCC986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B63314-A86D-94D9-8158-2F9A4FED75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40CB40-F776-3A3E-3CFF-EDE7EC1D01B9}"/>
              </a:ext>
            </a:extLst>
          </p:cNvPr>
          <p:cNvSpPr>
            <a:spLocks noGrp="1"/>
          </p:cNvSpPr>
          <p:nvPr>
            <p:ph type="dt" sz="half" idx="10"/>
          </p:nvPr>
        </p:nvSpPr>
        <p:spPr/>
        <p:txBody>
          <a:bodyPr/>
          <a:lstStyle/>
          <a:p>
            <a:fld id="{65B88DD8-67E9-E54B-8060-DC7A30750EDC}" type="datetimeFigureOut">
              <a:rPr lang="en-US" smtClean="0"/>
              <a:t>4/20/26</a:t>
            </a:fld>
            <a:endParaRPr lang="en-US"/>
          </a:p>
        </p:txBody>
      </p:sp>
      <p:sp>
        <p:nvSpPr>
          <p:cNvPr id="5" name="Footer Placeholder 4">
            <a:extLst>
              <a:ext uri="{FF2B5EF4-FFF2-40B4-BE49-F238E27FC236}">
                <a16:creationId xmlns:a16="http://schemas.microsoft.com/office/drawing/2014/main" id="{60FC5B8D-09E9-48C6-C1FE-03BA480A3F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AC6003-A57C-EF04-6112-411E2D86CEEB}"/>
              </a:ext>
            </a:extLst>
          </p:cNvPr>
          <p:cNvSpPr>
            <a:spLocks noGrp="1"/>
          </p:cNvSpPr>
          <p:nvPr>
            <p:ph type="sldNum" sz="quarter" idx="12"/>
          </p:nvPr>
        </p:nvSpPr>
        <p:spPr/>
        <p:txBody>
          <a:bodyPr/>
          <a:lstStyle/>
          <a:p>
            <a:fld id="{859813E3-C998-D149-89ED-6AE0DD3A9803}" type="slidenum">
              <a:rPr lang="en-US" smtClean="0"/>
              <a:t>‹#›</a:t>
            </a:fld>
            <a:endParaRPr lang="en-US"/>
          </a:p>
        </p:txBody>
      </p:sp>
    </p:spTree>
    <p:extLst>
      <p:ext uri="{BB962C8B-B14F-4D97-AF65-F5344CB8AC3E}">
        <p14:creationId xmlns:p14="http://schemas.microsoft.com/office/powerpoint/2010/main" val="90905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596460-A93A-8CFD-354D-B2E543BDE8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F292D3-7CE6-1B19-F21B-97D6E4274B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2B76C5-7F9D-40FC-6A8D-6A63D66CBBC5}"/>
              </a:ext>
            </a:extLst>
          </p:cNvPr>
          <p:cNvSpPr>
            <a:spLocks noGrp="1"/>
          </p:cNvSpPr>
          <p:nvPr>
            <p:ph type="dt" sz="half" idx="10"/>
          </p:nvPr>
        </p:nvSpPr>
        <p:spPr/>
        <p:txBody>
          <a:bodyPr/>
          <a:lstStyle/>
          <a:p>
            <a:fld id="{65B88DD8-67E9-E54B-8060-DC7A30750EDC}" type="datetimeFigureOut">
              <a:rPr lang="en-US" smtClean="0"/>
              <a:t>4/20/26</a:t>
            </a:fld>
            <a:endParaRPr lang="en-US"/>
          </a:p>
        </p:txBody>
      </p:sp>
      <p:sp>
        <p:nvSpPr>
          <p:cNvPr id="5" name="Footer Placeholder 4">
            <a:extLst>
              <a:ext uri="{FF2B5EF4-FFF2-40B4-BE49-F238E27FC236}">
                <a16:creationId xmlns:a16="http://schemas.microsoft.com/office/drawing/2014/main" id="{866E4B44-8153-C6E0-34CA-1A48BDB90B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1A9DB5-DC46-36A8-5BBA-F17F501D1C23}"/>
              </a:ext>
            </a:extLst>
          </p:cNvPr>
          <p:cNvSpPr>
            <a:spLocks noGrp="1"/>
          </p:cNvSpPr>
          <p:nvPr>
            <p:ph type="sldNum" sz="quarter" idx="12"/>
          </p:nvPr>
        </p:nvSpPr>
        <p:spPr/>
        <p:txBody>
          <a:bodyPr/>
          <a:lstStyle/>
          <a:p>
            <a:fld id="{859813E3-C998-D149-89ED-6AE0DD3A9803}" type="slidenum">
              <a:rPr lang="en-US" smtClean="0"/>
              <a:t>‹#›</a:t>
            </a:fld>
            <a:endParaRPr lang="en-US"/>
          </a:p>
        </p:txBody>
      </p:sp>
    </p:spTree>
    <p:extLst>
      <p:ext uri="{BB962C8B-B14F-4D97-AF65-F5344CB8AC3E}">
        <p14:creationId xmlns:p14="http://schemas.microsoft.com/office/powerpoint/2010/main" val="630472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4DE66C-24E1-0781-459A-2635582809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2EF1E6-AEFA-1EEA-AD06-B1C2DF0630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79F85A-3CBF-BA61-9C64-E754CF98E3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B88DD8-67E9-E54B-8060-DC7A30750EDC}" type="datetimeFigureOut">
              <a:rPr lang="en-US" smtClean="0"/>
              <a:t>4/20/26</a:t>
            </a:fld>
            <a:endParaRPr lang="en-US"/>
          </a:p>
        </p:txBody>
      </p:sp>
      <p:sp>
        <p:nvSpPr>
          <p:cNvPr id="5" name="Footer Placeholder 4">
            <a:extLst>
              <a:ext uri="{FF2B5EF4-FFF2-40B4-BE49-F238E27FC236}">
                <a16:creationId xmlns:a16="http://schemas.microsoft.com/office/drawing/2014/main" id="{37728907-FEC3-0E17-25C4-80558FCCC1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7719937-6563-22D4-735E-D87070F93B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9813E3-C998-D149-89ED-6AE0DD3A9803}" type="slidenum">
              <a:rPr lang="en-US" smtClean="0"/>
              <a:t>‹#›</a:t>
            </a:fld>
            <a:endParaRPr lang="en-US"/>
          </a:p>
        </p:txBody>
      </p:sp>
    </p:spTree>
    <p:extLst>
      <p:ext uri="{BB962C8B-B14F-4D97-AF65-F5344CB8AC3E}">
        <p14:creationId xmlns:p14="http://schemas.microsoft.com/office/powerpoint/2010/main" val="1190940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cs.google.com/spreadsheets/d/1ttrpNBs3bUABqgjHx5eq7q4DbyKK1FGf/edit?gid=391333522#gid=39133352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docs.google.com/spreadsheets/d/1ttrpNBs3bUABqgjHx5eq7q4DbyKK1FGf/edit?gid=1915117243#gid=1915117243"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miro.com/app/board/uXjVJUzJXNw=/?moveToWidget=3458764668602973274&amp;cot=14" TargetMode="Externa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7.sv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C8710-D471-F556-7BD7-7E262DD1A304}"/>
              </a:ext>
            </a:extLst>
          </p:cNvPr>
          <p:cNvSpPr>
            <a:spLocks noGrp="1"/>
          </p:cNvSpPr>
          <p:nvPr>
            <p:ph type="ctrTitle"/>
          </p:nvPr>
        </p:nvSpPr>
        <p:spPr/>
        <p:txBody>
          <a:bodyPr/>
          <a:lstStyle/>
          <a:p>
            <a:r>
              <a:rPr lang="en-US" dirty="0"/>
              <a:t>Ring Component “Full Views”</a:t>
            </a:r>
          </a:p>
        </p:txBody>
      </p:sp>
    </p:spTree>
    <p:extLst>
      <p:ext uri="{BB962C8B-B14F-4D97-AF65-F5344CB8AC3E}">
        <p14:creationId xmlns:p14="http://schemas.microsoft.com/office/powerpoint/2010/main" val="303556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A1322588-483A-69B5-64E5-930DDB9BF8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C7AF8F-5C31-FB0C-32DB-3FD21DFD408B}"/>
              </a:ext>
            </a:extLst>
          </p:cNvPr>
          <p:cNvSpPr txBox="1"/>
          <p:nvPr/>
        </p:nvSpPr>
        <p:spPr>
          <a:xfrm>
            <a:off x="461683" y="85633"/>
            <a:ext cx="11268634" cy="861774"/>
          </a:xfrm>
          <a:prstGeom prst="rect">
            <a:avLst/>
          </a:prstGeom>
          <a:noFill/>
        </p:spPr>
        <p:txBody>
          <a:bodyPr wrap="square" rtlCol="0">
            <a:spAutoFit/>
          </a:bodyPr>
          <a:lstStyle/>
          <a:p>
            <a:pPr algn="ctr"/>
            <a:r>
              <a:rPr lang="en-US" sz="5000" dirty="0"/>
              <a:t>V2 Ring Components</a:t>
            </a:r>
          </a:p>
        </p:txBody>
      </p:sp>
      <p:sp>
        <p:nvSpPr>
          <p:cNvPr id="348" name="Rounded Rectangular Callout 347">
            <a:extLst>
              <a:ext uri="{FF2B5EF4-FFF2-40B4-BE49-F238E27FC236}">
                <a16:creationId xmlns:a16="http://schemas.microsoft.com/office/drawing/2014/main" id="{CD37E355-D88A-FC91-030A-9300028D361A}"/>
              </a:ext>
            </a:extLst>
          </p:cNvPr>
          <p:cNvSpPr/>
          <p:nvPr/>
        </p:nvSpPr>
        <p:spPr>
          <a:xfrm>
            <a:off x="4952640" y="4255956"/>
            <a:ext cx="1469693" cy="617186"/>
          </a:xfrm>
          <a:prstGeom prst="wedgeRoundRectCallout">
            <a:avLst>
              <a:gd name="adj1" fmla="val 14470"/>
              <a:gd name="adj2" fmla="val -15542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Show icon for status here, hover over to see details</a:t>
            </a:r>
          </a:p>
        </p:txBody>
      </p:sp>
      <p:sp>
        <p:nvSpPr>
          <p:cNvPr id="349" name="Rounded Rectangular Callout 348">
            <a:extLst>
              <a:ext uri="{FF2B5EF4-FFF2-40B4-BE49-F238E27FC236}">
                <a16:creationId xmlns:a16="http://schemas.microsoft.com/office/drawing/2014/main" id="{503B09E1-5519-2267-AE6A-0A89898179BF}"/>
              </a:ext>
            </a:extLst>
          </p:cNvPr>
          <p:cNvSpPr/>
          <p:nvPr/>
        </p:nvSpPr>
        <p:spPr>
          <a:xfrm>
            <a:off x="6734207" y="3757673"/>
            <a:ext cx="1455431" cy="892338"/>
          </a:xfrm>
          <a:prstGeom prst="wedgeRoundRectCallout">
            <a:avLst>
              <a:gd name="adj1" fmla="val -80268"/>
              <a:gd name="adj2" fmla="val -70670"/>
              <a:gd name="adj3" fmla="val 16667"/>
            </a:avLst>
          </a:prstGeom>
          <a:solidFill>
            <a:srgbClr val="155F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2 Outcome types become the 2 scores at the bottom</a:t>
            </a:r>
          </a:p>
        </p:txBody>
      </p:sp>
      <p:sp>
        <p:nvSpPr>
          <p:cNvPr id="351" name="Rounded Rectangular Callout 350">
            <a:extLst>
              <a:ext uri="{FF2B5EF4-FFF2-40B4-BE49-F238E27FC236}">
                <a16:creationId xmlns:a16="http://schemas.microsoft.com/office/drawing/2014/main" id="{1D2D874C-D3D1-F032-0DAF-28B9E45056D9}"/>
              </a:ext>
            </a:extLst>
          </p:cNvPr>
          <p:cNvSpPr/>
          <p:nvPr/>
        </p:nvSpPr>
        <p:spPr>
          <a:xfrm>
            <a:off x="7275026" y="1408694"/>
            <a:ext cx="1455431" cy="892338"/>
          </a:xfrm>
          <a:prstGeom prst="wedgeRoundRectCallout">
            <a:avLst>
              <a:gd name="adj1" fmla="val -89409"/>
              <a:gd name="adj2" fmla="val 104248"/>
              <a:gd name="adj3" fmla="val 16667"/>
            </a:avLst>
          </a:prstGeom>
          <a:solidFill>
            <a:srgbClr val="155F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Data Preview Windows will ALWAYS be kept in Sync (across all components)</a:t>
            </a:r>
          </a:p>
        </p:txBody>
      </p:sp>
      <p:sp>
        <p:nvSpPr>
          <p:cNvPr id="352" name="Rounded Rectangular Callout 351">
            <a:extLst>
              <a:ext uri="{FF2B5EF4-FFF2-40B4-BE49-F238E27FC236}">
                <a16:creationId xmlns:a16="http://schemas.microsoft.com/office/drawing/2014/main" id="{5F1A63D2-4AAA-D254-6AB2-735A9D087435}"/>
              </a:ext>
            </a:extLst>
          </p:cNvPr>
          <p:cNvSpPr/>
          <p:nvPr/>
        </p:nvSpPr>
        <p:spPr>
          <a:xfrm>
            <a:off x="3492087" y="3496540"/>
            <a:ext cx="1455431" cy="892338"/>
          </a:xfrm>
          <a:prstGeom prst="wedgeRoundRectCallout">
            <a:avLst>
              <a:gd name="adj1" fmla="val 56761"/>
              <a:gd name="adj2" fmla="val -101616"/>
              <a:gd name="adj3" fmla="val 16667"/>
            </a:avLst>
          </a:prstGeom>
          <a:solidFill>
            <a:srgbClr val="155F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Standalone components should be </a:t>
            </a:r>
            <a:r>
              <a:rPr lang="en-US" sz="1200" i="1" dirty="0"/>
              <a:t>slightly </a:t>
            </a:r>
            <a:r>
              <a:rPr lang="en-US" sz="1200" dirty="0"/>
              <a:t>larger</a:t>
            </a:r>
          </a:p>
        </p:txBody>
      </p:sp>
      <p:sp>
        <p:nvSpPr>
          <p:cNvPr id="3" name="Octagon 2">
            <a:extLst>
              <a:ext uri="{FF2B5EF4-FFF2-40B4-BE49-F238E27FC236}">
                <a16:creationId xmlns:a16="http://schemas.microsoft.com/office/drawing/2014/main" id="{D36C7069-38ED-7A17-A2C5-B70B46A4AA95}"/>
              </a:ext>
            </a:extLst>
          </p:cNvPr>
          <p:cNvSpPr/>
          <p:nvPr/>
        </p:nvSpPr>
        <p:spPr>
          <a:xfrm>
            <a:off x="5063243" y="1979563"/>
            <a:ext cx="1663679" cy="1630943"/>
          </a:xfrm>
          <a:prstGeom prst="octagon">
            <a:avLst/>
          </a:prstGeom>
          <a:solidFill>
            <a:srgbClr val="DBF2D2"/>
          </a:solidFill>
          <a:effectLst>
            <a:outerShdw blurRad="336307" dist="50800" dir="5400000" sx="86326" sy="86326" algn="ctr" rotWithShape="0">
              <a:srgbClr val="00000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Rounded Rectangle 3">
            <a:extLst>
              <a:ext uri="{FF2B5EF4-FFF2-40B4-BE49-F238E27FC236}">
                <a16:creationId xmlns:a16="http://schemas.microsoft.com/office/drawing/2014/main" id="{219057F7-C4E5-B877-6288-6E38E816F880}"/>
              </a:ext>
            </a:extLst>
          </p:cNvPr>
          <p:cNvSpPr/>
          <p:nvPr/>
        </p:nvSpPr>
        <p:spPr>
          <a:xfrm>
            <a:off x="5251935" y="2484642"/>
            <a:ext cx="128629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9C9FF9C4-38E0-F889-598C-77053752F597}"/>
              </a:ext>
            </a:extLst>
          </p:cNvPr>
          <p:cNvSpPr txBox="1"/>
          <p:nvPr/>
        </p:nvSpPr>
        <p:spPr>
          <a:xfrm>
            <a:off x="5316947" y="2155575"/>
            <a:ext cx="1178547" cy="290913"/>
          </a:xfrm>
          <a:prstGeom prst="rect">
            <a:avLst/>
          </a:prstGeom>
          <a:noFill/>
        </p:spPr>
        <p:txBody>
          <a:bodyPr wrap="square">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b="0" i="0" u="none" strike="noStrike" kern="1200" cap="none" spc="0" normalizeH="0" baseline="0" noProof="0" dirty="0">
                <a:ln>
                  <a:noFill/>
                </a:ln>
                <a:solidFill>
                  <a:srgbClr val="3B7D23"/>
                </a:solidFill>
                <a:effectLst/>
                <a:uLnTx/>
                <a:uFillTx/>
                <a:latin typeface="Aptos" panose="02110004020202020204"/>
                <a:ea typeface="+mn-ea"/>
                <a:cs typeface="+mn-cs"/>
              </a:rPr>
              <a:t>COMP 3</a:t>
            </a:r>
          </a:p>
        </p:txBody>
      </p:sp>
      <p:sp>
        <p:nvSpPr>
          <p:cNvPr id="6" name="TextBox 5">
            <a:extLst>
              <a:ext uri="{FF2B5EF4-FFF2-40B4-BE49-F238E27FC236}">
                <a16:creationId xmlns:a16="http://schemas.microsoft.com/office/drawing/2014/main" id="{3532A049-AF2D-CC41-B327-B35FD32FC685}"/>
              </a:ext>
            </a:extLst>
          </p:cNvPr>
          <p:cNvSpPr txBox="1"/>
          <p:nvPr/>
        </p:nvSpPr>
        <p:spPr>
          <a:xfrm>
            <a:off x="5622593" y="2394900"/>
            <a:ext cx="588843"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i="0" u="none" strike="noStrike" kern="1200" cap="none" spc="0" normalizeH="0" baseline="0" noProof="0" dirty="0">
                <a:ln>
                  <a:noFill/>
                </a:ln>
                <a:solidFill>
                  <a:schemeClr val="bg1">
                    <a:lumMod val="50000"/>
                  </a:schemeClr>
                </a:solidFill>
                <a:effectLst/>
                <a:uLnTx/>
                <a:uFillTx/>
                <a:latin typeface="Aptos" panose="02110004020202020204"/>
                <a:ea typeface="+mn-ea"/>
                <a:cs typeface="+mn-cs"/>
              </a:rPr>
              <a:t>Key Drivers</a:t>
            </a:r>
          </a:p>
        </p:txBody>
      </p:sp>
      <p:sp>
        <p:nvSpPr>
          <p:cNvPr id="7" name="TextBox 6">
            <a:extLst>
              <a:ext uri="{FF2B5EF4-FFF2-40B4-BE49-F238E27FC236}">
                <a16:creationId xmlns:a16="http://schemas.microsoft.com/office/drawing/2014/main" id="{5F6332B1-44CE-7AA7-7447-5B11A4C3F58A}"/>
              </a:ext>
            </a:extLst>
          </p:cNvPr>
          <p:cNvSpPr txBox="1"/>
          <p:nvPr/>
        </p:nvSpPr>
        <p:spPr>
          <a:xfrm>
            <a:off x="6496332" y="2650524"/>
            <a:ext cx="29226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24242"/>
                </a:solidFill>
                <a:effectLst/>
                <a:uLnTx/>
                <a:uFillTx/>
                <a:latin typeface="Arial Unicode MS" panose="020B0604020202020204" pitchFamily="34" charset="-128"/>
                <a:ea typeface="Arial Unicode MS" panose="020B0604020202020204" pitchFamily="34" charset="-128"/>
                <a:cs typeface="+mn-cs"/>
              </a:rPr>
              <a:t>►</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1B3DAE1B-CFB0-AC73-CD2D-5AC8C2EC4C39}"/>
              </a:ext>
            </a:extLst>
          </p:cNvPr>
          <p:cNvSpPr txBox="1"/>
          <p:nvPr/>
        </p:nvSpPr>
        <p:spPr>
          <a:xfrm>
            <a:off x="5839228" y="3229727"/>
            <a:ext cx="566233"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 b="0" i="0" u="none" strike="noStrike" kern="1200" cap="none" spc="0" normalizeH="0" baseline="0" noProof="0" dirty="0">
                <a:ln>
                  <a:noFill/>
                </a:ln>
                <a:solidFill>
                  <a:prstClr val="black"/>
                </a:solidFill>
                <a:effectLst/>
                <a:uLnTx/>
                <a:uFillTx/>
                <a:latin typeface="Aptos" panose="02110004020202020204"/>
                <a:ea typeface="+mn-ea"/>
                <a:cs typeface="+mn-cs"/>
              </a:rPr>
              <a:t>Engagement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 b="0" i="0" u="none" strike="noStrike" kern="1200" cap="none" spc="0" normalizeH="0" baseline="0" noProof="0" dirty="0">
                <a:ln>
                  <a:noFill/>
                </a:ln>
                <a:solidFill>
                  <a:prstClr val="black"/>
                </a:solidFill>
                <a:effectLst/>
                <a:uLnTx/>
                <a:uFillTx/>
                <a:latin typeface="Aptos" panose="02110004020202020204"/>
                <a:ea typeface="+mn-ea"/>
                <a:cs typeface="+mn-cs"/>
              </a:rPr>
              <a:t>&amp; Wellbeing</a:t>
            </a:r>
          </a:p>
        </p:txBody>
      </p:sp>
      <p:sp>
        <p:nvSpPr>
          <p:cNvPr id="9" name="TextBox 8">
            <a:extLst>
              <a:ext uri="{FF2B5EF4-FFF2-40B4-BE49-F238E27FC236}">
                <a16:creationId xmlns:a16="http://schemas.microsoft.com/office/drawing/2014/main" id="{975A62CA-246C-840B-DD0D-00E15863E35C}"/>
              </a:ext>
            </a:extLst>
          </p:cNvPr>
          <p:cNvSpPr txBox="1"/>
          <p:nvPr/>
        </p:nvSpPr>
        <p:spPr>
          <a:xfrm>
            <a:off x="5356316" y="3237114"/>
            <a:ext cx="64034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 b="0" i="0" u="none" strike="noStrike" kern="1200" cap="none" spc="0" normalizeH="0" baseline="0" noProof="0" dirty="0">
                <a:ln>
                  <a:noFill/>
                </a:ln>
                <a:solidFill>
                  <a:prstClr val="black"/>
                </a:solidFill>
                <a:effectLst/>
                <a:uLnTx/>
                <a:uFillTx/>
                <a:latin typeface="Aptos" panose="02110004020202020204"/>
                <a:ea typeface="+mn-ea"/>
                <a:cs typeface="+mn-cs"/>
              </a:rPr>
              <a:t>Learning &amp; Advancement</a:t>
            </a:r>
          </a:p>
        </p:txBody>
      </p:sp>
      <p:sp>
        <p:nvSpPr>
          <p:cNvPr id="10" name="Rounded Rectangle 9">
            <a:extLst>
              <a:ext uri="{FF2B5EF4-FFF2-40B4-BE49-F238E27FC236}">
                <a16:creationId xmlns:a16="http://schemas.microsoft.com/office/drawing/2014/main" id="{4B300FAE-E80C-CF3C-07F2-B3DD4AFEF801}"/>
              </a:ext>
            </a:extLst>
          </p:cNvPr>
          <p:cNvSpPr/>
          <p:nvPr/>
        </p:nvSpPr>
        <p:spPr>
          <a:xfrm>
            <a:off x="6017455" y="3430187"/>
            <a:ext cx="227362" cy="132706"/>
          </a:xfrm>
          <a:prstGeom prst="roundRect">
            <a:avLst/>
          </a:prstGeom>
          <a:solidFill>
            <a:schemeClr val="accent6">
              <a:lumMod val="60000"/>
              <a:lumOff val="4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56082"/>
                </a:solidFill>
                <a:effectLst/>
                <a:uLnTx/>
                <a:uFillTx/>
                <a:latin typeface="Aptos" panose="02110004020202020204"/>
                <a:ea typeface="+mn-ea"/>
                <a:cs typeface="+mn-cs"/>
              </a:rPr>
              <a:t>5</a:t>
            </a:r>
          </a:p>
        </p:txBody>
      </p:sp>
      <p:sp>
        <p:nvSpPr>
          <p:cNvPr id="11" name="Rounded Rectangle 10">
            <a:extLst>
              <a:ext uri="{FF2B5EF4-FFF2-40B4-BE49-F238E27FC236}">
                <a16:creationId xmlns:a16="http://schemas.microsoft.com/office/drawing/2014/main" id="{7048EF74-D6C8-739C-AD1B-C29F101F4D8D}"/>
              </a:ext>
            </a:extLst>
          </p:cNvPr>
          <p:cNvSpPr/>
          <p:nvPr/>
        </p:nvSpPr>
        <p:spPr>
          <a:xfrm>
            <a:off x="5554813" y="3433177"/>
            <a:ext cx="227362" cy="132706"/>
          </a:xfrm>
          <a:prstGeom prst="roundRect">
            <a:avLst/>
          </a:prstGeom>
          <a:solidFill>
            <a:schemeClr val="accent6">
              <a:lumMod val="60000"/>
              <a:lumOff val="4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56082"/>
                </a:solidFill>
                <a:effectLst/>
                <a:uLnTx/>
                <a:uFillTx/>
                <a:latin typeface="Aptos" panose="02110004020202020204"/>
                <a:ea typeface="+mn-ea"/>
                <a:cs typeface="+mn-cs"/>
              </a:rPr>
              <a:t>5</a:t>
            </a:r>
          </a:p>
        </p:txBody>
      </p:sp>
      <p:sp>
        <p:nvSpPr>
          <p:cNvPr id="12" name="Google Shape;182;p27">
            <a:extLst>
              <a:ext uri="{FF2B5EF4-FFF2-40B4-BE49-F238E27FC236}">
                <a16:creationId xmlns:a16="http://schemas.microsoft.com/office/drawing/2014/main" id="{1A9B029D-BA8E-894E-117A-1CB6E879DD6A}"/>
              </a:ext>
            </a:extLst>
          </p:cNvPr>
          <p:cNvSpPr/>
          <p:nvPr/>
        </p:nvSpPr>
        <p:spPr>
          <a:xfrm>
            <a:off x="6166838" y="2009296"/>
            <a:ext cx="64008" cy="64008"/>
          </a:xfrm>
          <a:prstGeom prst="ellipse">
            <a:avLst/>
          </a:prstGeom>
          <a:solidFill>
            <a:schemeClr val="bg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Google Shape;183;p27">
            <a:extLst>
              <a:ext uri="{FF2B5EF4-FFF2-40B4-BE49-F238E27FC236}">
                <a16:creationId xmlns:a16="http://schemas.microsoft.com/office/drawing/2014/main" id="{C651ADAA-9BA0-8B79-3D2C-D9465D64B0F8}"/>
              </a:ext>
            </a:extLst>
          </p:cNvPr>
          <p:cNvSpPr/>
          <p:nvPr/>
        </p:nvSpPr>
        <p:spPr>
          <a:xfrm>
            <a:off x="6047505" y="2006096"/>
            <a:ext cx="70409" cy="70409"/>
          </a:xfrm>
          <a:prstGeom prst="ellipse">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oogle Shape;184;p27">
            <a:extLst>
              <a:ext uri="{FF2B5EF4-FFF2-40B4-BE49-F238E27FC236}">
                <a16:creationId xmlns:a16="http://schemas.microsoft.com/office/drawing/2014/main" id="{3F573CB7-3DF8-C51E-A123-996E4BB11379}"/>
              </a:ext>
            </a:extLst>
          </p:cNvPr>
          <p:cNvSpPr/>
          <p:nvPr/>
        </p:nvSpPr>
        <p:spPr>
          <a:xfrm>
            <a:off x="5687487" y="2006096"/>
            <a:ext cx="70409" cy="70409"/>
          </a:xfrm>
          <a:prstGeom prst="ellipse">
            <a:avLst/>
          </a:prstGeom>
          <a:solidFill>
            <a:schemeClr val="bg1">
              <a:lumMod val="65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oogle Shape;185;p27">
            <a:extLst>
              <a:ext uri="{FF2B5EF4-FFF2-40B4-BE49-F238E27FC236}">
                <a16:creationId xmlns:a16="http://schemas.microsoft.com/office/drawing/2014/main" id="{BE37351A-0CE1-8526-C346-2495946FF809}"/>
              </a:ext>
            </a:extLst>
          </p:cNvPr>
          <p:cNvSpPr/>
          <p:nvPr/>
        </p:nvSpPr>
        <p:spPr>
          <a:xfrm>
            <a:off x="5807493" y="2006096"/>
            <a:ext cx="70409" cy="70409"/>
          </a:xfrm>
          <a:prstGeom prst="ellipse">
            <a:avLst/>
          </a:prstGeom>
          <a:solidFill>
            <a:srgbClr val="7F7F7F"/>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Google Shape;186;p27">
            <a:extLst>
              <a:ext uri="{FF2B5EF4-FFF2-40B4-BE49-F238E27FC236}">
                <a16:creationId xmlns:a16="http://schemas.microsoft.com/office/drawing/2014/main" id="{80B2A38D-1B85-612B-8E99-367F531CB840}"/>
              </a:ext>
            </a:extLst>
          </p:cNvPr>
          <p:cNvSpPr/>
          <p:nvPr/>
        </p:nvSpPr>
        <p:spPr>
          <a:xfrm>
            <a:off x="5927499" y="2006096"/>
            <a:ext cx="70409" cy="70409"/>
          </a:xfrm>
          <a:prstGeom prst="ellipse">
            <a:avLst/>
          </a:prstGeom>
          <a:solidFill>
            <a:srgbClr val="C4C4C4"/>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Google Shape;187;p27">
            <a:extLst>
              <a:ext uri="{FF2B5EF4-FFF2-40B4-BE49-F238E27FC236}">
                <a16:creationId xmlns:a16="http://schemas.microsoft.com/office/drawing/2014/main" id="{ACEFE45B-01E0-5882-C707-81A6BB0F8A04}"/>
              </a:ext>
            </a:extLst>
          </p:cNvPr>
          <p:cNvSpPr/>
          <p:nvPr/>
        </p:nvSpPr>
        <p:spPr>
          <a:xfrm>
            <a:off x="5567481" y="2006096"/>
            <a:ext cx="70409" cy="70409"/>
          </a:xfrm>
          <a:prstGeom prst="ellipse">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8" name="TextBox 17">
            <a:extLst>
              <a:ext uri="{FF2B5EF4-FFF2-40B4-BE49-F238E27FC236}">
                <a16:creationId xmlns:a16="http://schemas.microsoft.com/office/drawing/2014/main" id="{2ACD0F4D-4486-C2CE-1F8E-E96FEB9D83B5}"/>
              </a:ext>
            </a:extLst>
          </p:cNvPr>
          <p:cNvSpPr txBox="1"/>
          <p:nvPr/>
        </p:nvSpPr>
        <p:spPr>
          <a:xfrm rot="10800000">
            <a:off x="5014381" y="2625013"/>
            <a:ext cx="29226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24242"/>
                </a:solidFill>
                <a:effectLst/>
                <a:uLnTx/>
                <a:uFillTx/>
                <a:latin typeface="Arial Unicode MS" panose="020B0604020202020204" pitchFamily="34" charset="-128"/>
                <a:ea typeface="Arial Unicode MS" panose="020B0604020202020204" pitchFamily="34" charset="-128"/>
                <a:cs typeface="+mn-cs"/>
              </a:rPr>
              <a:t>►</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9" name="Google Shape;342;p75">
            <a:extLst>
              <a:ext uri="{FF2B5EF4-FFF2-40B4-BE49-F238E27FC236}">
                <a16:creationId xmlns:a16="http://schemas.microsoft.com/office/drawing/2014/main" id="{D3EBB1EE-34B2-FED5-7B97-F5C7B738B55C}"/>
              </a:ext>
            </a:extLst>
          </p:cNvPr>
          <p:cNvPicPr preferRelativeResize="0"/>
          <p:nvPr/>
        </p:nvPicPr>
        <p:blipFill rotWithShape="1">
          <a:blip r:embed="rId3">
            <a:alphaModFix/>
          </a:blip>
          <a:srcRect/>
          <a:stretch/>
        </p:blipFill>
        <p:spPr>
          <a:xfrm>
            <a:off x="5832402" y="3425529"/>
            <a:ext cx="148377" cy="148497"/>
          </a:xfrm>
          <a:prstGeom prst="rect">
            <a:avLst/>
          </a:prstGeom>
          <a:noFill/>
          <a:ln>
            <a:noFill/>
          </a:ln>
          <a:effectLst>
            <a:outerShdw blurRad="57150" dist="19050" dir="5400000" algn="bl" rotWithShape="0">
              <a:srgbClr val="000000">
                <a:alpha val="20000"/>
              </a:srgbClr>
            </a:outerShdw>
          </a:effectLst>
        </p:spPr>
      </p:pic>
      <p:sp>
        <p:nvSpPr>
          <p:cNvPr id="20" name="TextBox 19">
            <a:extLst>
              <a:ext uri="{FF2B5EF4-FFF2-40B4-BE49-F238E27FC236}">
                <a16:creationId xmlns:a16="http://schemas.microsoft.com/office/drawing/2014/main" id="{8A09BA0E-E948-46D1-81A8-50581EB5AE0C}"/>
              </a:ext>
            </a:extLst>
          </p:cNvPr>
          <p:cNvSpPr txBox="1"/>
          <p:nvPr/>
        </p:nvSpPr>
        <p:spPr>
          <a:xfrm>
            <a:off x="5228937" y="2507885"/>
            <a:ext cx="410690" cy="184666"/>
          </a:xfrm>
          <a:prstGeom prst="rect">
            <a:avLst/>
          </a:prstGeom>
          <a:noFill/>
        </p:spPr>
        <p:txBody>
          <a:bodyPr wrap="none" rtlCol="0">
            <a:spAutoFit/>
          </a:bodyPr>
          <a:lstStyle/>
          <a:p>
            <a:pPr algn="ctr">
              <a:buClrTx/>
              <a:buFontTx/>
              <a:buNone/>
              <a:defRPr/>
            </a:pPr>
            <a:r>
              <a:rPr lang="en-US" sz="600" u="sng" kern="1200" dirty="0">
                <a:solidFill>
                  <a:srgbClr val="001F5F"/>
                </a:solidFill>
                <a:latin typeface="Aptos" panose="02110004020202020204"/>
                <a:ea typeface="+mn-ea"/>
                <a:cs typeface="+mn-cs"/>
              </a:rPr>
              <a:t>Design</a:t>
            </a:r>
          </a:p>
        </p:txBody>
      </p:sp>
      <p:sp>
        <p:nvSpPr>
          <p:cNvPr id="21" name="TextBox 20">
            <a:extLst>
              <a:ext uri="{FF2B5EF4-FFF2-40B4-BE49-F238E27FC236}">
                <a16:creationId xmlns:a16="http://schemas.microsoft.com/office/drawing/2014/main" id="{D498D757-A239-7992-A1F4-05AFB37672D0}"/>
              </a:ext>
            </a:extLst>
          </p:cNvPr>
          <p:cNvSpPr txBox="1"/>
          <p:nvPr/>
        </p:nvSpPr>
        <p:spPr>
          <a:xfrm>
            <a:off x="5999648" y="2503357"/>
            <a:ext cx="545342" cy="184666"/>
          </a:xfrm>
          <a:prstGeom prst="rect">
            <a:avLst/>
          </a:prstGeom>
          <a:noFill/>
        </p:spPr>
        <p:txBody>
          <a:bodyPr wrap="none" rtlCol="0">
            <a:spAutoFit/>
          </a:bodyPr>
          <a:lstStyle/>
          <a:p>
            <a:pPr>
              <a:buClrTx/>
              <a:buFontTx/>
              <a:buNone/>
            </a:pPr>
            <a:r>
              <a:rPr lang="en-US" sz="600" u="sng" kern="1200" dirty="0">
                <a:solidFill>
                  <a:srgbClr val="001F5F"/>
                </a:solidFill>
                <a:latin typeface="Aptos" panose="02110004020202020204"/>
                <a:ea typeface="+mn-ea"/>
                <a:cs typeface="+mn-cs"/>
              </a:rPr>
              <a:t>Conditions</a:t>
            </a:r>
          </a:p>
        </p:txBody>
      </p:sp>
      <p:cxnSp>
        <p:nvCxnSpPr>
          <p:cNvPr id="22" name="Straight Connector 21">
            <a:extLst>
              <a:ext uri="{FF2B5EF4-FFF2-40B4-BE49-F238E27FC236}">
                <a16:creationId xmlns:a16="http://schemas.microsoft.com/office/drawing/2014/main" id="{493089D4-2E7B-7411-F9B4-2D6583E462CB}"/>
              </a:ext>
            </a:extLst>
          </p:cNvPr>
          <p:cNvCxnSpPr>
            <a:cxnSpLocks/>
          </p:cNvCxnSpPr>
          <p:nvPr/>
        </p:nvCxnSpPr>
        <p:spPr>
          <a:xfrm>
            <a:off x="5495986" y="2680360"/>
            <a:ext cx="349625" cy="109725"/>
          </a:xfrm>
          <a:prstGeom prst="line">
            <a:avLst/>
          </a:prstGeom>
          <a:noFill/>
          <a:ln w="19050" cap="flat" cmpd="sng" algn="ctr">
            <a:solidFill>
              <a:srgbClr val="8EDA73"/>
            </a:solidFill>
            <a:prstDash val="solid"/>
            <a:miter lim="800000"/>
          </a:ln>
          <a:effectLst/>
        </p:spPr>
      </p:cxnSp>
      <p:cxnSp>
        <p:nvCxnSpPr>
          <p:cNvPr id="23" name="Straight Connector 22">
            <a:extLst>
              <a:ext uri="{FF2B5EF4-FFF2-40B4-BE49-F238E27FC236}">
                <a16:creationId xmlns:a16="http://schemas.microsoft.com/office/drawing/2014/main" id="{8BDE1EC8-CDB6-5D5B-A776-295B62AF4A18}"/>
              </a:ext>
            </a:extLst>
          </p:cNvPr>
          <p:cNvCxnSpPr>
            <a:cxnSpLocks/>
          </p:cNvCxnSpPr>
          <p:nvPr/>
        </p:nvCxnSpPr>
        <p:spPr>
          <a:xfrm flipV="1">
            <a:off x="5876758" y="2686420"/>
            <a:ext cx="336182" cy="106893"/>
          </a:xfrm>
          <a:prstGeom prst="line">
            <a:avLst/>
          </a:prstGeom>
          <a:noFill/>
          <a:ln w="19050" cap="flat" cmpd="sng" algn="ctr">
            <a:solidFill>
              <a:srgbClr val="FFD791"/>
            </a:solidFill>
            <a:prstDash val="solid"/>
            <a:miter lim="800000"/>
          </a:ln>
          <a:effectLst/>
        </p:spPr>
      </p:cxnSp>
      <p:cxnSp>
        <p:nvCxnSpPr>
          <p:cNvPr id="24" name="Straight Arrow Connector 23">
            <a:extLst>
              <a:ext uri="{FF2B5EF4-FFF2-40B4-BE49-F238E27FC236}">
                <a16:creationId xmlns:a16="http://schemas.microsoft.com/office/drawing/2014/main" id="{014CE6BE-5334-2D61-4D95-14DEF0FC64D2}"/>
              </a:ext>
            </a:extLst>
          </p:cNvPr>
          <p:cNvCxnSpPr>
            <a:cxnSpLocks/>
          </p:cNvCxnSpPr>
          <p:nvPr/>
        </p:nvCxnSpPr>
        <p:spPr>
          <a:xfrm>
            <a:off x="5854579" y="2801609"/>
            <a:ext cx="0" cy="213617"/>
          </a:xfrm>
          <a:prstGeom prst="straightConnector1">
            <a:avLst/>
          </a:prstGeom>
          <a:noFill/>
          <a:ln w="19050" cap="flat" cmpd="sng" algn="ctr">
            <a:solidFill>
              <a:srgbClr val="EB9A99"/>
            </a:solidFill>
            <a:prstDash val="solid"/>
            <a:miter lim="800000"/>
            <a:tailEnd type="triangle"/>
          </a:ln>
          <a:effectLst/>
        </p:spPr>
      </p:cxnSp>
      <p:sp>
        <p:nvSpPr>
          <p:cNvPr id="25" name="TextBox 24">
            <a:extLst>
              <a:ext uri="{FF2B5EF4-FFF2-40B4-BE49-F238E27FC236}">
                <a16:creationId xmlns:a16="http://schemas.microsoft.com/office/drawing/2014/main" id="{5A7627BB-582C-747E-549B-6D4F3D6FBCC1}"/>
              </a:ext>
            </a:extLst>
          </p:cNvPr>
          <p:cNvSpPr txBox="1"/>
          <p:nvPr/>
        </p:nvSpPr>
        <p:spPr>
          <a:xfrm>
            <a:off x="5520130" y="2777682"/>
            <a:ext cx="713657" cy="184666"/>
          </a:xfrm>
          <a:prstGeom prst="rect">
            <a:avLst/>
          </a:prstGeom>
          <a:noFill/>
          <a:ln>
            <a:noFill/>
          </a:ln>
        </p:spPr>
        <p:txBody>
          <a:bodyPr wrap="none" rtlCol="0">
            <a:spAutoFit/>
          </a:bodyPr>
          <a:lstStyle/>
          <a:p>
            <a:pPr>
              <a:buClrTx/>
              <a:buFontTx/>
              <a:buNone/>
            </a:pPr>
            <a:r>
              <a:rPr lang="en-US" sz="600" u="sng" kern="1200" dirty="0">
                <a:solidFill>
                  <a:srgbClr val="001F5F"/>
                </a:solidFill>
                <a:latin typeface="Aptos" panose="02110004020202020204"/>
                <a:ea typeface="+mn-ea"/>
                <a:cs typeface="+mn-cs"/>
              </a:rPr>
              <a:t>Implementation</a:t>
            </a:r>
          </a:p>
        </p:txBody>
      </p:sp>
      <p:sp>
        <p:nvSpPr>
          <p:cNvPr id="26" name="Rounded Rectangle 25">
            <a:extLst>
              <a:ext uri="{FF2B5EF4-FFF2-40B4-BE49-F238E27FC236}">
                <a16:creationId xmlns:a16="http://schemas.microsoft.com/office/drawing/2014/main" id="{892626DA-D977-FF32-5693-0E6C9855BAE8}"/>
              </a:ext>
            </a:extLst>
          </p:cNvPr>
          <p:cNvSpPr/>
          <p:nvPr/>
        </p:nvSpPr>
        <p:spPr>
          <a:xfrm>
            <a:off x="6101280" y="2656869"/>
            <a:ext cx="150268" cy="107627"/>
          </a:xfrm>
          <a:prstGeom prst="roundRect">
            <a:avLst/>
          </a:prstGeom>
          <a:solidFill>
            <a:srgbClr val="FFD79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dirty="0">
                <a:solidFill>
                  <a:srgbClr val="938120"/>
                </a:solidFill>
                <a:latin typeface="Aptos" panose="02110004020202020204"/>
              </a:rPr>
              <a:t>3</a:t>
            </a:r>
            <a:endParaRPr kumimoji="0" lang="en-US" sz="900" b="0" i="0" u="none" strike="noStrike" kern="1200" cap="none" spc="0" normalizeH="0" baseline="0" noProof="0" dirty="0">
              <a:ln>
                <a:noFill/>
              </a:ln>
              <a:solidFill>
                <a:srgbClr val="938120"/>
              </a:solidFill>
              <a:effectLst/>
              <a:uLnTx/>
              <a:uFillTx/>
              <a:latin typeface="Aptos" panose="02110004020202020204"/>
              <a:ea typeface="+mn-ea"/>
              <a:cs typeface="+mn-cs"/>
            </a:endParaRPr>
          </a:p>
        </p:txBody>
      </p:sp>
      <p:sp>
        <p:nvSpPr>
          <p:cNvPr id="27" name="Rounded Rectangle 26">
            <a:extLst>
              <a:ext uri="{FF2B5EF4-FFF2-40B4-BE49-F238E27FC236}">
                <a16:creationId xmlns:a16="http://schemas.microsoft.com/office/drawing/2014/main" id="{B747EC54-4C82-A20C-3287-DED48F59EA96}"/>
              </a:ext>
            </a:extLst>
          </p:cNvPr>
          <p:cNvSpPr/>
          <p:nvPr/>
        </p:nvSpPr>
        <p:spPr>
          <a:xfrm>
            <a:off x="5476656" y="2660696"/>
            <a:ext cx="150268" cy="107627"/>
          </a:xfrm>
          <a:prstGeom prst="roundRect">
            <a:avLst/>
          </a:prstGeom>
          <a:solidFill>
            <a:srgbClr val="4EA72E">
              <a:lumMod val="60000"/>
              <a:lumOff val="4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156082"/>
                </a:solidFill>
                <a:effectLst/>
                <a:uLnTx/>
                <a:uFillTx/>
                <a:latin typeface="Aptos" panose="02110004020202020204"/>
                <a:ea typeface="+mn-ea"/>
                <a:cs typeface="+mn-cs"/>
              </a:rPr>
              <a:t>5</a:t>
            </a:r>
          </a:p>
        </p:txBody>
      </p:sp>
      <p:sp>
        <p:nvSpPr>
          <p:cNvPr id="28" name="Rounded Rectangle 27">
            <a:extLst>
              <a:ext uri="{FF2B5EF4-FFF2-40B4-BE49-F238E27FC236}">
                <a16:creationId xmlns:a16="http://schemas.microsoft.com/office/drawing/2014/main" id="{6522B7EA-F2C5-E869-FEE5-BF7DEB238A28}"/>
              </a:ext>
            </a:extLst>
          </p:cNvPr>
          <p:cNvSpPr/>
          <p:nvPr/>
        </p:nvSpPr>
        <p:spPr>
          <a:xfrm>
            <a:off x="5784589" y="2733454"/>
            <a:ext cx="150268" cy="97843"/>
          </a:xfrm>
          <a:prstGeom prst="roundRect">
            <a:avLst/>
          </a:prstGeom>
          <a:solidFill>
            <a:srgbClr val="EA9A99"/>
          </a:solidFill>
          <a:ln w="19050" cap="flat" cmpd="sng" algn="ctr">
            <a:noFill/>
            <a:prstDash val="solid"/>
            <a:miter lim="800000"/>
          </a:ln>
          <a:effectLst/>
        </p:spPr>
        <p:txBody>
          <a:bodyPr rtlCol="0" anchor="ctr"/>
          <a:lstStyle/>
          <a:p>
            <a:pPr algn="ctr">
              <a:buClrTx/>
              <a:buFontTx/>
              <a:buNone/>
            </a:pPr>
            <a:r>
              <a:rPr lang="en-US" sz="900" dirty="0">
                <a:solidFill>
                  <a:srgbClr val="AD3834"/>
                </a:solidFill>
              </a:rPr>
              <a:t>2</a:t>
            </a:r>
          </a:p>
        </p:txBody>
      </p:sp>
      <p:sp>
        <p:nvSpPr>
          <p:cNvPr id="29" name="Rounded Rectangle 28">
            <a:extLst>
              <a:ext uri="{FF2B5EF4-FFF2-40B4-BE49-F238E27FC236}">
                <a16:creationId xmlns:a16="http://schemas.microsoft.com/office/drawing/2014/main" id="{6BAA1E33-A48E-F689-6E21-6022E2F6AD87}"/>
              </a:ext>
            </a:extLst>
          </p:cNvPr>
          <p:cNvSpPr/>
          <p:nvPr/>
        </p:nvSpPr>
        <p:spPr>
          <a:xfrm>
            <a:off x="5782080" y="3007683"/>
            <a:ext cx="150268" cy="107627"/>
          </a:xfrm>
          <a:prstGeom prst="roundRect">
            <a:avLst/>
          </a:prstGeom>
          <a:solidFill>
            <a:srgbClr val="FFD79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dirty="0">
                <a:solidFill>
                  <a:srgbClr val="938120"/>
                </a:solidFill>
                <a:latin typeface="Aptos" panose="02110004020202020204"/>
              </a:rPr>
              <a:t>3</a:t>
            </a:r>
            <a:endParaRPr kumimoji="0" lang="en-US" sz="900" b="0" i="0" u="none" strike="noStrike" kern="1200" cap="none" spc="0" normalizeH="0" baseline="0" noProof="0" dirty="0">
              <a:ln>
                <a:noFill/>
              </a:ln>
              <a:solidFill>
                <a:srgbClr val="938120"/>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FA1AE8EB-AE64-7C1F-FC62-F93837D84B03}"/>
              </a:ext>
            </a:extLst>
          </p:cNvPr>
          <p:cNvSpPr txBox="1"/>
          <p:nvPr/>
        </p:nvSpPr>
        <p:spPr>
          <a:xfrm>
            <a:off x="5597205" y="3067607"/>
            <a:ext cx="550151" cy="184666"/>
          </a:xfrm>
          <a:prstGeom prst="rect">
            <a:avLst/>
          </a:prstGeom>
          <a:noFill/>
          <a:ln>
            <a:noFill/>
          </a:ln>
        </p:spPr>
        <p:txBody>
          <a:bodyPr wrap="none" rtlCol="0">
            <a:spAutoFit/>
          </a:bodyPr>
          <a:lstStyle/>
          <a:p>
            <a:pPr>
              <a:buClrTx/>
              <a:buFontTx/>
              <a:buNone/>
            </a:pPr>
            <a:r>
              <a:rPr lang="en-US" sz="600" u="sng" kern="1200" dirty="0">
                <a:solidFill>
                  <a:srgbClr val="001F5F"/>
                </a:solidFill>
                <a:latin typeface="Aptos" panose="02110004020202020204"/>
                <a:ea typeface="+mn-ea"/>
                <a:cs typeface="+mn-cs"/>
              </a:rPr>
              <a:t>Experience</a:t>
            </a:r>
          </a:p>
        </p:txBody>
      </p:sp>
      <p:sp>
        <p:nvSpPr>
          <p:cNvPr id="31" name="Rounded Rectangular Callout 30">
            <a:extLst>
              <a:ext uri="{FF2B5EF4-FFF2-40B4-BE49-F238E27FC236}">
                <a16:creationId xmlns:a16="http://schemas.microsoft.com/office/drawing/2014/main" id="{C700699B-5E93-A5A9-C8A9-E72AE9D46DC3}"/>
              </a:ext>
            </a:extLst>
          </p:cNvPr>
          <p:cNvSpPr/>
          <p:nvPr/>
        </p:nvSpPr>
        <p:spPr>
          <a:xfrm>
            <a:off x="4711407" y="819041"/>
            <a:ext cx="1455431" cy="892338"/>
          </a:xfrm>
          <a:prstGeom prst="wedgeRoundRectCallout">
            <a:avLst>
              <a:gd name="adj1" fmla="val 12058"/>
              <a:gd name="adj2" fmla="val 80442"/>
              <a:gd name="adj3" fmla="val 16667"/>
            </a:avLst>
          </a:prstGeom>
          <a:solidFill>
            <a:srgbClr val="155F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Hover over to see what leaps it is, Priority level (H,M,L, Absent)</a:t>
            </a:r>
          </a:p>
        </p:txBody>
      </p:sp>
    </p:spTree>
    <p:extLst>
      <p:ext uri="{BB962C8B-B14F-4D97-AF65-F5344CB8AC3E}">
        <p14:creationId xmlns:p14="http://schemas.microsoft.com/office/powerpoint/2010/main" val="3920608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1E347-3B48-3708-AFB3-5C8F6FA4B21C}"/>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FD0A25FE-8E61-BCA3-B99A-724DC578F45A}"/>
              </a:ext>
            </a:extLst>
          </p:cNvPr>
          <p:cNvSpPr/>
          <p:nvPr/>
        </p:nvSpPr>
        <p:spPr>
          <a:xfrm>
            <a:off x="345475" y="2488616"/>
            <a:ext cx="1540212" cy="806669"/>
          </a:xfrm>
          <a:prstGeom prst="roundRect">
            <a:avLst/>
          </a:prstGeom>
          <a:solidFill>
            <a:srgbClr val="80C1E2">
              <a:alpha val="60949"/>
            </a:srgbClr>
          </a:solidFill>
          <a:ln w="76200">
            <a:solidFill>
              <a:srgbClr val="9EE0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110004020202020204"/>
              <a:sym typeface="Arial"/>
            </a:endParaRPr>
          </a:p>
        </p:txBody>
      </p:sp>
      <p:sp>
        <p:nvSpPr>
          <p:cNvPr id="5" name="TextBox 4">
            <a:extLst>
              <a:ext uri="{FF2B5EF4-FFF2-40B4-BE49-F238E27FC236}">
                <a16:creationId xmlns:a16="http://schemas.microsoft.com/office/drawing/2014/main" id="{9099E8C4-7355-80A7-FC5E-F81A9416FE9E}"/>
              </a:ext>
            </a:extLst>
          </p:cNvPr>
          <p:cNvSpPr txBox="1"/>
          <p:nvPr/>
        </p:nvSpPr>
        <p:spPr>
          <a:xfrm>
            <a:off x="478921" y="2613472"/>
            <a:ext cx="703247" cy="215444"/>
          </a:xfrm>
          <a:prstGeom prst="rect">
            <a:avLst/>
          </a:prstGeom>
          <a:noFill/>
        </p:spPr>
        <p:txBody>
          <a:bodyPr wrap="square" rtlCol="0">
            <a:spAutoFit/>
          </a:bodyPr>
          <a:lstStyle/>
          <a:p>
            <a:pPr defTabSz="914377"/>
            <a:r>
              <a:rPr lang="en-US" sz="800" u="sng" dirty="0">
                <a:solidFill>
                  <a:srgbClr val="0E2841">
                    <a:lumMod val="50000"/>
                    <a:lumOff val="50000"/>
                  </a:srgbClr>
                </a:solidFill>
                <a:latin typeface="Aptos" panose="02110004020202020204"/>
                <a:cs typeface="Arial"/>
                <a:sym typeface="Arial"/>
              </a:rPr>
              <a:t>Design</a:t>
            </a:r>
          </a:p>
        </p:txBody>
      </p:sp>
      <p:sp>
        <p:nvSpPr>
          <p:cNvPr id="15" name="TextBox 14">
            <a:extLst>
              <a:ext uri="{FF2B5EF4-FFF2-40B4-BE49-F238E27FC236}">
                <a16:creationId xmlns:a16="http://schemas.microsoft.com/office/drawing/2014/main" id="{748E8EF2-E43E-4506-9C5E-A90295963541}"/>
              </a:ext>
            </a:extLst>
          </p:cNvPr>
          <p:cNvSpPr txBox="1"/>
          <p:nvPr/>
        </p:nvSpPr>
        <p:spPr>
          <a:xfrm>
            <a:off x="1097050" y="2609723"/>
            <a:ext cx="703247" cy="215444"/>
          </a:xfrm>
          <a:prstGeom prst="rect">
            <a:avLst/>
          </a:prstGeom>
          <a:noFill/>
        </p:spPr>
        <p:txBody>
          <a:bodyPr wrap="square" rtlCol="0">
            <a:spAutoFit/>
          </a:bodyPr>
          <a:lstStyle/>
          <a:p>
            <a:pPr defTabSz="914377"/>
            <a:r>
              <a:rPr lang="en-US" sz="800" u="sng" dirty="0">
                <a:solidFill>
                  <a:srgbClr val="0E2841">
                    <a:lumMod val="50000"/>
                    <a:lumOff val="50000"/>
                  </a:srgbClr>
                </a:solidFill>
                <a:latin typeface="Aptos" panose="02110004020202020204"/>
                <a:cs typeface="Arial"/>
                <a:sym typeface="Arial"/>
              </a:rPr>
              <a:t>Conditions</a:t>
            </a:r>
          </a:p>
        </p:txBody>
      </p:sp>
      <p:cxnSp>
        <p:nvCxnSpPr>
          <p:cNvPr id="18" name="Straight Connector 17">
            <a:extLst>
              <a:ext uri="{FF2B5EF4-FFF2-40B4-BE49-F238E27FC236}">
                <a16:creationId xmlns:a16="http://schemas.microsoft.com/office/drawing/2014/main" id="{F7FE5CFD-84E9-FA79-C9B7-3A8CB868E4F2}"/>
              </a:ext>
            </a:extLst>
          </p:cNvPr>
          <p:cNvCxnSpPr>
            <a:cxnSpLocks/>
            <a:stCxn id="5" idx="2"/>
            <a:endCxn id="39" idx="0"/>
          </p:cNvCxnSpPr>
          <p:nvPr/>
        </p:nvCxnSpPr>
        <p:spPr>
          <a:xfrm>
            <a:off x="830545" y="2828916"/>
            <a:ext cx="298127" cy="63034"/>
          </a:xfrm>
          <a:prstGeom prst="line">
            <a:avLst/>
          </a:prstGeom>
          <a:ln w="38100">
            <a:solidFill>
              <a:srgbClr val="92D05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1B55978-0633-EBC2-3CDD-DEE31EAE07C8}"/>
              </a:ext>
            </a:extLst>
          </p:cNvPr>
          <p:cNvCxnSpPr>
            <a:cxnSpLocks/>
            <a:stCxn id="15" idx="2"/>
            <a:endCxn id="39" idx="0"/>
          </p:cNvCxnSpPr>
          <p:nvPr/>
        </p:nvCxnSpPr>
        <p:spPr>
          <a:xfrm flipH="1">
            <a:off x="1128672" y="2825167"/>
            <a:ext cx="320002" cy="66783"/>
          </a:xfrm>
          <a:prstGeom prst="line">
            <a:avLst/>
          </a:prstGeom>
          <a:ln w="38100">
            <a:solidFill>
              <a:srgbClr val="EB9999"/>
            </a:solidFill>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B18B3E76-88B3-314F-04A8-BFC68A4BA30A}"/>
              </a:ext>
            </a:extLst>
          </p:cNvPr>
          <p:cNvCxnSpPr>
            <a:cxnSpLocks/>
          </p:cNvCxnSpPr>
          <p:nvPr/>
        </p:nvCxnSpPr>
        <p:spPr>
          <a:xfrm>
            <a:off x="1097049" y="2979090"/>
            <a:ext cx="0" cy="283244"/>
          </a:xfrm>
          <a:prstGeom prst="straightConnector1">
            <a:avLst/>
          </a:prstGeom>
          <a:ln w="38100">
            <a:solidFill>
              <a:srgbClr val="D9DA04"/>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6A9E1392-67D5-260D-2D1F-5C8F870633A1}"/>
              </a:ext>
            </a:extLst>
          </p:cNvPr>
          <p:cNvSpPr txBox="1"/>
          <p:nvPr/>
        </p:nvSpPr>
        <p:spPr>
          <a:xfrm>
            <a:off x="627598" y="2891950"/>
            <a:ext cx="1002148" cy="215444"/>
          </a:xfrm>
          <a:prstGeom prst="rect">
            <a:avLst/>
          </a:prstGeom>
          <a:solidFill>
            <a:srgbClr val="B4D9EE"/>
          </a:solidFill>
        </p:spPr>
        <p:txBody>
          <a:bodyPr wrap="square" rtlCol="0">
            <a:spAutoFit/>
          </a:bodyPr>
          <a:lstStyle/>
          <a:p>
            <a:pPr defTabSz="914377"/>
            <a:r>
              <a:rPr lang="en-US" sz="800" u="sng" dirty="0">
                <a:solidFill>
                  <a:srgbClr val="0E2841">
                    <a:lumMod val="50000"/>
                    <a:lumOff val="50000"/>
                  </a:srgbClr>
                </a:solidFill>
                <a:latin typeface="Aptos" panose="02110004020202020204"/>
                <a:cs typeface="Arial"/>
                <a:sym typeface="Arial"/>
              </a:rPr>
              <a:t>Implementation</a:t>
            </a:r>
          </a:p>
        </p:txBody>
      </p:sp>
      <p:sp>
        <p:nvSpPr>
          <p:cNvPr id="1029" name="TextBox 1028">
            <a:extLst>
              <a:ext uri="{FF2B5EF4-FFF2-40B4-BE49-F238E27FC236}">
                <a16:creationId xmlns:a16="http://schemas.microsoft.com/office/drawing/2014/main" id="{C7108CD7-3916-B567-5178-40D9AE7F1DE2}"/>
              </a:ext>
            </a:extLst>
          </p:cNvPr>
          <p:cNvSpPr txBox="1"/>
          <p:nvPr/>
        </p:nvSpPr>
        <p:spPr>
          <a:xfrm>
            <a:off x="782915" y="3271211"/>
            <a:ext cx="689612" cy="215444"/>
          </a:xfrm>
          <a:prstGeom prst="rect">
            <a:avLst/>
          </a:prstGeom>
          <a:noFill/>
        </p:spPr>
        <p:txBody>
          <a:bodyPr wrap="none" rtlCol="0">
            <a:spAutoFit/>
          </a:bodyPr>
          <a:lstStyle/>
          <a:p>
            <a:pPr defTabSz="914377"/>
            <a:r>
              <a:rPr lang="en-US" sz="800" b="1" dirty="0">
                <a:solidFill>
                  <a:prstClr val="black"/>
                </a:solidFill>
                <a:latin typeface="Aptos" panose="02110004020202020204"/>
                <a:cs typeface="Arial"/>
                <a:sym typeface="Arial"/>
              </a:rPr>
              <a:t>Key Levers</a:t>
            </a:r>
          </a:p>
        </p:txBody>
      </p:sp>
      <p:sp>
        <p:nvSpPr>
          <p:cNvPr id="1033" name="Rounded Rectangle 1032">
            <a:extLst>
              <a:ext uri="{FF2B5EF4-FFF2-40B4-BE49-F238E27FC236}">
                <a16:creationId xmlns:a16="http://schemas.microsoft.com/office/drawing/2014/main" id="{8BEBD38C-FF42-74F5-BD1A-ECAEEEDF15A1}"/>
              </a:ext>
            </a:extLst>
          </p:cNvPr>
          <p:cNvSpPr/>
          <p:nvPr/>
        </p:nvSpPr>
        <p:spPr>
          <a:xfrm>
            <a:off x="7543879" y="2773840"/>
            <a:ext cx="1540212" cy="806669"/>
          </a:xfrm>
          <a:prstGeom prst="roundRect">
            <a:avLst/>
          </a:prstGeom>
          <a:solidFill>
            <a:srgbClr val="80C1E2">
              <a:alpha val="60949"/>
            </a:srgbClr>
          </a:solidFill>
          <a:ln w="76200">
            <a:solidFill>
              <a:srgbClr val="9EE0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110004020202020204"/>
              <a:sym typeface="Arial"/>
            </a:endParaRPr>
          </a:p>
        </p:txBody>
      </p:sp>
      <p:sp>
        <p:nvSpPr>
          <p:cNvPr id="1034" name="Rounded Rectangle 1033">
            <a:extLst>
              <a:ext uri="{FF2B5EF4-FFF2-40B4-BE49-F238E27FC236}">
                <a16:creationId xmlns:a16="http://schemas.microsoft.com/office/drawing/2014/main" id="{524A60E7-CBA8-706A-A601-A522F1EF3EDF}"/>
              </a:ext>
            </a:extLst>
          </p:cNvPr>
          <p:cNvSpPr/>
          <p:nvPr/>
        </p:nvSpPr>
        <p:spPr>
          <a:xfrm>
            <a:off x="1844117" y="3808695"/>
            <a:ext cx="1540212" cy="806669"/>
          </a:xfrm>
          <a:prstGeom prst="roundRect">
            <a:avLst/>
          </a:prstGeom>
          <a:solidFill>
            <a:srgbClr val="80C1E2">
              <a:alpha val="60949"/>
            </a:srgbClr>
          </a:solidFill>
          <a:ln w="76200">
            <a:solidFill>
              <a:srgbClr val="9EE0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110004020202020204"/>
              <a:sym typeface="Arial"/>
            </a:endParaRPr>
          </a:p>
        </p:txBody>
      </p:sp>
      <p:sp>
        <p:nvSpPr>
          <p:cNvPr id="1045" name="Rounded Rectangle 1044">
            <a:extLst>
              <a:ext uri="{FF2B5EF4-FFF2-40B4-BE49-F238E27FC236}">
                <a16:creationId xmlns:a16="http://schemas.microsoft.com/office/drawing/2014/main" id="{1A2125E7-D434-3397-190D-E0171A5BAD1B}"/>
              </a:ext>
            </a:extLst>
          </p:cNvPr>
          <p:cNvSpPr/>
          <p:nvPr/>
        </p:nvSpPr>
        <p:spPr>
          <a:xfrm>
            <a:off x="7521915" y="3861584"/>
            <a:ext cx="1540212" cy="806669"/>
          </a:xfrm>
          <a:prstGeom prst="roundRect">
            <a:avLst/>
          </a:prstGeom>
          <a:solidFill>
            <a:srgbClr val="80C1E2">
              <a:alpha val="60949"/>
            </a:srgbClr>
          </a:solidFill>
          <a:ln w="76200">
            <a:solidFill>
              <a:srgbClr val="9EE0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110004020202020204"/>
              <a:sym typeface="Arial"/>
            </a:endParaRPr>
          </a:p>
        </p:txBody>
      </p:sp>
      <p:sp>
        <p:nvSpPr>
          <p:cNvPr id="1046" name="Rounded Rectangle 1045">
            <a:extLst>
              <a:ext uri="{FF2B5EF4-FFF2-40B4-BE49-F238E27FC236}">
                <a16:creationId xmlns:a16="http://schemas.microsoft.com/office/drawing/2014/main" id="{B83FBB0C-E35D-0DA8-7290-DC6E2681AAEF}"/>
              </a:ext>
            </a:extLst>
          </p:cNvPr>
          <p:cNvSpPr/>
          <p:nvPr/>
        </p:nvSpPr>
        <p:spPr>
          <a:xfrm>
            <a:off x="9579330" y="2767176"/>
            <a:ext cx="1540212" cy="806669"/>
          </a:xfrm>
          <a:prstGeom prst="roundRect">
            <a:avLst/>
          </a:prstGeom>
          <a:solidFill>
            <a:srgbClr val="80C1E2">
              <a:alpha val="60949"/>
            </a:srgbClr>
          </a:solidFill>
          <a:ln w="76200">
            <a:solidFill>
              <a:srgbClr val="9EE0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110004020202020204"/>
              <a:sym typeface="Arial"/>
            </a:endParaRPr>
          </a:p>
        </p:txBody>
      </p:sp>
      <p:sp>
        <p:nvSpPr>
          <p:cNvPr id="1047" name="Rounded Rectangle 1046">
            <a:extLst>
              <a:ext uri="{FF2B5EF4-FFF2-40B4-BE49-F238E27FC236}">
                <a16:creationId xmlns:a16="http://schemas.microsoft.com/office/drawing/2014/main" id="{B4192A86-4423-18A7-56FF-5B1EFDB549AF}"/>
              </a:ext>
            </a:extLst>
          </p:cNvPr>
          <p:cNvSpPr/>
          <p:nvPr/>
        </p:nvSpPr>
        <p:spPr>
          <a:xfrm>
            <a:off x="3825959" y="2512812"/>
            <a:ext cx="1540212" cy="806669"/>
          </a:xfrm>
          <a:prstGeom prst="roundRect">
            <a:avLst/>
          </a:prstGeom>
          <a:solidFill>
            <a:srgbClr val="80C1E2">
              <a:alpha val="60949"/>
            </a:srgbClr>
          </a:solidFill>
          <a:ln w="76200">
            <a:solidFill>
              <a:srgbClr val="9EE0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110004020202020204"/>
              <a:sym typeface="Arial"/>
            </a:endParaRPr>
          </a:p>
        </p:txBody>
      </p:sp>
      <p:sp>
        <p:nvSpPr>
          <p:cNvPr id="1077" name="TextBox 1076">
            <a:extLst>
              <a:ext uri="{FF2B5EF4-FFF2-40B4-BE49-F238E27FC236}">
                <a16:creationId xmlns:a16="http://schemas.microsoft.com/office/drawing/2014/main" id="{D79848A4-431A-1CAD-175C-EFC1DAF0875C}"/>
              </a:ext>
            </a:extLst>
          </p:cNvPr>
          <p:cNvSpPr txBox="1"/>
          <p:nvPr/>
        </p:nvSpPr>
        <p:spPr>
          <a:xfrm>
            <a:off x="7863797" y="3556825"/>
            <a:ext cx="958917" cy="215444"/>
          </a:xfrm>
          <a:prstGeom prst="rect">
            <a:avLst/>
          </a:prstGeom>
          <a:noFill/>
        </p:spPr>
        <p:txBody>
          <a:bodyPr wrap="none" rtlCol="0">
            <a:spAutoFit/>
          </a:bodyPr>
          <a:lstStyle/>
          <a:p>
            <a:pPr defTabSz="914377"/>
            <a:r>
              <a:rPr lang="en-US" sz="800" b="1" dirty="0">
                <a:solidFill>
                  <a:prstClr val="black"/>
                </a:solidFill>
                <a:latin typeface="Aptos" panose="02110004020202020204"/>
                <a:cs typeface="Arial"/>
                <a:sym typeface="Arial"/>
              </a:rPr>
              <a:t>Subcomponents</a:t>
            </a:r>
          </a:p>
        </p:txBody>
      </p:sp>
      <p:sp>
        <p:nvSpPr>
          <p:cNvPr id="1079" name="TextBox 1078">
            <a:extLst>
              <a:ext uri="{FF2B5EF4-FFF2-40B4-BE49-F238E27FC236}">
                <a16:creationId xmlns:a16="http://schemas.microsoft.com/office/drawing/2014/main" id="{11FD0E4E-2B3F-0FCE-8C78-BB2AAE5B3C7D}"/>
              </a:ext>
            </a:extLst>
          </p:cNvPr>
          <p:cNvSpPr txBox="1"/>
          <p:nvPr/>
        </p:nvSpPr>
        <p:spPr>
          <a:xfrm>
            <a:off x="2072085" y="4656425"/>
            <a:ext cx="1106393" cy="215444"/>
          </a:xfrm>
          <a:prstGeom prst="rect">
            <a:avLst/>
          </a:prstGeom>
          <a:noFill/>
        </p:spPr>
        <p:txBody>
          <a:bodyPr wrap="none" rtlCol="0">
            <a:spAutoFit/>
          </a:bodyPr>
          <a:lstStyle/>
          <a:p>
            <a:pPr defTabSz="914377"/>
            <a:r>
              <a:rPr lang="en-US" sz="800" b="1" dirty="0">
                <a:solidFill>
                  <a:prstClr val="black"/>
                </a:solidFill>
                <a:latin typeface="Aptos" panose="02110004020202020204"/>
                <a:cs typeface="Arial"/>
                <a:sym typeface="Arial"/>
              </a:rPr>
              <a:t>Targeted Outcomes</a:t>
            </a:r>
          </a:p>
        </p:txBody>
      </p:sp>
      <p:sp>
        <p:nvSpPr>
          <p:cNvPr id="1080" name="TextBox 1079">
            <a:extLst>
              <a:ext uri="{FF2B5EF4-FFF2-40B4-BE49-F238E27FC236}">
                <a16:creationId xmlns:a16="http://schemas.microsoft.com/office/drawing/2014/main" id="{9F93BA37-8370-85E9-51C5-E248EB276FD9}"/>
              </a:ext>
            </a:extLst>
          </p:cNvPr>
          <p:cNvSpPr txBox="1"/>
          <p:nvPr/>
        </p:nvSpPr>
        <p:spPr>
          <a:xfrm>
            <a:off x="4371887" y="3312203"/>
            <a:ext cx="465192" cy="215444"/>
          </a:xfrm>
          <a:prstGeom prst="rect">
            <a:avLst/>
          </a:prstGeom>
          <a:noFill/>
        </p:spPr>
        <p:txBody>
          <a:bodyPr wrap="none" rtlCol="0">
            <a:spAutoFit/>
          </a:bodyPr>
          <a:lstStyle/>
          <a:p>
            <a:pPr defTabSz="914377"/>
            <a:r>
              <a:rPr lang="en-US" sz="800" b="1" dirty="0">
                <a:solidFill>
                  <a:prstClr val="black"/>
                </a:solidFill>
                <a:latin typeface="Aptos" panose="02110004020202020204"/>
                <a:cs typeface="Arial"/>
                <a:sym typeface="Arial"/>
              </a:rPr>
              <a:t>Leaps</a:t>
            </a:r>
          </a:p>
        </p:txBody>
      </p:sp>
      <p:sp>
        <p:nvSpPr>
          <p:cNvPr id="1081" name="TextBox 1080">
            <a:extLst>
              <a:ext uri="{FF2B5EF4-FFF2-40B4-BE49-F238E27FC236}">
                <a16:creationId xmlns:a16="http://schemas.microsoft.com/office/drawing/2014/main" id="{2D7A21B3-72CC-CE28-F229-0DD4A7912287}"/>
              </a:ext>
            </a:extLst>
          </p:cNvPr>
          <p:cNvSpPr txBox="1"/>
          <p:nvPr/>
        </p:nvSpPr>
        <p:spPr>
          <a:xfrm>
            <a:off x="7677631" y="4655279"/>
            <a:ext cx="1305165" cy="215444"/>
          </a:xfrm>
          <a:prstGeom prst="rect">
            <a:avLst/>
          </a:prstGeom>
          <a:noFill/>
        </p:spPr>
        <p:txBody>
          <a:bodyPr wrap="none" rtlCol="0">
            <a:spAutoFit/>
          </a:bodyPr>
          <a:lstStyle/>
          <a:p>
            <a:pPr defTabSz="914377"/>
            <a:r>
              <a:rPr lang="en-US" sz="800" b="1" dirty="0">
                <a:solidFill>
                  <a:prstClr val="black"/>
                </a:solidFill>
                <a:latin typeface="Aptos" panose="02110004020202020204"/>
                <a:cs typeface="Arial"/>
                <a:sym typeface="Arial"/>
              </a:rPr>
              <a:t>Practices &amp; Approaches</a:t>
            </a:r>
          </a:p>
        </p:txBody>
      </p:sp>
      <p:sp>
        <p:nvSpPr>
          <p:cNvPr id="1082" name="TextBox 1081">
            <a:extLst>
              <a:ext uri="{FF2B5EF4-FFF2-40B4-BE49-F238E27FC236}">
                <a16:creationId xmlns:a16="http://schemas.microsoft.com/office/drawing/2014/main" id="{2BC1C753-F0F6-7437-3397-DDFAEEB8F1C6}"/>
              </a:ext>
            </a:extLst>
          </p:cNvPr>
          <p:cNvSpPr txBox="1"/>
          <p:nvPr/>
        </p:nvSpPr>
        <p:spPr>
          <a:xfrm>
            <a:off x="9869098" y="3572929"/>
            <a:ext cx="1048685" cy="215444"/>
          </a:xfrm>
          <a:prstGeom prst="rect">
            <a:avLst/>
          </a:prstGeom>
          <a:noFill/>
        </p:spPr>
        <p:txBody>
          <a:bodyPr wrap="none" rtlCol="0">
            <a:spAutoFit/>
          </a:bodyPr>
          <a:lstStyle/>
          <a:p>
            <a:pPr defTabSz="914377"/>
            <a:r>
              <a:rPr lang="en-US" sz="800" b="1" dirty="0">
                <a:solidFill>
                  <a:prstClr val="black"/>
                </a:solidFill>
                <a:latin typeface="Aptos" panose="02110004020202020204"/>
                <a:cs typeface="Arial"/>
                <a:sym typeface="Arial"/>
              </a:rPr>
              <a:t>Tools &amp; Resources</a:t>
            </a:r>
          </a:p>
        </p:txBody>
      </p:sp>
      <p:sp>
        <p:nvSpPr>
          <p:cNvPr id="1154" name="Rounded Rectangle 1153">
            <a:extLst>
              <a:ext uri="{FF2B5EF4-FFF2-40B4-BE49-F238E27FC236}">
                <a16:creationId xmlns:a16="http://schemas.microsoft.com/office/drawing/2014/main" id="{E9C1A6E2-3994-2255-8DB1-111D4B15A2A8}"/>
              </a:ext>
            </a:extLst>
          </p:cNvPr>
          <p:cNvSpPr/>
          <p:nvPr/>
        </p:nvSpPr>
        <p:spPr>
          <a:xfrm>
            <a:off x="2057759" y="2512812"/>
            <a:ext cx="1540212" cy="806669"/>
          </a:xfrm>
          <a:prstGeom prst="roundRect">
            <a:avLst/>
          </a:prstGeom>
          <a:solidFill>
            <a:srgbClr val="80C1E2">
              <a:alpha val="60949"/>
            </a:srgbClr>
          </a:solidFill>
          <a:ln w="76200">
            <a:solidFill>
              <a:srgbClr val="9EE0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110004020202020204"/>
              <a:sym typeface="Arial"/>
            </a:endParaRPr>
          </a:p>
        </p:txBody>
      </p:sp>
      <p:sp>
        <p:nvSpPr>
          <p:cNvPr id="1156" name="TextBox 1155">
            <a:extLst>
              <a:ext uri="{FF2B5EF4-FFF2-40B4-BE49-F238E27FC236}">
                <a16:creationId xmlns:a16="http://schemas.microsoft.com/office/drawing/2014/main" id="{4D9F44CD-2B45-8BB0-CB29-7A3DFB833A63}"/>
              </a:ext>
            </a:extLst>
          </p:cNvPr>
          <p:cNvSpPr txBox="1"/>
          <p:nvPr/>
        </p:nvSpPr>
        <p:spPr>
          <a:xfrm>
            <a:off x="2463779" y="3351124"/>
            <a:ext cx="651140" cy="215444"/>
          </a:xfrm>
          <a:prstGeom prst="rect">
            <a:avLst/>
          </a:prstGeom>
          <a:noFill/>
        </p:spPr>
        <p:txBody>
          <a:bodyPr wrap="none" rtlCol="0">
            <a:spAutoFit/>
          </a:bodyPr>
          <a:lstStyle/>
          <a:p>
            <a:pPr defTabSz="914377"/>
            <a:r>
              <a:rPr lang="en-US" sz="800" b="1" dirty="0">
                <a:solidFill>
                  <a:prstClr val="black"/>
                </a:solidFill>
                <a:latin typeface="Aptos" panose="02110004020202020204"/>
                <a:cs typeface="Arial"/>
                <a:sym typeface="Arial"/>
              </a:rPr>
              <a:t>Snapshot </a:t>
            </a:r>
          </a:p>
        </p:txBody>
      </p:sp>
      <p:sp>
        <p:nvSpPr>
          <p:cNvPr id="1161" name="Rounded Rectangle 1160">
            <a:extLst>
              <a:ext uri="{FF2B5EF4-FFF2-40B4-BE49-F238E27FC236}">
                <a16:creationId xmlns:a16="http://schemas.microsoft.com/office/drawing/2014/main" id="{EFFF6418-19F8-7A12-CCF2-E12BDF555136}"/>
              </a:ext>
            </a:extLst>
          </p:cNvPr>
          <p:cNvSpPr/>
          <p:nvPr/>
        </p:nvSpPr>
        <p:spPr>
          <a:xfrm>
            <a:off x="9676547" y="3850660"/>
            <a:ext cx="1540212" cy="806669"/>
          </a:xfrm>
          <a:prstGeom prst="roundRect">
            <a:avLst/>
          </a:prstGeom>
          <a:solidFill>
            <a:srgbClr val="80C1E2">
              <a:alpha val="60949"/>
            </a:srgbClr>
          </a:solidFill>
          <a:ln w="76200">
            <a:solidFill>
              <a:srgbClr val="9EE0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110004020202020204"/>
              <a:sym typeface="Arial"/>
            </a:endParaRPr>
          </a:p>
        </p:txBody>
      </p:sp>
      <p:sp>
        <p:nvSpPr>
          <p:cNvPr id="1168" name="TextBox 1167">
            <a:extLst>
              <a:ext uri="{FF2B5EF4-FFF2-40B4-BE49-F238E27FC236}">
                <a16:creationId xmlns:a16="http://schemas.microsoft.com/office/drawing/2014/main" id="{782BBE4D-6196-09BB-2C31-7C8E449A4D6A}"/>
              </a:ext>
            </a:extLst>
          </p:cNvPr>
          <p:cNvSpPr txBox="1"/>
          <p:nvPr/>
        </p:nvSpPr>
        <p:spPr>
          <a:xfrm>
            <a:off x="9802823" y="4642091"/>
            <a:ext cx="1175322" cy="215444"/>
          </a:xfrm>
          <a:prstGeom prst="rect">
            <a:avLst/>
          </a:prstGeom>
          <a:noFill/>
        </p:spPr>
        <p:txBody>
          <a:bodyPr wrap="none" rtlCol="0">
            <a:spAutoFit/>
          </a:bodyPr>
          <a:lstStyle/>
          <a:p>
            <a:pPr defTabSz="914377"/>
            <a:r>
              <a:rPr lang="en-US" sz="800" b="1" dirty="0">
                <a:solidFill>
                  <a:prstClr val="black"/>
                </a:solidFill>
                <a:latin typeface="Aptos" panose="02110004020202020204"/>
                <a:cs typeface="Arial"/>
                <a:sym typeface="Arial"/>
              </a:rPr>
              <a:t>Embedded Locations</a:t>
            </a:r>
          </a:p>
        </p:txBody>
      </p:sp>
      <p:sp>
        <p:nvSpPr>
          <p:cNvPr id="1173" name="TextBox 1172">
            <a:extLst>
              <a:ext uri="{FF2B5EF4-FFF2-40B4-BE49-F238E27FC236}">
                <a16:creationId xmlns:a16="http://schemas.microsoft.com/office/drawing/2014/main" id="{CAC12668-A815-3B58-7FEC-4CF945DC3280}"/>
              </a:ext>
            </a:extLst>
          </p:cNvPr>
          <p:cNvSpPr txBox="1"/>
          <p:nvPr/>
        </p:nvSpPr>
        <p:spPr>
          <a:xfrm>
            <a:off x="7570535" y="2785507"/>
            <a:ext cx="1465655" cy="507831"/>
          </a:xfrm>
          <a:prstGeom prst="rect">
            <a:avLst/>
          </a:prstGeom>
          <a:noFill/>
        </p:spPr>
        <p:txBody>
          <a:bodyPr wrap="square" rtlCol="0">
            <a:spAutoFit/>
          </a:bodyPr>
          <a:lstStyle/>
          <a:p>
            <a:pPr marL="171446" indent="-171446" defTabSz="914377">
              <a:buFont typeface="Arial" panose="020B0604020202020204" pitchFamily="34" charset="0"/>
              <a:buChar char="•"/>
            </a:pPr>
            <a:r>
              <a:rPr lang="en-US" sz="900" dirty="0">
                <a:solidFill>
                  <a:prstClr val="black"/>
                </a:solidFill>
                <a:latin typeface="Aptos" panose="02110004020202020204"/>
                <a:cs typeface="Arial"/>
                <a:sym typeface="Arial"/>
              </a:rPr>
              <a:t>Subcomponent</a:t>
            </a:r>
          </a:p>
          <a:p>
            <a:pPr marL="171446" indent="-171446" defTabSz="914377">
              <a:buFont typeface="Arial" panose="020B0604020202020204" pitchFamily="34" charset="0"/>
              <a:buChar char="•"/>
            </a:pPr>
            <a:r>
              <a:rPr lang="en-US" sz="900" dirty="0">
                <a:solidFill>
                  <a:prstClr val="black"/>
                </a:solidFill>
                <a:latin typeface="Aptos" panose="02110004020202020204"/>
                <a:cs typeface="Arial"/>
                <a:sym typeface="Arial"/>
              </a:rPr>
              <a:t>Subcomponent</a:t>
            </a:r>
          </a:p>
          <a:p>
            <a:pPr marL="171446" indent="-171446" defTabSz="914377">
              <a:buFont typeface="Arial" panose="020B0604020202020204" pitchFamily="34" charset="0"/>
              <a:buChar char="•"/>
            </a:pPr>
            <a:r>
              <a:rPr lang="en-US" sz="900" dirty="0">
                <a:solidFill>
                  <a:prstClr val="black"/>
                </a:solidFill>
                <a:latin typeface="Aptos" panose="02110004020202020204"/>
                <a:cs typeface="Arial"/>
                <a:sym typeface="Arial"/>
              </a:rPr>
              <a:t>(A) Subcomponent</a:t>
            </a:r>
          </a:p>
        </p:txBody>
      </p:sp>
      <p:sp>
        <p:nvSpPr>
          <p:cNvPr id="1180" name="TextBox 1179">
            <a:extLst>
              <a:ext uri="{FF2B5EF4-FFF2-40B4-BE49-F238E27FC236}">
                <a16:creationId xmlns:a16="http://schemas.microsoft.com/office/drawing/2014/main" id="{7A2C34D9-B88D-63B2-82DD-5AC4C19763BE}"/>
              </a:ext>
            </a:extLst>
          </p:cNvPr>
          <p:cNvSpPr txBox="1"/>
          <p:nvPr/>
        </p:nvSpPr>
        <p:spPr>
          <a:xfrm>
            <a:off x="9712338" y="3903055"/>
            <a:ext cx="1465655" cy="739177"/>
          </a:xfrm>
          <a:prstGeom prst="rect">
            <a:avLst/>
          </a:prstGeom>
          <a:noFill/>
        </p:spPr>
        <p:txBody>
          <a:bodyPr wrap="square" rtlCol="0">
            <a:spAutoFit/>
          </a:bodyPr>
          <a:lstStyle/>
          <a:p>
            <a:pPr algn="ctr" defTabSz="914377"/>
            <a:r>
              <a:rPr lang="en-US" sz="1051" dirty="0">
                <a:solidFill>
                  <a:prstClr val="black"/>
                </a:solidFill>
                <a:latin typeface="Aptos" panose="02110004020202020204"/>
                <a:cs typeface="Arial"/>
                <a:sym typeface="Arial"/>
              </a:rPr>
              <a:t>List of components for which this component is a subcomponent </a:t>
            </a:r>
          </a:p>
        </p:txBody>
      </p:sp>
      <p:sp>
        <p:nvSpPr>
          <p:cNvPr id="8" name="TextBox 7">
            <a:extLst>
              <a:ext uri="{FF2B5EF4-FFF2-40B4-BE49-F238E27FC236}">
                <a16:creationId xmlns:a16="http://schemas.microsoft.com/office/drawing/2014/main" id="{A675CB20-6B67-5723-5BF5-F74E6ADF5329}"/>
              </a:ext>
            </a:extLst>
          </p:cNvPr>
          <p:cNvSpPr txBox="1"/>
          <p:nvPr/>
        </p:nvSpPr>
        <p:spPr>
          <a:xfrm>
            <a:off x="3819639" y="2571055"/>
            <a:ext cx="1465655" cy="507831"/>
          </a:xfrm>
          <a:prstGeom prst="rect">
            <a:avLst/>
          </a:prstGeom>
          <a:noFill/>
        </p:spPr>
        <p:txBody>
          <a:bodyPr wrap="square" rtlCol="0">
            <a:spAutoFit/>
          </a:bodyPr>
          <a:lstStyle/>
          <a:p>
            <a:pPr marL="228594" indent="-228594" defTabSz="914377">
              <a:buFont typeface="Arial" panose="020B0604020202020204" pitchFamily="34" charset="0"/>
              <a:buChar char="•"/>
            </a:pPr>
            <a:r>
              <a:rPr lang="en-US" sz="900" dirty="0">
                <a:solidFill>
                  <a:prstClr val="black"/>
                </a:solidFill>
                <a:latin typeface="Aptos" panose="02110004020202020204"/>
                <a:cs typeface="Arial"/>
                <a:sym typeface="Arial"/>
              </a:rPr>
              <a:t>(H) Leap 1 </a:t>
            </a:r>
          </a:p>
          <a:p>
            <a:pPr marL="228594" indent="-228594" defTabSz="914377">
              <a:buFont typeface="Arial" panose="020B0604020202020204" pitchFamily="34" charset="0"/>
              <a:buChar char="•"/>
            </a:pPr>
            <a:r>
              <a:rPr lang="en-US" sz="900" dirty="0">
                <a:solidFill>
                  <a:prstClr val="black"/>
                </a:solidFill>
                <a:latin typeface="Aptos" panose="02110004020202020204"/>
                <a:cs typeface="Arial"/>
                <a:sym typeface="Arial"/>
              </a:rPr>
              <a:t>(M) Leap 2 </a:t>
            </a:r>
          </a:p>
          <a:p>
            <a:pPr marL="228594" indent="-228594" defTabSz="914377">
              <a:buFont typeface="Arial" panose="020B0604020202020204" pitchFamily="34" charset="0"/>
              <a:buChar char="•"/>
            </a:pPr>
            <a:r>
              <a:rPr lang="en-US" sz="900" dirty="0">
                <a:solidFill>
                  <a:prstClr val="black"/>
                </a:solidFill>
                <a:latin typeface="Aptos" panose="02110004020202020204"/>
                <a:cs typeface="Arial"/>
                <a:sym typeface="Arial"/>
              </a:rPr>
              <a:t>(L) Leap 3</a:t>
            </a:r>
          </a:p>
        </p:txBody>
      </p:sp>
      <p:sp>
        <p:nvSpPr>
          <p:cNvPr id="17" name="TextBox 16">
            <a:extLst>
              <a:ext uri="{FF2B5EF4-FFF2-40B4-BE49-F238E27FC236}">
                <a16:creationId xmlns:a16="http://schemas.microsoft.com/office/drawing/2014/main" id="{D8A20D80-C959-8BF6-9E89-C8C0D9517119}"/>
              </a:ext>
            </a:extLst>
          </p:cNvPr>
          <p:cNvSpPr txBox="1"/>
          <p:nvPr/>
        </p:nvSpPr>
        <p:spPr>
          <a:xfrm>
            <a:off x="1900330" y="3898034"/>
            <a:ext cx="1465655" cy="646331"/>
          </a:xfrm>
          <a:prstGeom prst="rect">
            <a:avLst/>
          </a:prstGeom>
          <a:noFill/>
        </p:spPr>
        <p:txBody>
          <a:bodyPr wrap="square" rtlCol="0">
            <a:spAutoFit/>
          </a:bodyPr>
          <a:lstStyle/>
          <a:p>
            <a:pPr marL="171446" indent="-171446" defTabSz="914377">
              <a:buFont typeface="Arial" panose="020B0604020202020204" pitchFamily="34" charset="0"/>
              <a:buChar char="•"/>
            </a:pPr>
            <a:r>
              <a:rPr lang="en-US" sz="900" dirty="0">
                <a:solidFill>
                  <a:prstClr val="black"/>
                </a:solidFill>
                <a:latin typeface="Aptos" panose="02110004020202020204"/>
                <a:cs typeface="Arial"/>
                <a:sym typeface="Arial"/>
              </a:rPr>
              <a:t>(H) Outcome 1</a:t>
            </a:r>
          </a:p>
          <a:p>
            <a:pPr marL="171446" indent="-171446" defTabSz="914377">
              <a:buFont typeface="Arial" panose="020B0604020202020204" pitchFamily="34" charset="0"/>
              <a:buChar char="•"/>
            </a:pPr>
            <a:r>
              <a:rPr lang="en-US" sz="900" dirty="0">
                <a:solidFill>
                  <a:prstClr val="black"/>
                </a:solidFill>
                <a:latin typeface="Aptos" panose="02110004020202020204"/>
                <a:cs typeface="Arial"/>
                <a:sym typeface="Arial"/>
              </a:rPr>
              <a:t>(M) Outcome 2</a:t>
            </a:r>
          </a:p>
          <a:p>
            <a:pPr marL="171446" indent="-171446" defTabSz="914377">
              <a:buFont typeface="Arial" panose="020B0604020202020204" pitchFamily="34" charset="0"/>
              <a:buChar char="•"/>
            </a:pPr>
            <a:r>
              <a:rPr lang="en-US" sz="900" dirty="0">
                <a:solidFill>
                  <a:prstClr val="black"/>
                </a:solidFill>
                <a:latin typeface="Aptos" panose="02110004020202020204"/>
                <a:cs typeface="Arial"/>
                <a:sym typeface="Arial"/>
              </a:rPr>
              <a:t>(L) Outcome 3</a:t>
            </a:r>
          </a:p>
          <a:p>
            <a:pPr marL="171446" indent="-171446" defTabSz="914377">
              <a:buFont typeface="Arial" panose="020B0604020202020204" pitchFamily="34" charset="0"/>
              <a:buChar char="•"/>
            </a:pPr>
            <a:r>
              <a:rPr lang="en-US" sz="900" dirty="0">
                <a:solidFill>
                  <a:prstClr val="black"/>
                </a:solidFill>
                <a:latin typeface="Aptos" panose="02110004020202020204"/>
                <a:cs typeface="Arial"/>
                <a:sym typeface="Arial"/>
              </a:rPr>
              <a:t>(L) Outcome 4</a:t>
            </a:r>
          </a:p>
        </p:txBody>
      </p:sp>
      <p:sp>
        <p:nvSpPr>
          <p:cNvPr id="36" name="Rounded Rectangular Callout 35">
            <a:extLst>
              <a:ext uri="{FF2B5EF4-FFF2-40B4-BE49-F238E27FC236}">
                <a16:creationId xmlns:a16="http://schemas.microsoft.com/office/drawing/2014/main" id="{12F683A8-1DFC-0E81-7192-D27CA397169F}"/>
              </a:ext>
            </a:extLst>
          </p:cNvPr>
          <p:cNvSpPr/>
          <p:nvPr/>
        </p:nvSpPr>
        <p:spPr>
          <a:xfrm>
            <a:off x="47359" y="4261563"/>
            <a:ext cx="1455431" cy="1182664"/>
          </a:xfrm>
          <a:prstGeom prst="wedgeRoundRectCallout">
            <a:avLst>
              <a:gd name="adj1" fmla="val 81161"/>
              <a:gd name="adj2" fmla="val -5044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r>
              <a:rPr lang="en-US" sz="1000" dirty="0">
                <a:solidFill>
                  <a:prstClr val="white"/>
                </a:solidFill>
                <a:latin typeface="Aptos" panose="02110004020202020204"/>
                <a:sym typeface="Arial"/>
              </a:rPr>
              <a:t>Shows outcomes for the component, and the subcomponents</a:t>
            </a:r>
          </a:p>
          <a:p>
            <a:pPr algn="ctr" defTabSz="914377"/>
            <a:endParaRPr lang="en-US" sz="1000" dirty="0">
              <a:solidFill>
                <a:prstClr val="white"/>
              </a:solidFill>
              <a:latin typeface="Aptos" panose="02110004020202020204"/>
              <a:sym typeface="Arial"/>
            </a:endParaRPr>
          </a:p>
          <a:p>
            <a:pPr algn="ctr" defTabSz="914377"/>
            <a:r>
              <a:rPr lang="en-US" sz="1000" dirty="0">
                <a:solidFill>
                  <a:prstClr val="white"/>
                </a:solidFill>
                <a:latin typeface="Aptos" panose="02110004020202020204"/>
                <a:sym typeface="Arial"/>
              </a:rPr>
              <a:t>De-dupe outcomes if applied in multiple places</a:t>
            </a:r>
          </a:p>
        </p:txBody>
      </p:sp>
      <p:sp>
        <p:nvSpPr>
          <p:cNvPr id="41" name="TextBox 40">
            <a:extLst>
              <a:ext uri="{FF2B5EF4-FFF2-40B4-BE49-F238E27FC236}">
                <a16:creationId xmlns:a16="http://schemas.microsoft.com/office/drawing/2014/main" id="{B81C7D15-FB23-1455-0E59-CB4FE8F254F4}"/>
              </a:ext>
            </a:extLst>
          </p:cNvPr>
          <p:cNvSpPr txBox="1"/>
          <p:nvPr/>
        </p:nvSpPr>
        <p:spPr>
          <a:xfrm>
            <a:off x="9563041" y="2856429"/>
            <a:ext cx="1607711" cy="369332"/>
          </a:xfrm>
          <a:prstGeom prst="rect">
            <a:avLst/>
          </a:prstGeom>
          <a:noFill/>
        </p:spPr>
        <p:txBody>
          <a:bodyPr wrap="square" rtlCol="0">
            <a:spAutoFit/>
          </a:bodyPr>
          <a:lstStyle/>
          <a:p>
            <a:pPr marL="171446" indent="-171446" defTabSz="914377">
              <a:buFont typeface="Arial" panose="020B0604020202020204" pitchFamily="34" charset="0"/>
              <a:buChar char="•"/>
            </a:pPr>
            <a:r>
              <a:rPr lang="en-US" sz="900" dirty="0">
                <a:solidFill>
                  <a:prstClr val="black"/>
                </a:solidFill>
                <a:latin typeface="Aptos" panose="02110004020202020204"/>
                <a:cs typeface="Arial"/>
                <a:sym typeface="Arial"/>
              </a:rPr>
              <a:t>Supporting Resource 1</a:t>
            </a:r>
          </a:p>
          <a:p>
            <a:pPr marL="171446" indent="-171446" defTabSz="914377">
              <a:buFont typeface="Arial" panose="020B0604020202020204" pitchFamily="34" charset="0"/>
              <a:buChar char="•"/>
            </a:pPr>
            <a:r>
              <a:rPr lang="en-US" sz="900" dirty="0">
                <a:solidFill>
                  <a:prstClr val="black"/>
                </a:solidFill>
                <a:latin typeface="Aptos" panose="02110004020202020204"/>
                <a:cs typeface="Arial"/>
                <a:sym typeface="Arial"/>
              </a:rPr>
              <a:t>Supporting Resource 2</a:t>
            </a:r>
          </a:p>
        </p:txBody>
      </p:sp>
      <p:sp>
        <p:nvSpPr>
          <p:cNvPr id="42" name="TextBox 41">
            <a:extLst>
              <a:ext uri="{FF2B5EF4-FFF2-40B4-BE49-F238E27FC236}">
                <a16:creationId xmlns:a16="http://schemas.microsoft.com/office/drawing/2014/main" id="{EE6C6031-E719-3721-886C-08ABE621EB7D}"/>
              </a:ext>
            </a:extLst>
          </p:cNvPr>
          <p:cNvSpPr txBox="1"/>
          <p:nvPr/>
        </p:nvSpPr>
        <p:spPr>
          <a:xfrm>
            <a:off x="6301047" y="594581"/>
            <a:ext cx="4338945" cy="369332"/>
          </a:xfrm>
          <a:prstGeom prst="rect">
            <a:avLst/>
          </a:prstGeom>
          <a:noFill/>
        </p:spPr>
        <p:txBody>
          <a:bodyPr wrap="none" rtlCol="0">
            <a:spAutoFit/>
          </a:bodyPr>
          <a:lstStyle/>
          <a:p>
            <a:pPr defTabSz="914377"/>
            <a:r>
              <a:rPr lang="en-US" dirty="0">
                <a:solidFill>
                  <a:prstClr val="black"/>
                </a:solidFill>
                <a:latin typeface="Aptos" panose="02110004020202020204"/>
                <a:cs typeface="Arial"/>
                <a:sym typeface="Arial"/>
              </a:rPr>
              <a:t>All Data Preview Windows are “scrollable”</a:t>
            </a:r>
          </a:p>
        </p:txBody>
      </p:sp>
      <p:sp>
        <p:nvSpPr>
          <p:cNvPr id="45" name="TextBox 44">
            <a:extLst>
              <a:ext uri="{FF2B5EF4-FFF2-40B4-BE49-F238E27FC236}">
                <a16:creationId xmlns:a16="http://schemas.microsoft.com/office/drawing/2014/main" id="{EF906B34-C72A-F4CF-7E42-7BFE4969BD50}"/>
              </a:ext>
            </a:extLst>
          </p:cNvPr>
          <p:cNvSpPr txBox="1"/>
          <p:nvPr/>
        </p:nvSpPr>
        <p:spPr>
          <a:xfrm>
            <a:off x="7606697" y="3923562"/>
            <a:ext cx="1562871" cy="646331"/>
          </a:xfrm>
          <a:prstGeom prst="rect">
            <a:avLst/>
          </a:prstGeom>
          <a:noFill/>
        </p:spPr>
        <p:txBody>
          <a:bodyPr wrap="square" rtlCol="0">
            <a:spAutoFit/>
          </a:bodyPr>
          <a:lstStyle/>
          <a:p>
            <a:pPr marL="171446" indent="-171446" defTabSz="914377">
              <a:buFont typeface="Arial" panose="020B0604020202020204" pitchFamily="34" charset="0"/>
              <a:buChar char="•"/>
            </a:pPr>
            <a:r>
              <a:rPr lang="en-US" sz="900" dirty="0">
                <a:solidFill>
                  <a:prstClr val="black"/>
                </a:solidFill>
                <a:latin typeface="Aptos" panose="02110004020202020204"/>
                <a:cs typeface="Arial"/>
                <a:sym typeface="Arial"/>
              </a:rPr>
              <a:t>Practice 1</a:t>
            </a:r>
          </a:p>
          <a:p>
            <a:pPr marL="171446" indent="-171446" defTabSz="914377">
              <a:buFont typeface="Arial" panose="020B0604020202020204" pitchFamily="34" charset="0"/>
              <a:buChar char="•"/>
            </a:pPr>
            <a:r>
              <a:rPr lang="en-US" sz="900" dirty="0">
                <a:solidFill>
                  <a:prstClr val="black"/>
                </a:solidFill>
                <a:latin typeface="Aptos" panose="02110004020202020204"/>
                <a:cs typeface="Arial"/>
                <a:sym typeface="Arial"/>
              </a:rPr>
              <a:t>Practice 2</a:t>
            </a:r>
          </a:p>
          <a:p>
            <a:pPr marL="171446" indent="-171446" defTabSz="914377">
              <a:buFont typeface="Arial" panose="020B0604020202020204" pitchFamily="34" charset="0"/>
              <a:buChar char="•"/>
            </a:pPr>
            <a:r>
              <a:rPr lang="en-US" sz="900" dirty="0">
                <a:solidFill>
                  <a:prstClr val="black"/>
                </a:solidFill>
                <a:latin typeface="Aptos" panose="02110004020202020204"/>
                <a:cs typeface="Arial"/>
                <a:sym typeface="Arial"/>
              </a:rPr>
              <a:t>Practice 3</a:t>
            </a:r>
          </a:p>
          <a:p>
            <a:pPr marL="171446" indent="-171446" defTabSz="914377">
              <a:buFont typeface="Arial" panose="020B0604020202020204" pitchFamily="34" charset="0"/>
              <a:buChar char="•"/>
            </a:pPr>
            <a:r>
              <a:rPr lang="en-US" sz="900" dirty="0">
                <a:solidFill>
                  <a:prstClr val="black"/>
                </a:solidFill>
                <a:latin typeface="Aptos" panose="02110004020202020204"/>
                <a:cs typeface="Arial"/>
                <a:sym typeface="Arial"/>
              </a:rPr>
              <a:t>Practice 4</a:t>
            </a:r>
          </a:p>
        </p:txBody>
      </p:sp>
      <p:sp>
        <p:nvSpPr>
          <p:cNvPr id="47" name="Rounded Rectangular Callout 46">
            <a:extLst>
              <a:ext uri="{FF2B5EF4-FFF2-40B4-BE49-F238E27FC236}">
                <a16:creationId xmlns:a16="http://schemas.microsoft.com/office/drawing/2014/main" id="{CBD29A9E-96BF-79DA-535D-8DD088039040}"/>
              </a:ext>
            </a:extLst>
          </p:cNvPr>
          <p:cNvSpPr/>
          <p:nvPr/>
        </p:nvSpPr>
        <p:spPr>
          <a:xfrm>
            <a:off x="5696137" y="4017984"/>
            <a:ext cx="1455431" cy="903624"/>
          </a:xfrm>
          <a:prstGeom prst="wedgeRoundRectCallout">
            <a:avLst>
              <a:gd name="adj1" fmla="val 76379"/>
              <a:gd name="adj2" fmla="val -2811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r>
              <a:rPr lang="en-US" sz="1000" dirty="0">
                <a:solidFill>
                  <a:prstClr val="white"/>
                </a:solidFill>
                <a:latin typeface="Aptos" panose="02110004020202020204"/>
                <a:sym typeface="Arial"/>
              </a:rPr>
              <a:t>In Standard View – show all “Key” Practices &amp; Approaches across the 7 buckets</a:t>
            </a:r>
          </a:p>
        </p:txBody>
      </p:sp>
      <p:sp>
        <p:nvSpPr>
          <p:cNvPr id="48" name="Rounded Rectangular Callout 47">
            <a:extLst>
              <a:ext uri="{FF2B5EF4-FFF2-40B4-BE49-F238E27FC236}">
                <a16:creationId xmlns:a16="http://schemas.microsoft.com/office/drawing/2014/main" id="{8A3337B9-E40A-1B07-5E39-C22A7233B3E9}"/>
              </a:ext>
            </a:extLst>
          </p:cNvPr>
          <p:cNvSpPr/>
          <p:nvPr/>
        </p:nvSpPr>
        <p:spPr>
          <a:xfrm>
            <a:off x="10629990" y="5165691"/>
            <a:ext cx="1455431" cy="617187"/>
          </a:xfrm>
          <a:prstGeom prst="wedgeRoundRectCallout">
            <a:avLst>
              <a:gd name="adj1" fmla="val -27482"/>
              <a:gd name="adj2" fmla="val -14580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r>
              <a:rPr lang="en-US" sz="1000" dirty="0">
                <a:solidFill>
                  <a:prstClr val="white"/>
                </a:solidFill>
                <a:latin typeface="Aptos" panose="02110004020202020204"/>
                <a:sym typeface="Arial"/>
              </a:rPr>
              <a:t>Only shows up if the component is embedded somewhere</a:t>
            </a:r>
          </a:p>
        </p:txBody>
      </p:sp>
      <p:sp>
        <p:nvSpPr>
          <p:cNvPr id="52" name="Rounded Rectangular Callout 51">
            <a:extLst>
              <a:ext uri="{FF2B5EF4-FFF2-40B4-BE49-F238E27FC236}">
                <a16:creationId xmlns:a16="http://schemas.microsoft.com/office/drawing/2014/main" id="{60A79AF7-43F4-4F6E-625E-2D43125A3D09}"/>
              </a:ext>
            </a:extLst>
          </p:cNvPr>
          <p:cNvSpPr/>
          <p:nvPr/>
        </p:nvSpPr>
        <p:spPr>
          <a:xfrm>
            <a:off x="5762176" y="2540248"/>
            <a:ext cx="1560035" cy="993987"/>
          </a:xfrm>
          <a:prstGeom prst="wedgeRoundRectCallout">
            <a:avLst>
              <a:gd name="adj1" fmla="val 68337"/>
              <a:gd name="adj2" fmla="val 1594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r>
              <a:rPr lang="en-US" sz="1000" dirty="0">
                <a:solidFill>
                  <a:prstClr val="white"/>
                </a:solidFill>
                <a:latin typeface="Aptos" panose="02110004020202020204"/>
                <a:sym typeface="Arial"/>
              </a:rPr>
              <a:t>Will show all Student and Adult subcomponents … Adult subcomponents denoted by a “(A)” </a:t>
            </a:r>
          </a:p>
        </p:txBody>
      </p:sp>
      <p:sp>
        <p:nvSpPr>
          <p:cNvPr id="9" name="TextBox 8">
            <a:extLst>
              <a:ext uri="{FF2B5EF4-FFF2-40B4-BE49-F238E27FC236}">
                <a16:creationId xmlns:a16="http://schemas.microsoft.com/office/drawing/2014/main" id="{71B8DB65-B301-220D-CAEC-DB24C48E79AA}"/>
              </a:ext>
            </a:extLst>
          </p:cNvPr>
          <p:cNvSpPr txBox="1"/>
          <p:nvPr/>
        </p:nvSpPr>
        <p:spPr>
          <a:xfrm>
            <a:off x="2021905" y="2222598"/>
            <a:ext cx="1725899" cy="1077218"/>
          </a:xfrm>
          <a:prstGeom prst="rect">
            <a:avLst/>
          </a:prstGeom>
          <a:noFill/>
        </p:spPr>
        <p:txBody>
          <a:bodyPr wrap="square" rtlCol="0">
            <a:spAutoFit/>
          </a:bodyPr>
          <a:lstStyle/>
          <a:p>
            <a:pPr marL="228594" indent="-228594" defTabSz="914377">
              <a:buFontTx/>
              <a:buChar char="-"/>
            </a:pPr>
            <a:r>
              <a:rPr lang="en-US" sz="800" dirty="0">
                <a:solidFill>
                  <a:prstClr val="black"/>
                </a:solidFill>
                <a:latin typeface="Aptos" panose="02110004020202020204"/>
                <a:cs typeface="Arial"/>
                <a:sym typeface="Arial"/>
              </a:rPr>
              <a:t>Primary Outcomes</a:t>
            </a:r>
          </a:p>
          <a:p>
            <a:pPr marL="228594" indent="-228594" defTabSz="914377">
              <a:buFontTx/>
              <a:buChar char="-"/>
            </a:pPr>
            <a:r>
              <a:rPr lang="en-US" sz="800" dirty="0">
                <a:solidFill>
                  <a:prstClr val="black"/>
                </a:solidFill>
                <a:latin typeface="Aptos" panose="02110004020202020204"/>
                <a:cs typeface="Arial"/>
                <a:sym typeface="Arial"/>
              </a:rPr>
              <a:t>Teachers (names grouped by adult type)</a:t>
            </a:r>
          </a:p>
          <a:p>
            <a:pPr marL="228594" indent="-228594" defTabSz="914377">
              <a:buFontTx/>
              <a:buChar char="-"/>
            </a:pPr>
            <a:r>
              <a:rPr lang="en-US" sz="800" dirty="0">
                <a:solidFill>
                  <a:prstClr val="black"/>
                </a:solidFill>
                <a:latin typeface="Aptos" panose="02110004020202020204"/>
                <a:cs typeface="Arial"/>
                <a:sym typeface="Arial"/>
              </a:rPr>
              <a:t>Enrollment (who is it for.. E.g., 6</a:t>
            </a:r>
            <a:r>
              <a:rPr lang="en-US" sz="800" baseline="30000" dirty="0">
                <a:solidFill>
                  <a:prstClr val="black"/>
                </a:solidFill>
                <a:latin typeface="Aptos" panose="02110004020202020204"/>
                <a:cs typeface="Arial"/>
                <a:sym typeface="Arial"/>
              </a:rPr>
              <a:t>th</a:t>
            </a:r>
            <a:r>
              <a:rPr lang="en-US" sz="800" dirty="0">
                <a:solidFill>
                  <a:prstClr val="black"/>
                </a:solidFill>
                <a:latin typeface="Aptos" panose="02110004020202020204"/>
                <a:cs typeface="Arial"/>
                <a:sym typeface="Arial"/>
              </a:rPr>
              <a:t> graders)</a:t>
            </a:r>
          </a:p>
          <a:p>
            <a:pPr marL="228594" indent="-228594" defTabSz="914377">
              <a:buFontTx/>
              <a:buChar char="-"/>
            </a:pPr>
            <a:r>
              <a:rPr lang="en-US" sz="800" dirty="0">
                <a:solidFill>
                  <a:prstClr val="black"/>
                </a:solidFill>
                <a:latin typeface="Aptos" panose="02110004020202020204"/>
                <a:cs typeface="Arial"/>
                <a:sym typeface="Arial"/>
              </a:rPr>
              <a:t>Enrollment (# Classrooms &amp; Students)</a:t>
            </a:r>
          </a:p>
          <a:p>
            <a:pPr marL="228594" indent="-228594" defTabSz="914377">
              <a:buFontTx/>
              <a:buChar char="-"/>
            </a:pPr>
            <a:r>
              <a:rPr lang="en-US" sz="800" dirty="0">
                <a:solidFill>
                  <a:prstClr val="black"/>
                </a:solidFill>
                <a:latin typeface="Aptos" panose="02110004020202020204"/>
                <a:cs typeface="Arial"/>
                <a:sym typeface="Arial"/>
              </a:rPr>
              <a:t>Duration / When</a:t>
            </a:r>
          </a:p>
        </p:txBody>
      </p:sp>
      <p:sp>
        <p:nvSpPr>
          <p:cNvPr id="10" name="Rounded Rectangular Callout 9">
            <a:extLst>
              <a:ext uri="{FF2B5EF4-FFF2-40B4-BE49-F238E27FC236}">
                <a16:creationId xmlns:a16="http://schemas.microsoft.com/office/drawing/2014/main" id="{82656DA4-7180-F386-AF03-91A41580DA3A}"/>
              </a:ext>
            </a:extLst>
          </p:cNvPr>
          <p:cNvSpPr/>
          <p:nvPr/>
        </p:nvSpPr>
        <p:spPr>
          <a:xfrm>
            <a:off x="1955052" y="876725"/>
            <a:ext cx="1560035" cy="993987"/>
          </a:xfrm>
          <a:prstGeom prst="wedgeRoundRectCallout">
            <a:avLst>
              <a:gd name="adj1" fmla="val -476"/>
              <a:gd name="adj2" fmla="val 9154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r>
              <a:rPr lang="en-US" sz="1000" dirty="0">
                <a:solidFill>
                  <a:prstClr val="white"/>
                </a:solidFill>
                <a:latin typeface="Aptos" panose="02110004020202020204"/>
                <a:sym typeface="Arial"/>
              </a:rPr>
              <a:t>5 rows of text, details on next slide on where to pull this information from</a:t>
            </a:r>
          </a:p>
        </p:txBody>
      </p:sp>
      <p:sp>
        <p:nvSpPr>
          <p:cNvPr id="11" name="Rounded Rectangular Callout 10">
            <a:extLst>
              <a:ext uri="{FF2B5EF4-FFF2-40B4-BE49-F238E27FC236}">
                <a16:creationId xmlns:a16="http://schemas.microsoft.com/office/drawing/2014/main" id="{82DF6848-1692-A8AA-FA07-3363B1001A74}"/>
              </a:ext>
            </a:extLst>
          </p:cNvPr>
          <p:cNvSpPr/>
          <p:nvPr/>
        </p:nvSpPr>
        <p:spPr>
          <a:xfrm>
            <a:off x="6794199" y="5204659"/>
            <a:ext cx="1455431" cy="903624"/>
          </a:xfrm>
          <a:prstGeom prst="wedgeRoundRectCallout">
            <a:avLst>
              <a:gd name="adj1" fmla="val 30543"/>
              <a:gd name="adj2" fmla="val -9345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r>
              <a:rPr lang="en-US" sz="1000" dirty="0">
                <a:solidFill>
                  <a:prstClr val="white"/>
                </a:solidFill>
                <a:latin typeface="Aptos" panose="02110004020202020204"/>
                <a:sym typeface="Arial"/>
              </a:rPr>
              <a:t>In “Full View” show ALL practices, broken out by the 7 categories</a:t>
            </a:r>
          </a:p>
        </p:txBody>
      </p:sp>
      <p:sp>
        <p:nvSpPr>
          <p:cNvPr id="12" name="Rounded Rectangular Callout 11">
            <a:extLst>
              <a:ext uri="{FF2B5EF4-FFF2-40B4-BE49-F238E27FC236}">
                <a16:creationId xmlns:a16="http://schemas.microsoft.com/office/drawing/2014/main" id="{298049EE-72E1-5E37-7D07-ADB5EFCF1DC5}"/>
              </a:ext>
            </a:extLst>
          </p:cNvPr>
          <p:cNvSpPr/>
          <p:nvPr/>
        </p:nvSpPr>
        <p:spPr>
          <a:xfrm>
            <a:off x="9525511" y="1283349"/>
            <a:ext cx="1455431" cy="903624"/>
          </a:xfrm>
          <a:prstGeom prst="wedgeRoundRectCallout">
            <a:avLst>
              <a:gd name="adj1" fmla="val -3702"/>
              <a:gd name="adj2" fmla="val 11614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r>
              <a:rPr lang="en-US" sz="1000" dirty="0">
                <a:solidFill>
                  <a:prstClr val="white"/>
                </a:solidFill>
                <a:latin typeface="Aptos" panose="02110004020202020204"/>
                <a:sym typeface="Arial"/>
              </a:rPr>
              <a:t>In Standard View – show all “Key” Tools &amp; Resources across the 7 buckets</a:t>
            </a:r>
          </a:p>
        </p:txBody>
      </p:sp>
      <p:sp>
        <p:nvSpPr>
          <p:cNvPr id="13" name="Rounded Rectangular Callout 12">
            <a:extLst>
              <a:ext uri="{FF2B5EF4-FFF2-40B4-BE49-F238E27FC236}">
                <a16:creationId xmlns:a16="http://schemas.microsoft.com/office/drawing/2014/main" id="{EC9C6F3B-9B8C-D72E-B05B-333C21F5C663}"/>
              </a:ext>
            </a:extLst>
          </p:cNvPr>
          <p:cNvSpPr/>
          <p:nvPr/>
        </p:nvSpPr>
        <p:spPr>
          <a:xfrm>
            <a:off x="11111554" y="1793347"/>
            <a:ext cx="1455431" cy="903624"/>
          </a:xfrm>
          <a:prstGeom prst="wedgeRoundRectCallout">
            <a:avLst>
              <a:gd name="adj1" fmla="val -51645"/>
              <a:gd name="adj2" fmla="val 6438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r>
              <a:rPr lang="en-US" sz="1000" dirty="0">
                <a:solidFill>
                  <a:prstClr val="white"/>
                </a:solidFill>
                <a:latin typeface="Aptos" panose="02110004020202020204"/>
                <a:sym typeface="Arial"/>
              </a:rPr>
              <a:t>In “Full View” show ALL Tools &amp; Resources broken out by the 7 categories</a:t>
            </a:r>
          </a:p>
        </p:txBody>
      </p:sp>
      <p:sp>
        <p:nvSpPr>
          <p:cNvPr id="14" name="Rounded Rectangular Callout 13">
            <a:extLst>
              <a:ext uri="{FF2B5EF4-FFF2-40B4-BE49-F238E27FC236}">
                <a16:creationId xmlns:a16="http://schemas.microsoft.com/office/drawing/2014/main" id="{0094B044-7A28-EC25-7D03-913FAEABCCAE}"/>
              </a:ext>
            </a:extLst>
          </p:cNvPr>
          <p:cNvSpPr/>
          <p:nvPr/>
        </p:nvSpPr>
        <p:spPr>
          <a:xfrm>
            <a:off x="4122722" y="876725"/>
            <a:ext cx="1455431" cy="1182664"/>
          </a:xfrm>
          <a:prstGeom prst="wedgeRoundRectCallout">
            <a:avLst>
              <a:gd name="adj1" fmla="val -19467"/>
              <a:gd name="adj2" fmla="val 8117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r>
              <a:rPr lang="en-US" sz="1000" dirty="0">
                <a:solidFill>
                  <a:prstClr val="white"/>
                </a:solidFill>
                <a:latin typeface="Aptos" panose="02110004020202020204"/>
                <a:sym typeface="Arial"/>
              </a:rPr>
              <a:t>Shows leaps for the component, and the subcomponents</a:t>
            </a:r>
          </a:p>
          <a:p>
            <a:pPr algn="ctr" defTabSz="914377"/>
            <a:endParaRPr lang="en-US" sz="1000" dirty="0">
              <a:solidFill>
                <a:prstClr val="white"/>
              </a:solidFill>
              <a:latin typeface="Aptos" panose="02110004020202020204"/>
              <a:sym typeface="Arial"/>
            </a:endParaRPr>
          </a:p>
          <a:p>
            <a:pPr algn="ctr" defTabSz="914377"/>
            <a:r>
              <a:rPr lang="en-US" sz="1000" dirty="0">
                <a:solidFill>
                  <a:prstClr val="white"/>
                </a:solidFill>
                <a:latin typeface="Aptos" panose="02110004020202020204"/>
                <a:sym typeface="Arial"/>
              </a:rPr>
              <a:t>De-dupe leaps if applied in multiple places</a:t>
            </a:r>
          </a:p>
        </p:txBody>
      </p:sp>
    </p:spTree>
    <p:extLst>
      <p:ext uri="{BB962C8B-B14F-4D97-AF65-F5344CB8AC3E}">
        <p14:creationId xmlns:p14="http://schemas.microsoft.com/office/powerpoint/2010/main" val="837617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D2CD-0435-361A-7741-D5008C4B402B}"/>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8C0C2FC2-C4F4-25B5-076F-C53B21F30464}"/>
              </a:ext>
            </a:extLst>
          </p:cNvPr>
          <p:cNvSpPr txBox="1"/>
          <p:nvPr/>
        </p:nvSpPr>
        <p:spPr>
          <a:xfrm>
            <a:off x="1" y="93831"/>
            <a:ext cx="4302479" cy="369332"/>
          </a:xfrm>
          <a:prstGeom prst="rect">
            <a:avLst/>
          </a:prstGeom>
          <a:noFill/>
        </p:spPr>
        <p:txBody>
          <a:bodyPr wrap="square" rtlCol="0">
            <a:spAutoFit/>
          </a:bodyPr>
          <a:lstStyle/>
          <a:p>
            <a:pPr defTabSz="914377"/>
            <a:r>
              <a:rPr lang="en-US" dirty="0">
                <a:solidFill>
                  <a:prstClr val="black"/>
                </a:solidFill>
                <a:latin typeface="Aptos" panose="02110004020202020204"/>
                <a:cs typeface="Arial"/>
                <a:sym typeface="Arial"/>
              </a:rPr>
              <a:t>Snapshot Data Preview Window Details</a:t>
            </a:r>
          </a:p>
        </p:txBody>
      </p:sp>
      <p:sp>
        <p:nvSpPr>
          <p:cNvPr id="43" name="Rounded Rectangle 42">
            <a:extLst>
              <a:ext uri="{FF2B5EF4-FFF2-40B4-BE49-F238E27FC236}">
                <a16:creationId xmlns:a16="http://schemas.microsoft.com/office/drawing/2014/main" id="{C2603E0A-2DA2-7FA8-3AA5-0244976C4D9F}"/>
              </a:ext>
            </a:extLst>
          </p:cNvPr>
          <p:cNvSpPr/>
          <p:nvPr/>
        </p:nvSpPr>
        <p:spPr>
          <a:xfrm>
            <a:off x="646530" y="1248353"/>
            <a:ext cx="2351629" cy="923329"/>
          </a:xfrm>
          <a:prstGeom prst="roundRect">
            <a:avLst/>
          </a:prstGeom>
          <a:solidFill>
            <a:srgbClr val="80C1E2">
              <a:alpha val="60949"/>
            </a:srgbClr>
          </a:solidFill>
          <a:ln w="76200">
            <a:solidFill>
              <a:srgbClr val="9EE0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110004020202020204"/>
              <a:sym typeface="Arial"/>
            </a:endParaRPr>
          </a:p>
        </p:txBody>
      </p:sp>
      <p:sp>
        <p:nvSpPr>
          <p:cNvPr id="44" name="TextBox 43">
            <a:extLst>
              <a:ext uri="{FF2B5EF4-FFF2-40B4-BE49-F238E27FC236}">
                <a16:creationId xmlns:a16="http://schemas.microsoft.com/office/drawing/2014/main" id="{BB2653BD-55D0-3A53-42BD-24677A27297C}"/>
              </a:ext>
            </a:extLst>
          </p:cNvPr>
          <p:cNvSpPr txBox="1"/>
          <p:nvPr/>
        </p:nvSpPr>
        <p:spPr>
          <a:xfrm>
            <a:off x="1397937" y="2194681"/>
            <a:ext cx="651140" cy="215444"/>
          </a:xfrm>
          <a:prstGeom prst="rect">
            <a:avLst/>
          </a:prstGeom>
          <a:noFill/>
        </p:spPr>
        <p:txBody>
          <a:bodyPr wrap="none" rtlCol="0">
            <a:spAutoFit/>
          </a:bodyPr>
          <a:lstStyle/>
          <a:p>
            <a:pPr defTabSz="914377"/>
            <a:r>
              <a:rPr lang="en-US" sz="800" b="1" dirty="0">
                <a:solidFill>
                  <a:prstClr val="black"/>
                </a:solidFill>
                <a:latin typeface="Aptos" panose="02110004020202020204"/>
                <a:cs typeface="Arial"/>
                <a:sym typeface="Arial"/>
              </a:rPr>
              <a:t>Snapshot </a:t>
            </a:r>
          </a:p>
        </p:txBody>
      </p:sp>
      <p:sp>
        <p:nvSpPr>
          <p:cNvPr id="45" name="TextBox 44">
            <a:extLst>
              <a:ext uri="{FF2B5EF4-FFF2-40B4-BE49-F238E27FC236}">
                <a16:creationId xmlns:a16="http://schemas.microsoft.com/office/drawing/2014/main" id="{3B084F57-A88C-3EC3-523A-7BDF602B1952}"/>
              </a:ext>
            </a:extLst>
          </p:cNvPr>
          <p:cNvSpPr txBox="1"/>
          <p:nvPr/>
        </p:nvSpPr>
        <p:spPr>
          <a:xfrm>
            <a:off x="753800" y="1340684"/>
            <a:ext cx="2351629" cy="707886"/>
          </a:xfrm>
          <a:prstGeom prst="rect">
            <a:avLst/>
          </a:prstGeom>
          <a:noFill/>
        </p:spPr>
        <p:txBody>
          <a:bodyPr wrap="square" rtlCol="0">
            <a:spAutoFit/>
          </a:bodyPr>
          <a:lstStyle/>
          <a:p>
            <a:pPr marL="228594" indent="-228594" defTabSz="914377">
              <a:buFontTx/>
              <a:buChar char="-"/>
            </a:pPr>
            <a:r>
              <a:rPr lang="en-US" sz="800" dirty="0">
                <a:solidFill>
                  <a:prstClr val="black"/>
                </a:solidFill>
                <a:latin typeface="Aptos" panose="02110004020202020204"/>
                <a:cs typeface="Arial"/>
                <a:sym typeface="Arial"/>
              </a:rPr>
              <a:t>Primary Outcomes</a:t>
            </a:r>
          </a:p>
          <a:p>
            <a:pPr marL="228594" indent="-228594" defTabSz="914377">
              <a:buFontTx/>
              <a:buChar char="-"/>
            </a:pPr>
            <a:r>
              <a:rPr lang="en-US" sz="800" dirty="0">
                <a:solidFill>
                  <a:prstClr val="black"/>
                </a:solidFill>
                <a:latin typeface="Aptos" panose="02110004020202020204"/>
                <a:cs typeface="Arial"/>
                <a:sym typeface="Arial"/>
              </a:rPr>
              <a:t>Teachers (names grouped by adult type)</a:t>
            </a:r>
          </a:p>
          <a:p>
            <a:pPr marL="228594" indent="-228594" defTabSz="914377">
              <a:buFontTx/>
              <a:buChar char="-"/>
            </a:pPr>
            <a:r>
              <a:rPr lang="en-US" sz="800" dirty="0">
                <a:solidFill>
                  <a:prstClr val="black"/>
                </a:solidFill>
                <a:latin typeface="Aptos" panose="02110004020202020204"/>
                <a:cs typeface="Arial"/>
                <a:sym typeface="Arial"/>
              </a:rPr>
              <a:t>Enrollment (who is it for.. E.g., 6</a:t>
            </a:r>
            <a:r>
              <a:rPr lang="en-US" sz="800" baseline="30000" dirty="0">
                <a:solidFill>
                  <a:prstClr val="black"/>
                </a:solidFill>
                <a:latin typeface="Aptos" panose="02110004020202020204"/>
                <a:cs typeface="Arial"/>
                <a:sym typeface="Arial"/>
              </a:rPr>
              <a:t>th</a:t>
            </a:r>
            <a:r>
              <a:rPr lang="en-US" sz="800" dirty="0">
                <a:solidFill>
                  <a:prstClr val="black"/>
                </a:solidFill>
                <a:latin typeface="Aptos" panose="02110004020202020204"/>
                <a:cs typeface="Arial"/>
                <a:sym typeface="Arial"/>
              </a:rPr>
              <a:t> graders)</a:t>
            </a:r>
          </a:p>
          <a:p>
            <a:pPr marL="228594" indent="-228594" defTabSz="914377">
              <a:buFontTx/>
              <a:buChar char="-"/>
            </a:pPr>
            <a:r>
              <a:rPr lang="en-US" sz="800" dirty="0">
                <a:solidFill>
                  <a:prstClr val="black"/>
                </a:solidFill>
                <a:latin typeface="Aptos" panose="02110004020202020204"/>
                <a:cs typeface="Arial"/>
                <a:sym typeface="Arial"/>
              </a:rPr>
              <a:t>Enrollment (# Classrooms &amp; Students)</a:t>
            </a:r>
          </a:p>
          <a:p>
            <a:pPr marL="228594" indent="-228594" defTabSz="914377">
              <a:buFontTx/>
              <a:buChar char="-"/>
            </a:pPr>
            <a:r>
              <a:rPr lang="en-US" sz="800" dirty="0">
                <a:solidFill>
                  <a:prstClr val="black"/>
                </a:solidFill>
                <a:latin typeface="Aptos" panose="02110004020202020204"/>
                <a:cs typeface="Arial"/>
                <a:sym typeface="Arial"/>
              </a:rPr>
              <a:t>Duration / When</a:t>
            </a:r>
          </a:p>
        </p:txBody>
      </p:sp>
      <p:sp>
        <p:nvSpPr>
          <p:cNvPr id="46" name="TextBox 45">
            <a:extLst>
              <a:ext uri="{FF2B5EF4-FFF2-40B4-BE49-F238E27FC236}">
                <a16:creationId xmlns:a16="http://schemas.microsoft.com/office/drawing/2014/main" id="{EAD0FC46-848A-79D7-AC07-215B57831E41}"/>
              </a:ext>
            </a:extLst>
          </p:cNvPr>
          <p:cNvSpPr txBox="1"/>
          <p:nvPr/>
        </p:nvSpPr>
        <p:spPr>
          <a:xfrm>
            <a:off x="4302479" y="1159846"/>
            <a:ext cx="6873998" cy="584775"/>
          </a:xfrm>
          <a:prstGeom prst="rect">
            <a:avLst/>
          </a:prstGeom>
          <a:noFill/>
        </p:spPr>
        <p:txBody>
          <a:bodyPr wrap="none" rtlCol="0">
            <a:spAutoFit/>
          </a:bodyPr>
          <a:lstStyle/>
          <a:p>
            <a:pPr defTabSz="1219170">
              <a:buClr>
                <a:srgbClr val="000000"/>
              </a:buClr>
            </a:pPr>
            <a:r>
              <a:rPr lang="en-US" sz="1600" kern="0" dirty="0">
                <a:solidFill>
                  <a:srgbClr val="000000"/>
                </a:solidFill>
                <a:latin typeface="Arial"/>
                <a:cs typeface="Arial"/>
                <a:sym typeface="Arial"/>
              </a:rPr>
              <a:t>This is the 1 or 2 primary outcomes that have been selected, for example:</a:t>
            </a:r>
          </a:p>
          <a:p>
            <a:pPr marL="228594" indent="-228594" defTabSz="1219170">
              <a:buClr>
                <a:srgbClr val="000000"/>
              </a:buClr>
              <a:buFont typeface="Arial" panose="020B0604020202020204" pitchFamily="34" charset="0"/>
              <a:buChar char="•"/>
            </a:pPr>
            <a:r>
              <a:rPr lang="en-US" sz="1600" b="1" kern="0" dirty="0">
                <a:solidFill>
                  <a:srgbClr val="000000"/>
                </a:solidFill>
                <a:latin typeface="Arial"/>
                <a:cs typeface="Arial"/>
                <a:sym typeface="Arial"/>
              </a:rPr>
              <a:t>Algebra &amp; Critical Thinking</a:t>
            </a:r>
          </a:p>
        </p:txBody>
      </p:sp>
      <p:sp>
        <p:nvSpPr>
          <p:cNvPr id="47" name="TextBox 46">
            <a:extLst>
              <a:ext uri="{FF2B5EF4-FFF2-40B4-BE49-F238E27FC236}">
                <a16:creationId xmlns:a16="http://schemas.microsoft.com/office/drawing/2014/main" id="{49A72421-C4BB-3615-E1EB-69D123EC2FD9}"/>
              </a:ext>
            </a:extLst>
          </p:cNvPr>
          <p:cNvSpPr txBox="1"/>
          <p:nvPr/>
        </p:nvSpPr>
        <p:spPr>
          <a:xfrm>
            <a:off x="4302479" y="2003912"/>
            <a:ext cx="7591245" cy="830997"/>
          </a:xfrm>
          <a:prstGeom prst="rect">
            <a:avLst/>
          </a:prstGeom>
          <a:noFill/>
        </p:spPr>
        <p:txBody>
          <a:bodyPr wrap="square" rtlCol="0">
            <a:spAutoFit/>
          </a:bodyPr>
          <a:lstStyle/>
          <a:p>
            <a:pPr defTabSz="1219170">
              <a:buClr>
                <a:srgbClr val="000000"/>
              </a:buClr>
            </a:pPr>
            <a:r>
              <a:rPr lang="en-US" sz="1600" kern="0" dirty="0">
                <a:solidFill>
                  <a:srgbClr val="000000"/>
                </a:solidFill>
                <a:latin typeface="Arial"/>
                <a:cs typeface="Arial"/>
                <a:sym typeface="Arial"/>
              </a:rPr>
              <a:t>This information is pulled from the “Adults” information across the components &amp; subcomponents, for example:</a:t>
            </a:r>
          </a:p>
          <a:p>
            <a:pPr marL="228594" indent="-228594" defTabSz="1219170">
              <a:buClr>
                <a:srgbClr val="000000"/>
              </a:buClr>
              <a:buFont typeface="Arial" panose="020B0604020202020204" pitchFamily="34" charset="0"/>
              <a:buChar char="•"/>
            </a:pPr>
            <a:r>
              <a:rPr lang="en-US" sz="1600" b="1" kern="0" dirty="0">
                <a:solidFill>
                  <a:srgbClr val="000000"/>
                </a:solidFill>
                <a:latin typeface="Arial"/>
                <a:cs typeface="Arial"/>
                <a:sym typeface="Arial"/>
              </a:rPr>
              <a:t>Educators (Name 1, Name 2), School Counselor (Name 1)</a:t>
            </a:r>
          </a:p>
        </p:txBody>
      </p:sp>
      <p:sp>
        <p:nvSpPr>
          <p:cNvPr id="48" name="TextBox 47">
            <a:extLst>
              <a:ext uri="{FF2B5EF4-FFF2-40B4-BE49-F238E27FC236}">
                <a16:creationId xmlns:a16="http://schemas.microsoft.com/office/drawing/2014/main" id="{15861806-DBAD-E65B-DF58-D0A9734D15F1}"/>
              </a:ext>
            </a:extLst>
          </p:cNvPr>
          <p:cNvSpPr txBox="1"/>
          <p:nvPr/>
        </p:nvSpPr>
        <p:spPr>
          <a:xfrm>
            <a:off x="4302479" y="3094200"/>
            <a:ext cx="7591245" cy="3046988"/>
          </a:xfrm>
          <a:prstGeom prst="rect">
            <a:avLst/>
          </a:prstGeom>
          <a:noFill/>
        </p:spPr>
        <p:txBody>
          <a:bodyPr wrap="square" rtlCol="0">
            <a:spAutoFit/>
          </a:bodyPr>
          <a:lstStyle/>
          <a:p>
            <a:pPr defTabSz="1219170">
              <a:buClr>
                <a:srgbClr val="000000"/>
              </a:buClr>
            </a:pPr>
            <a:r>
              <a:rPr lang="en-US" sz="1600" kern="0" dirty="0">
                <a:solidFill>
                  <a:srgbClr val="000000"/>
                </a:solidFill>
                <a:latin typeface="Arial"/>
                <a:cs typeface="Arial"/>
                <a:sym typeface="Arial"/>
              </a:rPr>
              <a:t>This information is pulled from the </a:t>
            </a:r>
            <a:r>
              <a:rPr lang="en-US" sz="1600" kern="0" dirty="0">
                <a:solidFill>
                  <a:srgbClr val="000000"/>
                </a:solidFill>
                <a:latin typeface="Arial"/>
                <a:cs typeface="Arial"/>
                <a:sym typeface="Arial"/>
                <a:hlinkClick r:id="rId3"/>
              </a:rPr>
              <a:t>“Grade Band” choice bucket </a:t>
            </a:r>
            <a:r>
              <a:rPr lang="en-US" sz="1600" kern="0" dirty="0">
                <a:solidFill>
                  <a:srgbClr val="000000"/>
                </a:solidFill>
                <a:latin typeface="Arial"/>
                <a:cs typeface="Arial"/>
                <a:sym typeface="Arial"/>
              </a:rPr>
              <a:t>of the “Learners” Information, for example</a:t>
            </a:r>
          </a:p>
          <a:p>
            <a:pPr marL="228594" indent="-228594" defTabSz="1219170">
              <a:buClr>
                <a:srgbClr val="000000"/>
              </a:buClr>
              <a:buFont typeface="Arial" panose="020B0604020202020204" pitchFamily="34" charset="0"/>
              <a:buChar char="•"/>
            </a:pPr>
            <a:r>
              <a:rPr lang="en-US" sz="1600" b="1" kern="0" dirty="0">
                <a:solidFill>
                  <a:srgbClr val="000000"/>
                </a:solidFill>
                <a:latin typeface="Arial"/>
                <a:cs typeface="Arial"/>
                <a:sym typeface="Arial"/>
              </a:rPr>
              <a:t>High Schoolers  </a:t>
            </a:r>
            <a:r>
              <a:rPr lang="en-US" sz="1600" kern="0" dirty="0">
                <a:solidFill>
                  <a:srgbClr val="000000"/>
                </a:solidFill>
                <a:latin typeface="Arial"/>
                <a:cs typeface="Arial"/>
                <a:sym typeface="Arial"/>
              </a:rPr>
              <a:t>… or </a:t>
            </a:r>
          </a:p>
          <a:p>
            <a:pPr marL="228594" indent="-228594" defTabSz="1219170">
              <a:buClr>
                <a:srgbClr val="000000"/>
              </a:buClr>
              <a:buFont typeface="Arial" panose="020B0604020202020204" pitchFamily="34" charset="0"/>
              <a:buChar char="•"/>
            </a:pPr>
            <a:r>
              <a:rPr lang="en-US" sz="1600" b="1" kern="0" dirty="0">
                <a:solidFill>
                  <a:srgbClr val="000000"/>
                </a:solidFill>
                <a:latin typeface="Arial"/>
                <a:cs typeface="Arial"/>
                <a:sym typeface="Arial"/>
              </a:rPr>
              <a:t>9</a:t>
            </a:r>
            <a:r>
              <a:rPr lang="en-US" sz="1600" b="1" kern="0" baseline="30000" dirty="0">
                <a:solidFill>
                  <a:srgbClr val="000000"/>
                </a:solidFill>
                <a:latin typeface="Arial"/>
                <a:cs typeface="Arial"/>
                <a:sym typeface="Arial"/>
              </a:rPr>
              <a:t>th</a:t>
            </a:r>
            <a:r>
              <a:rPr lang="en-US" sz="1600" b="1" kern="0" dirty="0">
                <a:solidFill>
                  <a:srgbClr val="000000"/>
                </a:solidFill>
                <a:latin typeface="Arial"/>
                <a:cs typeface="Arial"/>
                <a:sym typeface="Arial"/>
              </a:rPr>
              <a:t> and 10</a:t>
            </a:r>
            <a:r>
              <a:rPr lang="en-US" sz="1600" b="1" kern="0" baseline="30000" dirty="0">
                <a:solidFill>
                  <a:srgbClr val="000000"/>
                </a:solidFill>
                <a:latin typeface="Arial"/>
                <a:cs typeface="Arial"/>
                <a:sym typeface="Arial"/>
              </a:rPr>
              <a:t>th</a:t>
            </a:r>
            <a:r>
              <a:rPr lang="en-US" sz="1600" b="1" kern="0" dirty="0">
                <a:solidFill>
                  <a:srgbClr val="000000"/>
                </a:solidFill>
                <a:latin typeface="Arial"/>
                <a:cs typeface="Arial"/>
                <a:sym typeface="Arial"/>
              </a:rPr>
              <a:t> Graders</a:t>
            </a:r>
          </a:p>
          <a:p>
            <a:pPr marL="228594" indent="-228594" defTabSz="1219170">
              <a:buClr>
                <a:srgbClr val="000000"/>
              </a:buClr>
              <a:buFont typeface="Arial" panose="020B0604020202020204" pitchFamily="34" charset="0"/>
              <a:buChar char="•"/>
            </a:pPr>
            <a:endParaRPr lang="en-US" sz="1600" b="1" kern="0" dirty="0">
              <a:solidFill>
                <a:srgbClr val="000000"/>
              </a:solidFill>
              <a:latin typeface="Arial"/>
              <a:cs typeface="Arial"/>
              <a:sym typeface="Arial"/>
            </a:endParaRPr>
          </a:p>
          <a:p>
            <a:pPr defTabSz="1219170">
              <a:buClr>
                <a:srgbClr val="000000"/>
              </a:buClr>
            </a:pPr>
            <a:r>
              <a:rPr lang="en-US" sz="1600" kern="0" dirty="0">
                <a:solidFill>
                  <a:srgbClr val="000000"/>
                </a:solidFill>
                <a:latin typeface="Arial"/>
                <a:cs typeface="Arial"/>
                <a:sym typeface="Arial"/>
              </a:rPr>
              <a:t>This information is pulled from the </a:t>
            </a:r>
            <a:r>
              <a:rPr lang="en-US" sz="1600" kern="0" dirty="0">
                <a:solidFill>
                  <a:srgbClr val="000000"/>
                </a:solidFill>
                <a:latin typeface="Arial"/>
                <a:cs typeface="Arial"/>
                <a:sym typeface="Arial"/>
                <a:hlinkClick r:id="rId4"/>
              </a:rPr>
              <a:t># Classroom &amp; Students Choice Bucket in “Schedule &amp; Use of Time”</a:t>
            </a:r>
            <a:r>
              <a:rPr lang="en-US" sz="1600" kern="0" dirty="0">
                <a:solidFill>
                  <a:srgbClr val="000000"/>
                </a:solidFill>
                <a:latin typeface="Arial"/>
                <a:cs typeface="Arial"/>
                <a:sym typeface="Arial"/>
              </a:rPr>
              <a:t> for example:</a:t>
            </a:r>
          </a:p>
          <a:p>
            <a:pPr marL="228594" indent="-228594" defTabSz="1219170">
              <a:buClr>
                <a:srgbClr val="000000"/>
              </a:buClr>
              <a:buFont typeface="Arial" panose="020B0604020202020204" pitchFamily="34" charset="0"/>
              <a:buChar char="•"/>
            </a:pPr>
            <a:r>
              <a:rPr lang="en-US" sz="1600" b="1" kern="0" dirty="0">
                <a:solidFill>
                  <a:srgbClr val="000000"/>
                </a:solidFill>
                <a:latin typeface="Arial"/>
                <a:cs typeface="Arial"/>
                <a:sym typeface="Arial"/>
              </a:rPr>
              <a:t>100 students across 5 classrooms</a:t>
            </a:r>
          </a:p>
          <a:p>
            <a:pPr marL="228594" indent="-228594" defTabSz="1219170">
              <a:buClr>
                <a:srgbClr val="000000"/>
              </a:buClr>
              <a:buFont typeface="Arial" panose="020B0604020202020204" pitchFamily="34" charset="0"/>
              <a:buChar char="•"/>
            </a:pPr>
            <a:endParaRPr lang="en-US" sz="1600" b="1" kern="0" dirty="0">
              <a:solidFill>
                <a:srgbClr val="000000"/>
              </a:solidFill>
              <a:latin typeface="Arial"/>
              <a:cs typeface="Arial"/>
              <a:sym typeface="Arial"/>
            </a:endParaRPr>
          </a:p>
          <a:p>
            <a:pPr defTabSz="1219170">
              <a:buClr>
                <a:srgbClr val="000000"/>
              </a:buClr>
            </a:pPr>
            <a:r>
              <a:rPr lang="en-US" sz="1600" kern="0" dirty="0">
                <a:solidFill>
                  <a:srgbClr val="000000"/>
                </a:solidFill>
                <a:latin typeface="Arial"/>
                <a:cs typeface="Arial"/>
                <a:sym typeface="Arial"/>
              </a:rPr>
              <a:t>This information is pulled from the </a:t>
            </a:r>
            <a:r>
              <a:rPr lang="en-US" sz="1600" kern="0" dirty="0">
                <a:solidFill>
                  <a:srgbClr val="000000"/>
                </a:solidFill>
                <a:latin typeface="Arial"/>
                <a:cs typeface="Arial"/>
                <a:sym typeface="Arial"/>
                <a:hlinkClick r:id="rId4"/>
              </a:rPr>
              <a:t>Duration &amp; Frequency Choice Buckets in “Schedule &amp; Use of Time”</a:t>
            </a:r>
            <a:r>
              <a:rPr lang="en-US" sz="1600" kern="0" dirty="0">
                <a:solidFill>
                  <a:srgbClr val="000000"/>
                </a:solidFill>
                <a:latin typeface="Arial"/>
                <a:cs typeface="Arial"/>
                <a:sym typeface="Arial"/>
              </a:rPr>
              <a:t> for example:</a:t>
            </a:r>
          </a:p>
          <a:p>
            <a:pPr marL="228594" indent="-228594" defTabSz="1219170">
              <a:buClr>
                <a:srgbClr val="000000"/>
              </a:buClr>
              <a:buFont typeface="Arial" panose="020B0604020202020204" pitchFamily="34" charset="0"/>
              <a:buChar char="•"/>
            </a:pPr>
            <a:r>
              <a:rPr lang="en-US" sz="1600" b="1" kern="0" dirty="0">
                <a:solidFill>
                  <a:srgbClr val="000000"/>
                </a:solidFill>
                <a:latin typeface="Arial"/>
                <a:cs typeface="Arial"/>
                <a:sym typeface="Arial"/>
              </a:rPr>
              <a:t>5x per week for 50 minutes</a:t>
            </a:r>
          </a:p>
        </p:txBody>
      </p:sp>
      <p:sp>
        <p:nvSpPr>
          <p:cNvPr id="49" name="TextBox 48">
            <a:extLst>
              <a:ext uri="{FF2B5EF4-FFF2-40B4-BE49-F238E27FC236}">
                <a16:creationId xmlns:a16="http://schemas.microsoft.com/office/drawing/2014/main" id="{D4B65D2E-733A-1B43-2246-C5EEE4C4CA32}"/>
              </a:ext>
            </a:extLst>
          </p:cNvPr>
          <p:cNvSpPr txBox="1"/>
          <p:nvPr/>
        </p:nvSpPr>
        <p:spPr>
          <a:xfrm>
            <a:off x="4302479" y="493940"/>
            <a:ext cx="7205819" cy="379656"/>
          </a:xfrm>
          <a:prstGeom prst="rect">
            <a:avLst/>
          </a:prstGeom>
          <a:noFill/>
        </p:spPr>
        <p:txBody>
          <a:bodyPr wrap="none" rtlCol="0">
            <a:spAutoFit/>
          </a:bodyPr>
          <a:lstStyle/>
          <a:p>
            <a:pPr defTabSz="1219170">
              <a:buClr>
                <a:srgbClr val="000000"/>
              </a:buClr>
            </a:pPr>
            <a:r>
              <a:rPr lang="en-US" sz="1867" u="sng" kern="0" dirty="0">
                <a:solidFill>
                  <a:srgbClr val="000000"/>
                </a:solidFill>
                <a:latin typeface="Arial"/>
                <a:cs typeface="Arial"/>
                <a:sym typeface="Arial"/>
              </a:rPr>
              <a:t>The text in bold is sample text of what you would see for each line:</a:t>
            </a:r>
          </a:p>
        </p:txBody>
      </p:sp>
    </p:spTree>
    <p:extLst>
      <p:ext uri="{BB962C8B-B14F-4D97-AF65-F5344CB8AC3E}">
        <p14:creationId xmlns:p14="http://schemas.microsoft.com/office/powerpoint/2010/main" val="4273208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FD3C0-861B-B47C-9690-1A6DB1B6AF4F}"/>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88931A05-3A59-C383-789D-D7D4454D40EE}"/>
              </a:ext>
            </a:extLst>
          </p:cNvPr>
          <p:cNvPicPr>
            <a:picLocks noChangeAspect="1"/>
          </p:cNvPicPr>
          <p:nvPr/>
        </p:nvPicPr>
        <p:blipFill>
          <a:blip r:embed="rId3"/>
          <a:stretch>
            <a:fillRect/>
          </a:stretch>
        </p:blipFill>
        <p:spPr>
          <a:xfrm>
            <a:off x="2838069" y="117351"/>
            <a:ext cx="941648" cy="837020"/>
          </a:xfrm>
          <a:prstGeom prst="rect">
            <a:avLst/>
          </a:prstGeom>
        </p:spPr>
      </p:pic>
      <p:sp>
        <p:nvSpPr>
          <p:cNvPr id="1203" name="TextBox 1202">
            <a:extLst>
              <a:ext uri="{FF2B5EF4-FFF2-40B4-BE49-F238E27FC236}">
                <a16:creationId xmlns:a16="http://schemas.microsoft.com/office/drawing/2014/main" id="{B3D9E1C7-8F1E-2A9D-709F-EBB90FFB0FAB}"/>
              </a:ext>
            </a:extLst>
          </p:cNvPr>
          <p:cNvSpPr txBox="1"/>
          <p:nvPr/>
        </p:nvSpPr>
        <p:spPr>
          <a:xfrm>
            <a:off x="7551802" y="478650"/>
            <a:ext cx="3605365" cy="646331"/>
          </a:xfrm>
          <a:prstGeom prst="rect">
            <a:avLst/>
          </a:prstGeom>
          <a:solidFill>
            <a:schemeClr val="bg1">
              <a:lumMod val="85000"/>
            </a:schemeClr>
          </a:solidFill>
        </p:spPr>
        <p:txBody>
          <a:bodyPr wrap="square" rtlCol="0">
            <a:spAutoFit/>
          </a:bodyPr>
          <a:lstStyle/>
          <a:p>
            <a:r>
              <a:rPr lang="en-US" dirty="0"/>
              <a:t>See a </a:t>
            </a:r>
            <a:r>
              <a:rPr lang="en-US" b="1" dirty="0">
                <a:solidFill>
                  <a:srgbClr val="0070C0"/>
                </a:solidFill>
              </a:rPr>
              <a:t>multi-data preview window version of the full view</a:t>
            </a:r>
          </a:p>
        </p:txBody>
      </p:sp>
      <p:sp>
        <p:nvSpPr>
          <p:cNvPr id="16" name="Google Shape;21498;p354">
            <a:extLst>
              <a:ext uri="{FF2B5EF4-FFF2-40B4-BE49-F238E27FC236}">
                <a16:creationId xmlns:a16="http://schemas.microsoft.com/office/drawing/2014/main" id="{1299C4C3-C576-1592-FC22-8FFC683DE6B5}"/>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3" name="Google Shape;21506;p354">
            <a:extLst>
              <a:ext uri="{FF2B5EF4-FFF2-40B4-BE49-F238E27FC236}">
                <a16:creationId xmlns:a16="http://schemas.microsoft.com/office/drawing/2014/main" id="{81B1974A-2672-11AC-7633-0DAEAFBE730F}"/>
              </a:ext>
            </a:extLst>
          </p:cNvPr>
          <p:cNvSpPr txBox="1"/>
          <p:nvPr/>
        </p:nvSpPr>
        <p:spPr>
          <a:xfrm>
            <a:off x="2601379" y="6205797"/>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sp>
        <p:nvSpPr>
          <p:cNvPr id="27" name="Google Shape;21509;p354">
            <a:extLst>
              <a:ext uri="{FF2B5EF4-FFF2-40B4-BE49-F238E27FC236}">
                <a16:creationId xmlns:a16="http://schemas.microsoft.com/office/drawing/2014/main" id="{F9EC7C2E-CAA0-8A4D-AE1D-85A23234A2AE}"/>
              </a:ext>
            </a:extLst>
          </p:cNvPr>
          <p:cNvSpPr txBox="1"/>
          <p:nvPr/>
        </p:nvSpPr>
        <p:spPr>
          <a:xfrm>
            <a:off x="1760834" y="1263955"/>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28" name="Google Shape;21510;p354">
            <a:extLst>
              <a:ext uri="{FF2B5EF4-FFF2-40B4-BE49-F238E27FC236}">
                <a16:creationId xmlns:a16="http://schemas.microsoft.com/office/drawing/2014/main" id="{125C7B03-572F-1741-C98A-3E2FE78F7867}"/>
              </a:ext>
            </a:extLst>
          </p:cNvPr>
          <p:cNvSpPr txBox="1"/>
          <p:nvPr/>
        </p:nvSpPr>
        <p:spPr>
          <a:xfrm>
            <a:off x="1673753" y="5203407"/>
            <a:ext cx="1500866" cy="461665"/>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200" dirty="0"/>
              <a:t>Learning &amp; Advancement</a:t>
            </a:r>
            <a:endParaRPr sz="1200" dirty="0"/>
          </a:p>
        </p:txBody>
      </p:sp>
      <p:sp>
        <p:nvSpPr>
          <p:cNvPr id="29" name="Google Shape;21511;p354">
            <a:extLst>
              <a:ext uri="{FF2B5EF4-FFF2-40B4-BE49-F238E27FC236}">
                <a16:creationId xmlns:a16="http://schemas.microsoft.com/office/drawing/2014/main" id="{F97B7104-1CAF-684A-7583-9A27949CA1CF}"/>
              </a:ext>
            </a:extLst>
          </p:cNvPr>
          <p:cNvSpPr txBox="1"/>
          <p:nvPr/>
        </p:nvSpPr>
        <p:spPr>
          <a:xfrm>
            <a:off x="3307992" y="5193505"/>
            <a:ext cx="1364424" cy="461665"/>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200" dirty="0"/>
              <a:t>Engagement &amp; Wellbeing</a:t>
            </a:r>
            <a:endParaRPr sz="1200" dirty="0"/>
          </a:p>
        </p:txBody>
      </p:sp>
      <p:sp>
        <p:nvSpPr>
          <p:cNvPr id="30" name="Google Shape;123;p25">
            <a:extLst>
              <a:ext uri="{FF2B5EF4-FFF2-40B4-BE49-F238E27FC236}">
                <a16:creationId xmlns:a16="http://schemas.microsoft.com/office/drawing/2014/main" id="{081EE478-60FA-F3A5-0619-5963B909BB3B}"/>
              </a:ext>
            </a:extLst>
          </p:cNvPr>
          <p:cNvSpPr/>
          <p:nvPr/>
        </p:nvSpPr>
        <p:spPr>
          <a:xfrm>
            <a:off x="1989798" y="5665263"/>
            <a:ext cx="810277" cy="353051"/>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34" name="Google Shape;122;p25">
            <a:extLst>
              <a:ext uri="{FF2B5EF4-FFF2-40B4-BE49-F238E27FC236}">
                <a16:creationId xmlns:a16="http://schemas.microsoft.com/office/drawing/2014/main" id="{5FA5F729-4CC5-5F49-A4E3-54436592F219}"/>
              </a:ext>
            </a:extLst>
          </p:cNvPr>
          <p:cNvSpPr/>
          <p:nvPr/>
        </p:nvSpPr>
        <p:spPr>
          <a:xfrm>
            <a:off x="3558359" y="5660444"/>
            <a:ext cx="810277" cy="358645"/>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sp>
        <p:nvSpPr>
          <p:cNvPr id="35" name="TextBox 34">
            <a:extLst>
              <a:ext uri="{FF2B5EF4-FFF2-40B4-BE49-F238E27FC236}">
                <a16:creationId xmlns:a16="http://schemas.microsoft.com/office/drawing/2014/main" id="{D9F6E75C-2F90-FC98-6FFF-0F34D9FF7E91}"/>
              </a:ext>
            </a:extLst>
          </p:cNvPr>
          <p:cNvSpPr txBox="1"/>
          <p:nvPr/>
        </p:nvSpPr>
        <p:spPr>
          <a:xfrm>
            <a:off x="1403431" y="1893724"/>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pic>
        <p:nvPicPr>
          <p:cNvPr id="37" name="Google Shape;2017;p43">
            <a:extLst>
              <a:ext uri="{FF2B5EF4-FFF2-40B4-BE49-F238E27FC236}">
                <a16:creationId xmlns:a16="http://schemas.microsoft.com/office/drawing/2014/main" id="{F277835E-2B6A-90A1-C823-6F0A64468842}"/>
              </a:ext>
            </a:extLst>
          </p:cNvPr>
          <p:cNvPicPr preferRelativeResize="0"/>
          <p:nvPr/>
        </p:nvPicPr>
        <p:blipFill rotWithShape="1">
          <a:blip r:embed="rId4">
            <a:alphaModFix/>
          </a:blip>
          <a:srcRect t="57094"/>
          <a:stretch/>
        </p:blipFill>
        <p:spPr>
          <a:xfrm rot="10800000">
            <a:off x="2102331" y="6126687"/>
            <a:ext cx="568466" cy="244066"/>
          </a:xfrm>
          <a:prstGeom prst="rect">
            <a:avLst/>
          </a:prstGeom>
          <a:noFill/>
          <a:ln>
            <a:noFill/>
          </a:ln>
        </p:spPr>
      </p:pic>
      <p:sp>
        <p:nvSpPr>
          <p:cNvPr id="38" name="Google Shape;2019;p43">
            <a:extLst>
              <a:ext uri="{FF2B5EF4-FFF2-40B4-BE49-F238E27FC236}">
                <a16:creationId xmlns:a16="http://schemas.microsoft.com/office/drawing/2014/main" id="{85D047FA-8B48-BE9A-7A11-B983B90AFC70}"/>
              </a:ext>
            </a:extLst>
          </p:cNvPr>
          <p:cNvSpPr/>
          <p:nvPr/>
        </p:nvSpPr>
        <p:spPr>
          <a:xfrm>
            <a:off x="2317799" y="6251772"/>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152" name="Google Shape;21512;p354">
            <a:extLst>
              <a:ext uri="{FF2B5EF4-FFF2-40B4-BE49-F238E27FC236}">
                <a16:creationId xmlns:a16="http://schemas.microsoft.com/office/drawing/2014/main" id="{767EE4A1-CAC5-8123-98C3-76E7D1D28540}"/>
              </a:ext>
            </a:extLst>
          </p:cNvPr>
          <p:cNvGrpSpPr/>
          <p:nvPr/>
        </p:nvGrpSpPr>
        <p:grpSpPr>
          <a:xfrm>
            <a:off x="2185558" y="950894"/>
            <a:ext cx="2145556" cy="772078"/>
            <a:chOff x="7996645" y="5028910"/>
            <a:chExt cx="1773236" cy="849307"/>
          </a:xfrm>
        </p:grpSpPr>
        <p:sp>
          <p:nvSpPr>
            <p:cNvPr id="1155" name="Google Shape;21513;p354">
              <a:extLst>
                <a:ext uri="{FF2B5EF4-FFF2-40B4-BE49-F238E27FC236}">
                  <a16:creationId xmlns:a16="http://schemas.microsoft.com/office/drawing/2014/main" id="{7B8D27DF-23B6-699F-45ED-B4D5DE9E0B09}"/>
                </a:ext>
              </a:extLst>
            </p:cNvPr>
            <p:cNvSpPr txBox="1"/>
            <p:nvPr/>
          </p:nvSpPr>
          <p:spPr>
            <a:xfrm>
              <a:off x="7996645" y="5041112"/>
              <a:ext cx="1545903" cy="837105"/>
            </a:xfrm>
            <a:prstGeom prst="rect">
              <a:avLst/>
            </a:prstGeom>
            <a:noFill/>
            <a:ln>
              <a:noFill/>
            </a:ln>
          </p:spPr>
          <p:txBody>
            <a:bodyPr spcFirstLastPara="1" wrap="square" lIns="83067" tIns="41533" rIns="83067" bIns="41533" anchor="t" anchorCtr="0">
              <a:spAutoFit/>
            </a:bodyPr>
            <a:lstStyle/>
            <a:p>
              <a:r>
                <a:rPr lang="en" sz="4400" dirty="0">
                  <a:solidFill>
                    <a:srgbClr val="000000"/>
                  </a:solidFill>
                  <a:latin typeface="Arial"/>
                  <a:ea typeface="Arial"/>
                  <a:cs typeface="Arial"/>
                  <a:sym typeface="Arial"/>
                </a:rPr>
                <a:t>• • • • •               </a:t>
              </a:r>
              <a:endParaRPr sz="2800" dirty="0"/>
            </a:p>
          </p:txBody>
        </p:sp>
        <p:sp>
          <p:nvSpPr>
            <p:cNvPr id="1157" name="Google Shape;21514;p354">
              <a:extLst>
                <a:ext uri="{FF2B5EF4-FFF2-40B4-BE49-F238E27FC236}">
                  <a16:creationId xmlns:a16="http://schemas.microsoft.com/office/drawing/2014/main" id="{E89048AC-F302-39D7-7C90-87E95E79EF60}"/>
                </a:ext>
              </a:extLst>
            </p:cNvPr>
            <p:cNvSpPr txBox="1"/>
            <p:nvPr/>
          </p:nvSpPr>
          <p:spPr>
            <a:xfrm>
              <a:off x="8880681" y="5028910"/>
              <a:ext cx="889200" cy="701680"/>
            </a:xfrm>
            <a:prstGeom prst="rect">
              <a:avLst/>
            </a:prstGeom>
            <a:noFill/>
            <a:ln>
              <a:noFill/>
            </a:ln>
          </p:spPr>
          <p:txBody>
            <a:bodyPr spcFirstLastPara="1" wrap="square" lIns="83067" tIns="41533" rIns="83067" bIns="41533" anchor="t" anchorCtr="0">
              <a:spAutoFit/>
            </a:bodyPr>
            <a:lstStyle/>
            <a:p>
              <a:r>
                <a:rPr lang="en" sz="3600" dirty="0">
                  <a:solidFill>
                    <a:srgbClr val="000000"/>
                  </a:solidFill>
                  <a:latin typeface="Arial"/>
                  <a:ea typeface="Arial"/>
                  <a:cs typeface="Arial"/>
                  <a:sym typeface="Arial"/>
                </a:rPr>
                <a:t>   </a:t>
              </a:r>
              <a:r>
                <a:rPr lang="en" sz="1600" dirty="0">
                  <a:solidFill>
                    <a:srgbClr val="000000"/>
                  </a:solidFill>
                  <a:latin typeface="Arial"/>
                  <a:ea typeface="Arial"/>
                  <a:cs typeface="Arial"/>
                  <a:sym typeface="Arial"/>
                </a:rPr>
                <a:t>  </a:t>
              </a:r>
              <a:r>
                <a:rPr lang="en" sz="2800" dirty="0">
                  <a:solidFill>
                    <a:srgbClr val="000000"/>
                  </a:solidFill>
                  <a:latin typeface="Arial"/>
                  <a:ea typeface="Arial"/>
                  <a:cs typeface="Arial"/>
                  <a:sym typeface="Arial"/>
                </a:rPr>
                <a:t> ○</a:t>
              </a:r>
              <a:endParaRPr sz="3600" dirty="0"/>
            </a:p>
          </p:txBody>
        </p:sp>
      </p:grpSp>
      <p:sp>
        <p:nvSpPr>
          <p:cNvPr id="17" name="Rounded Rectangular Callout 16">
            <a:extLst>
              <a:ext uri="{FF2B5EF4-FFF2-40B4-BE49-F238E27FC236}">
                <a16:creationId xmlns:a16="http://schemas.microsoft.com/office/drawing/2014/main" id="{1F19F9A1-6478-FEB8-57E3-CD9D52173E8D}"/>
              </a:ext>
            </a:extLst>
          </p:cNvPr>
          <p:cNvSpPr/>
          <p:nvPr/>
        </p:nvSpPr>
        <p:spPr>
          <a:xfrm>
            <a:off x="41142" y="1238387"/>
            <a:ext cx="1196281" cy="647463"/>
          </a:xfrm>
          <a:prstGeom prst="wedgeRoundRectCallout">
            <a:avLst>
              <a:gd name="adj1" fmla="val 46564"/>
              <a:gd name="adj2" fmla="val 10406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Click to expand the data preview window</a:t>
            </a:r>
          </a:p>
        </p:txBody>
      </p:sp>
      <p:sp>
        <p:nvSpPr>
          <p:cNvPr id="44" name="Rounded Rectangular Callout 43">
            <a:extLst>
              <a:ext uri="{FF2B5EF4-FFF2-40B4-BE49-F238E27FC236}">
                <a16:creationId xmlns:a16="http://schemas.microsoft.com/office/drawing/2014/main" id="{C2532132-83A2-7A48-7B50-D30BB5DFF5B2}"/>
              </a:ext>
            </a:extLst>
          </p:cNvPr>
          <p:cNvSpPr/>
          <p:nvPr/>
        </p:nvSpPr>
        <p:spPr>
          <a:xfrm>
            <a:off x="5054624" y="1272064"/>
            <a:ext cx="1315909" cy="588603"/>
          </a:xfrm>
          <a:prstGeom prst="wedgeRoundRectCallout">
            <a:avLst>
              <a:gd name="adj1" fmla="val -115748"/>
              <a:gd name="adj2" fmla="val 7321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Expanded Set of Outcomes Show in the Expanded View</a:t>
            </a:r>
          </a:p>
        </p:txBody>
      </p:sp>
      <p:sp>
        <p:nvSpPr>
          <p:cNvPr id="45" name="Rounded Rectangular Callout 44">
            <a:extLst>
              <a:ext uri="{FF2B5EF4-FFF2-40B4-BE49-F238E27FC236}">
                <a16:creationId xmlns:a16="http://schemas.microsoft.com/office/drawing/2014/main" id="{1501A9A3-A11A-48A1-7253-A3143795B7FC}"/>
              </a:ext>
            </a:extLst>
          </p:cNvPr>
          <p:cNvSpPr/>
          <p:nvPr/>
        </p:nvSpPr>
        <p:spPr>
          <a:xfrm>
            <a:off x="4503750" y="84768"/>
            <a:ext cx="1592250" cy="712209"/>
          </a:xfrm>
          <a:prstGeom prst="wedgeRoundRectCallout">
            <a:avLst>
              <a:gd name="adj1" fmla="val -90499"/>
              <a:gd name="adj2" fmla="val 1897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Zoomed in view will show at the top, user can navigate to other components</a:t>
            </a:r>
          </a:p>
        </p:txBody>
      </p:sp>
      <p:sp>
        <p:nvSpPr>
          <p:cNvPr id="47" name="Rounded Rectangular Callout 46">
            <a:extLst>
              <a:ext uri="{FF2B5EF4-FFF2-40B4-BE49-F238E27FC236}">
                <a16:creationId xmlns:a16="http://schemas.microsoft.com/office/drawing/2014/main" id="{29F4911D-B92B-485F-CDE8-4D32B74C2D7C}"/>
              </a:ext>
            </a:extLst>
          </p:cNvPr>
          <p:cNvSpPr/>
          <p:nvPr/>
        </p:nvSpPr>
        <p:spPr>
          <a:xfrm>
            <a:off x="5712578" y="5516886"/>
            <a:ext cx="1926623" cy="783430"/>
          </a:xfrm>
          <a:prstGeom prst="wedgeRoundRectCallout">
            <a:avLst>
              <a:gd name="adj1" fmla="val -123622"/>
              <a:gd name="adj2" fmla="val 5634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Status shows at the bottom, user can click on the this to update it to an earlier phase of the journey, and the scores will update accordingly</a:t>
            </a:r>
          </a:p>
        </p:txBody>
      </p:sp>
      <p:sp>
        <p:nvSpPr>
          <p:cNvPr id="52" name="Rectangle 51">
            <a:extLst>
              <a:ext uri="{FF2B5EF4-FFF2-40B4-BE49-F238E27FC236}">
                <a16:creationId xmlns:a16="http://schemas.microsoft.com/office/drawing/2014/main" id="{0897F22B-116A-AF24-F5D5-FD381C12CD0E}"/>
              </a:ext>
            </a:extLst>
          </p:cNvPr>
          <p:cNvSpPr/>
          <p:nvPr/>
        </p:nvSpPr>
        <p:spPr>
          <a:xfrm>
            <a:off x="8727998" y="1860667"/>
            <a:ext cx="2944536" cy="36043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dirty="0"/>
              <a:t>Component Type Visibility Rules</a:t>
            </a:r>
          </a:p>
          <a:p>
            <a:pPr algn="ctr"/>
            <a:endParaRPr lang="en-US" sz="1200" dirty="0"/>
          </a:p>
          <a:p>
            <a:r>
              <a:rPr lang="en-US" sz="1200" b="1" dirty="0"/>
              <a:t>Component Type = </a:t>
            </a:r>
            <a:r>
              <a:rPr lang="en-US" sz="1200" dirty="0"/>
              <a:t>STEM or Humanities:</a:t>
            </a:r>
          </a:p>
          <a:p>
            <a:endParaRPr lang="en-US" sz="1200" dirty="0"/>
          </a:p>
          <a:p>
            <a:pPr marL="171450" indent="-171450">
              <a:buFont typeface="Arial" panose="020B0604020202020204" pitchFamily="34" charset="0"/>
              <a:buChar char="•"/>
            </a:pPr>
            <a:r>
              <a:rPr lang="en-US" sz="1200" dirty="0"/>
              <a:t>If it’s a course level:</a:t>
            </a:r>
          </a:p>
          <a:p>
            <a:pPr marL="628650" lvl="1" indent="-171450">
              <a:buFont typeface="Arial" panose="020B0604020202020204" pitchFamily="34" charset="0"/>
              <a:buChar char="•"/>
            </a:pPr>
            <a:r>
              <a:rPr lang="en-US" sz="1200" dirty="0"/>
              <a:t>Show L1: All Primary Outcomes</a:t>
            </a:r>
          </a:p>
          <a:p>
            <a:pPr marL="171450" indent="-171450">
              <a:buFont typeface="Arial" panose="020B0604020202020204" pitchFamily="34" charset="0"/>
              <a:buChar char="•"/>
            </a:pPr>
            <a:r>
              <a:rPr lang="en-US" sz="1200" dirty="0"/>
              <a:t>If it’s a Subject Level</a:t>
            </a:r>
          </a:p>
          <a:p>
            <a:pPr marL="628650" lvl="1" indent="-171450">
              <a:buFont typeface="Arial" panose="020B0604020202020204" pitchFamily="34" charset="0"/>
              <a:buChar char="•"/>
            </a:pPr>
            <a:r>
              <a:rPr lang="en-US" sz="1200" dirty="0"/>
              <a:t>Show L1: L2</a:t>
            </a:r>
          </a:p>
          <a:p>
            <a:endParaRPr lang="en-US" sz="1200" b="1" dirty="0"/>
          </a:p>
          <a:p>
            <a:r>
              <a:rPr lang="en-US" sz="1200" b="1" dirty="0"/>
              <a:t>Component Type = Crosscutting Thinking, Learning &amp; Collaboration, Wellbeing, or Wayfinding</a:t>
            </a:r>
          </a:p>
          <a:p>
            <a:endParaRPr lang="en-US" sz="1200" b="1" dirty="0"/>
          </a:p>
          <a:p>
            <a:pPr marL="171450" indent="-171450">
              <a:buFont typeface="Arial" panose="020B0604020202020204" pitchFamily="34" charset="0"/>
              <a:buChar char="•"/>
            </a:pPr>
            <a:r>
              <a:rPr lang="en-US" sz="1200" dirty="0"/>
              <a:t>Show L1: Primary Outcomes (e.g., Wellbeing:  Health Habits)</a:t>
            </a:r>
          </a:p>
          <a:p>
            <a:pPr marL="171450" indent="-171450">
              <a:buFont typeface="Arial" panose="020B0604020202020204" pitchFamily="34" charset="0"/>
              <a:buChar char="•"/>
            </a:pPr>
            <a:endParaRPr lang="en-US" sz="1200" dirty="0"/>
          </a:p>
          <a:p>
            <a:r>
              <a:rPr lang="en-US" sz="1200" b="1" dirty="0"/>
              <a:t>Note, if there are 2 primary outcomes across outcome areas, follow the same rules as above, but list both</a:t>
            </a:r>
          </a:p>
        </p:txBody>
      </p:sp>
      <p:sp>
        <p:nvSpPr>
          <p:cNvPr id="58" name="Rounded Rectangle 57">
            <a:extLst>
              <a:ext uri="{FF2B5EF4-FFF2-40B4-BE49-F238E27FC236}">
                <a16:creationId xmlns:a16="http://schemas.microsoft.com/office/drawing/2014/main" id="{C53DB468-06A7-9B43-7BF1-2A2D155A76DD}"/>
              </a:ext>
            </a:extLst>
          </p:cNvPr>
          <p:cNvSpPr/>
          <p:nvPr/>
        </p:nvSpPr>
        <p:spPr>
          <a:xfrm>
            <a:off x="1259664" y="2365313"/>
            <a:ext cx="3941315" cy="626264"/>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66" name="Rounded Rectangle 1165">
            <a:extLst>
              <a:ext uri="{FF2B5EF4-FFF2-40B4-BE49-F238E27FC236}">
                <a16:creationId xmlns:a16="http://schemas.microsoft.com/office/drawing/2014/main" id="{AB5A2C26-BB18-9B96-96A2-4B7BCE8F3397}"/>
              </a:ext>
            </a:extLst>
          </p:cNvPr>
          <p:cNvSpPr/>
          <p:nvPr/>
        </p:nvSpPr>
        <p:spPr>
          <a:xfrm>
            <a:off x="4582320" y="4156147"/>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69" name="Rounded Rectangle 1168">
            <a:extLst>
              <a:ext uri="{FF2B5EF4-FFF2-40B4-BE49-F238E27FC236}">
                <a16:creationId xmlns:a16="http://schemas.microsoft.com/office/drawing/2014/main" id="{13902A51-FB48-0FA3-428B-0CB9BAF7F86A}"/>
              </a:ext>
            </a:extLst>
          </p:cNvPr>
          <p:cNvSpPr/>
          <p:nvPr/>
        </p:nvSpPr>
        <p:spPr>
          <a:xfrm>
            <a:off x="591730" y="4138967"/>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76" name="Rounded Rectangle 1175">
            <a:extLst>
              <a:ext uri="{FF2B5EF4-FFF2-40B4-BE49-F238E27FC236}">
                <a16:creationId xmlns:a16="http://schemas.microsoft.com/office/drawing/2014/main" id="{919C39C1-B75E-D846-10B3-364FB3F4D05B}"/>
              </a:ext>
            </a:extLst>
          </p:cNvPr>
          <p:cNvSpPr/>
          <p:nvPr/>
        </p:nvSpPr>
        <p:spPr>
          <a:xfrm>
            <a:off x="1888246" y="4152215"/>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78" name="Rounded Rectangle 1177">
            <a:extLst>
              <a:ext uri="{FF2B5EF4-FFF2-40B4-BE49-F238E27FC236}">
                <a16:creationId xmlns:a16="http://schemas.microsoft.com/office/drawing/2014/main" id="{F97E36DD-1D71-E960-28A6-06DC6D2C84F3}"/>
              </a:ext>
            </a:extLst>
          </p:cNvPr>
          <p:cNvSpPr/>
          <p:nvPr/>
        </p:nvSpPr>
        <p:spPr>
          <a:xfrm>
            <a:off x="4558670" y="3243031"/>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79" name="Google Shape;21518;p354">
            <a:extLst>
              <a:ext uri="{FF2B5EF4-FFF2-40B4-BE49-F238E27FC236}">
                <a16:creationId xmlns:a16="http://schemas.microsoft.com/office/drawing/2014/main" id="{76632ED8-ACFB-A932-E221-1DCD1863971F}"/>
              </a:ext>
            </a:extLst>
          </p:cNvPr>
          <p:cNvSpPr txBox="1"/>
          <p:nvPr/>
        </p:nvSpPr>
        <p:spPr>
          <a:xfrm>
            <a:off x="1920165" y="4047914"/>
            <a:ext cx="1234712" cy="191599"/>
          </a:xfrm>
          <a:prstGeom prst="rect">
            <a:avLst/>
          </a:prstGeom>
          <a:noFill/>
          <a:ln>
            <a:noFill/>
          </a:ln>
        </p:spPr>
        <p:txBody>
          <a:bodyPr spcFirstLastPara="1" wrap="square" lIns="83067" tIns="41533" rIns="83067" bIns="41533" anchor="t" anchorCtr="0">
            <a:spAutoFit/>
          </a:bodyPr>
          <a:lstStyle/>
          <a:p>
            <a:pPr algn="ctr"/>
            <a:r>
              <a:rPr lang="en" sz="700" b="1" dirty="0">
                <a:solidFill>
                  <a:srgbClr val="7F7F7F"/>
                </a:solidFill>
              </a:rPr>
              <a:t>Practices &amp; Approaches</a:t>
            </a:r>
            <a:endParaRPr sz="700" dirty="0"/>
          </a:p>
        </p:txBody>
      </p:sp>
      <p:sp>
        <p:nvSpPr>
          <p:cNvPr id="1181" name="Google Shape;21517;p354">
            <a:extLst>
              <a:ext uri="{FF2B5EF4-FFF2-40B4-BE49-F238E27FC236}">
                <a16:creationId xmlns:a16="http://schemas.microsoft.com/office/drawing/2014/main" id="{46CB9200-6A29-99A7-AEC9-251BDB09A9D5}"/>
              </a:ext>
            </a:extLst>
          </p:cNvPr>
          <p:cNvSpPr txBox="1"/>
          <p:nvPr/>
        </p:nvSpPr>
        <p:spPr>
          <a:xfrm>
            <a:off x="2808230" y="2277283"/>
            <a:ext cx="927657" cy="191599"/>
          </a:xfrm>
          <a:prstGeom prst="rect">
            <a:avLst/>
          </a:prstGeom>
          <a:noFill/>
          <a:ln>
            <a:noFill/>
          </a:ln>
        </p:spPr>
        <p:txBody>
          <a:bodyPr spcFirstLastPara="1" wrap="square" lIns="83067" tIns="41533" rIns="83067" bIns="41533" anchor="t" anchorCtr="0">
            <a:spAutoFit/>
          </a:bodyPr>
          <a:lstStyle/>
          <a:p>
            <a:pPr algn="ctr"/>
            <a:r>
              <a:rPr lang="en" sz="700" b="1" dirty="0">
                <a:solidFill>
                  <a:srgbClr val="7F7F7F"/>
                </a:solidFill>
              </a:rPr>
              <a:t>Vision Statement</a:t>
            </a:r>
            <a:endParaRPr sz="1200" dirty="0"/>
          </a:p>
        </p:txBody>
      </p:sp>
      <p:sp>
        <p:nvSpPr>
          <p:cNvPr id="1182" name="TextBox 1181">
            <a:extLst>
              <a:ext uri="{FF2B5EF4-FFF2-40B4-BE49-F238E27FC236}">
                <a16:creationId xmlns:a16="http://schemas.microsoft.com/office/drawing/2014/main" id="{EB5F32A3-9CD7-1BA9-407E-21BC07527655}"/>
              </a:ext>
            </a:extLst>
          </p:cNvPr>
          <p:cNvSpPr txBox="1"/>
          <p:nvPr/>
        </p:nvSpPr>
        <p:spPr>
          <a:xfrm>
            <a:off x="4570469" y="3146301"/>
            <a:ext cx="1255824" cy="191599"/>
          </a:xfrm>
          <a:prstGeom prst="rect">
            <a:avLst/>
          </a:prstGeom>
          <a:noFill/>
          <a:ln>
            <a:noFill/>
          </a:ln>
        </p:spPr>
        <p:txBody>
          <a:bodyPr spcFirstLastPara="1" wrap="square" lIns="83067" tIns="41533" rIns="83067" bIns="41533" anchor="t" anchorCtr="0">
            <a:spAutoFit/>
          </a:bodyPr>
          <a:lstStyle>
            <a:defPPr>
              <a:defRPr lang="en-US"/>
            </a:defPPr>
            <a:lvl1pPr algn="ctr">
              <a:defRPr sz="727" b="1">
                <a:solidFill>
                  <a:srgbClr val="7F7F7F"/>
                </a:solidFill>
              </a:defRPr>
            </a:lvl1pPr>
          </a:lstStyle>
          <a:p>
            <a:r>
              <a:rPr lang="en-US" sz="700" dirty="0"/>
              <a:t>Embedded Locations</a:t>
            </a:r>
          </a:p>
        </p:txBody>
      </p:sp>
      <p:sp>
        <p:nvSpPr>
          <p:cNvPr id="1185" name="Google Shape;21537;p354">
            <a:extLst>
              <a:ext uri="{FF2B5EF4-FFF2-40B4-BE49-F238E27FC236}">
                <a16:creationId xmlns:a16="http://schemas.microsoft.com/office/drawing/2014/main" id="{1B0B5DD4-F6BE-8AE2-10FC-0CE608F265A7}"/>
              </a:ext>
            </a:extLst>
          </p:cNvPr>
          <p:cNvSpPr txBox="1"/>
          <p:nvPr/>
        </p:nvSpPr>
        <p:spPr>
          <a:xfrm>
            <a:off x="660686" y="4196047"/>
            <a:ext cx="1069895" cy="436596"/>
          </a:xfrm>
          <a:prstGeom prst="rect">
            <a:avLst/>
          </a:prstGeom>
          <a:noFill/>
          <a:ln>
            <a:noFill/>
          </a:ln>
        </p:spPr>
        <p:txBody>
          <a:bodyPr spcFirstLastPara="1" wrap="square" lIns="112400" tIns="56167" rIns="112400" bIns="56167" anchor="t" anchorCtr="0">
            <a:spAutoFit/>
          </a:bodyPr>
          <a:lstStyle/>
          <a:p>
            <a:pPr marL="128588" indent="-128588" defTabSz="685800">
              <a:buClrTx/>
              <a:buFont typeface="Arial" panose="020B0604020202020204" pitchFamily="34" charset="0"/>
              <a:buChar char="•"/>
            </a:pPr>
            <a:r>
              <a:rPr lang="en-US" sz="700" dirty="0">
                <a:solidFill>
                  <a:prstClr val="black"/>
                </a:solidFill>
              </a:rPr>
              <a:t>Subcomponent</a:t>
            </a:r>
          </a:p>
          <a:p>
            <a:pPr marL="128588" indent="-128588" defTabSz="685800">
              <a:buClrTx/>
              <a:buFont typeface="Arial" panose="020B0604020202020204" pitchFamily="34" charset="0"/>
              <a:buChar char="•"/>
            </a:pPr>
            <a:r>
              <a:rPr lang="en-US" sz="700" dirty="0">
                <a:solidFill>
                  <a:prstClr val="black"/>
                </a:solidFill>
              </a:rPr>
              <a:t>Subcomponent</a:t>
            </a:r>
          </a:p>
          <a:p>
            <a:pPr marL="128588" indent="-128588" defTabSz="685800">
              <a:buClrTx/>
              <a:buFont typeface="Arial" panose="020B0604020202020204" pitchFamily="34" charset="0"/>
              <a:buChar char="•"/>
            </a:pPr>
            <a:r>
              <a:rPr lang="en-US" sz="700" dirty="0">
                <a:solidFill>
                  <a:prstClr val="black"/>
                </a:solidFill>
              </a:rPr>
              <a:t>(A) Subcomponent</a:t>
            </a:r>
            <a:endParaRPr lang="en" sz="700" dirty="0"/>
          </a:p>
        </p:txBody>
      </p:sp>
      <p:sp>
        <p:nvSpPr>
          <p:cNvPr id="1186" name="Google Shape;21538;p354">
            <a:extLst>
              <a:ext uri="{FF2B5EF4-FFF2-40B4-BE49-F238E27FC236}">
                <a16:creationId xmlns:a16="http://schemas.microsoft.com/office/drawing/2014/main" id="{500612F4-FF83-21B3-D8EC-52911FC4B731}"/>
              </a:ext>
            </a:extLst>
          </p:cNvPr>
          <p:cNvSpPr txBox="1"/>
          <p:nvPr/>
        </p:nvSpPr>
        <p:spPr>
          <a:xfrm>
            <a:off x="1938637" y="4203436"/>
            <a:ext cx="1058954" cy="485071"/>
          </a:xfrm>
          <a:prstGeom prst="rect">
            <a:avLst/>
          </a:prstGeom>
          <a:noFill/>
          <a:ln>
            <a:noFill/>
          </a:ln>
        </p:spPr>
        <p:txBody>
          <a:bodyPr spcFirstLastPara="1" wrap="square" lIns="112400" tIns="56167" rIns="112400" bIns="56167" anchor="t" anchorCtr="0">
            <a:spAutoFit/>
          </a:bodyPr>
          <a:lstStyle/>
          <a:p>
            <a:pPr marL="58738" indent="-58738">
              <a:lnSpc>
                <a:spcPct val="115000"/>
              </a:lnSpc>
              <a:buFont typeface="Arial" panose="020B0604020202020204" pitchFamily="34" charset="0"/>
              <a:buChar char="•"/>
            </a:pPr>
            <a:r>
              <a:rPr lang="en" sz="700" dirty="0"/>
              <a:t>Key Practice 1</a:t>
            </a:r>
          </a:p>
          <a:p>
            <a:pPr marL="58738" indent="-58738">
              <a:lnSpc>
                <a:spcPct val="115000"/>
              </a:lnSpc>
              <a:buFont typeface="Arial" panose="020B0604020202020204" pitchFamily="34" charset="0"/>
              <a:buChar char="•"/>
            </a:pPr>
            <a:r>
              <a:rPr lang="en" sz="700" dirty="0"/>
              <a:t>Key Practice 2</a:t>
            </a:r>
          </a:p>
          <a:p>
            <a:pPr marL="58738" indent="-58738">
              <a:lnSpc>
                <a:spcPct val="115000"/>
              </a:lnSpc>
              <a:buFont typeface="Arial" panose="020B0604020202020204" pitchFamily="34" charset="0"/>
              <a:buChar char="•"/>
            </a:pPr>
            <a:r>
              <a:rPr lang="en" sz="700" dirty="0"/>
              <a:t>Key Practice 3</a:t>
            </a:r>
            <a:endParaRPr sz="700" dirty="0"/>
          </a:p>
        </p:txBody>
      </p:sp>
      <p:pic>
        <p:nvPicPr>
          <p:cNvPr id="1187" name="Picture 2" descr="expand Vector Icons free download in SVG, PNG Format">
            <a:extLst>
              <a:ext uri="{FF2B5EF4-FFF2-40B4-BE49-F238E27FC236}">
                <a16:creationId xmlns:a16="http://schemas.microsoft.com/office/drawing/2014/main" id="{C124AF8D-11E7-D4CB-1898-C43BC1EEF6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7467" y="2249236"/>
            <a:ext cx="231382" cy="231382"/>
          </a:xfrm>
          <a:prstGeom prst="rect">
            <a:avLst/>
          </a:prstGeom>
          <a:solidFill>
            <a:schemeClr val="bg1">
              <a:lumMod val="85000"/>
            </a:schemeClr>
          </a:solidFill>
          <a:ln>
            <a:solidFill>
              <a:schemeClr val="tx1"/>
            </a:solidFill>
          </a:ln>
        </p:spPr>
      </p:pic>
      <p:sp>
        <p:nvSpPr>
          <p:cNvPr id="1188" name="Google Shape;21520;p354">
            <a:extLst>
              <a:ext uri="{FF2B5EF4-FFF2-40B4-BE49-F238E27FC236}">
                <a16:creationId xmlns:a16="http://schemas.microsoft.com/office/drawing/2014/main" id="{552C5141-5E34-0CE8-29D7-4E9C7F4E47DE}"/>
              </a:ext>
            </a:extLst>
          </p:cNvPr>
          <p:cNvSpPr txBox="1"/>
          <p:nvPr/>
        </p:nvSpPr>
        <p:spPr>
          <a:xfrm>
            <a:off x="4732949" y="4061014"/>
            <a:ext cx="1050847" cy="191599"/>
          </a:xfrm>
          <a:prstGeom prst="rect">
            <a:avLst/>
          </a:prstGeom>
          <a:noFill/>
          <a:ln>
            <a:noFill/>
          </a:ln>
        </p:spPr>
        <p:txBody>
          <a:bodyPr spcFirstLastPara="1" wrap="square" lIns="83067" tIns="41533" rIns="83067" bIns="41533" anchor="t" anchorCtr="0">
            <a:spAutoFit/>
          </a:bodyPr>
          <a:lstStyle/>
          <a:p>
            <a:pPr algn="ctr"/>
            <a:r>
              <a:rPr lang="en" sz="700" b="1" dirty="0">
                <a:solidFill>
                  <a:srgbClr val="7F7F7F"/>
                </a:solidFill>
              </a:rPr>
              <a:t>Key Levers</a:t>
            </a:r>
            <a:endParaRPr sz="1200" dirty="0"/>
          </a:p>
        </p:txBody>
      </p:sp>
      <p:sp>
        <p:nvSpPr>
          <p:cNvPr id="1189" name="Google Shape;21516;p354">
            <a:extLst>
              <a:ext uri="{FF2B5EF4-FFF2-40B4-BE49-F238E27FC236}">
                <a16:creationId xmlns:a16="http://schemas.microsoft.com/office/drawing/2014/main" id="{72F83D51-8B1E-0AF3-7A76-834A895BE5EB}"/>
              </a:ext>
            </a:extLst>
          </p:cNvPr>
          <p:cNvSpPr txBox="1"/>
          <p:nvPr/>
        </p:nvSpPr>
        <p:spPr>
          <a:xfrm>
            <a:off x="665337" y="4042323"/>
            <a:ext cx="1122465" cy="191599"/>
          </a:xfrm>
          <a:prstGeom prst="rect">
            <a:avLst/>
          </a:prstGeom>
          <a:noFill/>
          <a:ln>
            <a:noFill/>
          </a:ln>
        </p:spPr>
        <p:txBody>
          <a:bodyPr spcFirstLastPara="1" wrap="square" lIns="83067" tIns="41533" rIns="83067" bIns="41533" anchor="t" anchorCtr="0">
            <a:spAutoFit/>
          </a:bodyPr>
          <a:lstStyle/>
          <a:p>
            <a:pPr algn="ctr"/>
            <a:r>
              <a:rPr lang="en" sz="700" b="1" dirty="0">
                <a:solidFill>
                  <a:srgbClr val="7F7F7F"/>
                </a:solidFill>
              </a:rPr>
              <a:t>Subcomponents</a:t>
            </a:r>
            <a:endParaRPr sz="700" dirty="0"/>
          </a:p>
        </p:txBody>
      </p:sp>
      <p:sp>
        <p:nvSpPr>
          <p:cNvPr id="1191" name="TextBox 1190">
            <a:extLst>
              <a:ext uri="{FF2B5EF4-FFF2-40B4-BE49-F238E27FC236}">
                <a16:creationId xmlns:a16="http://schemas.microsoft.com/office/drawing/2014/main" id="{00AE66ED-7450-E4E5-E98D-06C50C24338A}"/>
              </a:ext>
            </a:extLst>
          </p:cNvPr>
          <p:cNvSpPr txBox="1"/>
          <p:nvPr/>
        </p:nvSpPr>
        <p:spPr>
          <a:xfrm>
            <a:off x="4564803" y="4179070"/>
            <a:ext cx="410690" cy="184666"/>
          </a:xfrm>
          <a:prstGeom prst="rect">
            <a:avLst/>
          </a:prstGeom>
          <a:noFill/>
        </p:spPr>
        <p:txBody>
          <a:bodyPr wrap="none" rtlCol="0">
            <a:spAutoFit/>
          </a:bodyPr>
          <a:lstStyle/>
          <a:p>
            <a:pPr algn="ctr">
              <a:buClrTx/>
              <a:buFontTx/>
              <a:buNone/>
              <a:defRPr/>
            </a:pPr>
            <a:r>
              <a:rPr lang="en-US" sz="600" u="sng" kern="1200" dirty="0">
                <a:solidFill>
                  <a:srgbClr val="001F5F"/>
                </a:solidFill>
                <a:latin typeface="Aptos" panose="02110004020202020204"/>
                <a:ea typeface="+mn-ea"/>
                <a:cs typeface="+mn-cs"/>
              </a:rPr>
              <a:t>Design</a:t>
            </a:r>
          </a:p>
        </p:txBody>
      </p:sp>
      <p:sp>
        <p:nvSpPr>
          <p:cNvPr id="1192" name="TextBox 1191">
            <a:extLst>
              <a:ext uri="{FF2B5EF4-FFF2-40B4-BE49-F238E27FC236}">
                <a16:creationId xmlns:a16="http://schemas.microsoft.com/office/drawing/2014/main" id="{5B8CE8F2-049D-F808-192C-3434C1DFF300}"/>
              </a:ext>
            </a:extLst>
          </p:cNvPr>
          <p:cNvSpPr txBox="1"/>
          <p:nvPr/>
        </p:nvSpPr>
        <p:spPr>
          <a:xfrm>
            <a:off x="5335514" y="4174542"/>
            <a:ext cx="545342" cy="184666"/>
          </a:xfrm>
          <a:prstGeom prst="rect">
            <a:avLst/>
          </a:prstGeom>
          <a:noFill/>
        </p:spPr>
        <p:txBody>
          <a:bodyPr wrap="none" rtlCol="0">
            <a:spAutoFit/>
          </a:bodyPr>
          <a:lstStyle/>
          <a:p>
            <a:pPr>
              <a:buClrTx/>
              <a:buFontTx/>
              <a:buNone/>
            </a:pPr>
            <a:r>
              <a:rPr lang="en-US" sz="600" u="sng" kern="1200" dirty="0">
                <a:solidFill>
                  <a:srgbClr val="001F5F"/>
                </a:solidFill>
                <a:latin typeface="Aptos" panose="02110004020202020204"/>
                <a:ea typeface="+mn-ea"/>
                <a:cs typeface="+mn-cs"/>
              </a:rPr>
              <a:t>Conditions</a:t>
            </a:r>
          </a:p>
        </p:txBody>
      </p:sp>
      <p:cxnSp>
        <p:nvCxnSpPr>
          <p:cNvPr id="1193" name="Straight Connector 1192">
            <a:extLst>
              <a:ext uri="{FF2B5EF4-FFF2-40B4-BE49-F238E27FC236}">
                <a16:creationId xmlns:a16="http://schemas.microsoft.com/office/drawing/2014/main" id="{2C7A4212-5177-0317-1EEA-D068D2574930}"/>
              </a:ext>
            </a:extLst>
          </p:cNvPr>
          <p:cNvCxnSpPr>
            <a:cxnSpLocks/>
          </p:cNvCxnSpPr>
          <p:nvPr/>
        </p:nvCxnSpPr>
        <p:spPr>
          <a:xfrm>
            <a:off x="4831852" y="4351545"/>
            <a:ext cx="349625" cy="109725"/>
          </a:xfrm>
          <a:prstGeom prst="line">
            <a:avLst/>
          </a:prstGeom>
          <a:noFill/>
          <a:ln w="19050" cap="flat" cmpd="sng" algn="ctr">
            <a:solidFill>
              <a:srgbClr val="8EDA73"/>
            </a:solidFill>
            <a:prstDash val="solid"/>
            <a:miter lim="800000"/>
          </a:ln>
          <a:effectLst/>
        </p:spPr>
      </p:cxnSp>
      <p:cxnSp>
        <p:nvCxnSpPr>
          <p:cNvPr id="1194" name="Straight Connector 1193">
            <a:extLst>
              <a:ext uri="{FF2B5EF4-FFF2-40B4-BE49-F238E27FC236}">
                <a16:creationId xmlns:a16="http://schemas.microsoft.com/office/drawing/2014/main" id="{D9DA14D2-ED37-B106-0014-589BCBA0F808}"/>
              </a:ext>
            </a:extLst>
          </p:cNvPr>
          <p:cNvCxnSpPr>
            <a:cxnSpLocks/>
          </p:cNvCxnSpPr>
          <p:nvPr/>
        </p:nvCxnSpPr>
        <p:spPr>
          <a:xfrm flipV="1">
            <a:off x="5212624" y="4357605"/>
            <a:ext cx="336182" cy="106893"/>
          </a:xfrm>
          <a:prstGeom prst="line">
            <a:avLst/>
          </a:prstGeom>
          <a:noFill/>
          <a:ln w="19050" cap="flat" cmpd="sng" algn="ctr">
            <a:solidFill>
              <a:srgbClr val="FFD791"/>
            </a:solidFill>
            <a:prstDash val="solid"/>
            <a:miter lim="800000"/>
          </a:ln>
          <a:effectLst/>
        </p:spPr>
      </p:cxnSp>
      <p:cxnSp>
        <p:nvCxnSpPr>
          <p:cNvPr id="1195" name="Straight Arrow Connector 1194">
            <a:extLst>
              <a:ext uri="{FF2B5EF4-FFF2-40B4-BE49-F238E27FC236}">
                <a16:creationId xmlns:a16="http://schemas.microsoft.com/office/drawing/2014/main" id="{DBD7D163-045A-6EB6-9759-9C517AE110F6}"/>
              </a:ext>
            </a:extLst>
          </p:cNvPr>
          <p:cNvCxnSpPr>
            <a:cxnSpLocks/>
          </p:cNvCxnSpPr>
          <p:nvPr/>
        </p:nvCxnSpPr>
        <p:spPr>
          <a:xfrm>
            <a:off x="5190445" y="4472794"/>
            <a:ext cx="0" cy="213617"/>
          </a:xfrm>
          <a:prstGeom prst="straightConnector1">
            <a:avLst/>
          </a:prstGeom>
          <a:noFill/>
          <a:ln w="19050" cap="flat" cmpd="sng" algn="ctr">
            <a:solidFill>
              <a:srgbClr val="EB9A99"/>
            </a:solidFill>
            <a:prstDash val="solid"/>
            <a:miter lim="800000"/>
            <a:tailEnd type="triangle"/>
          </a:ln>
          <a:effectLst/>
        </p:spPr>
      </p:cxnSp>
      <p:sp>
        <p:nvSpPr>
          <p:cNvPr id="1196" name="TextBox 1195">
            <a:extLst>
              <a:ext uri="{FF2B5EF4-FFF2-40B4-BE49-F238E27FC236}">
                <a16:creationId xmlns:a16="http://schemas.microsoft.com/office/drawing/2014/main" id="{F3E944F5-3D77-DC5C-13E8-1720BAB9802E}"/>
              </a:ext>
            </a:extLst>
          </p:cNvPr>
          <p:cNvSpPr txBox="1"/>
          <p:nvPr/>
        </p:nvSpPr>
        <p:spPr>
          <a:xfrm>
            <a:off x="4855996" y="4448867"/>
            <a:ext cx="713657" cy="184666"/>
          </a:xfrm>
          <a:prstGeom prst="rect">
            <a:avLst/>
          </a:prstGeom>
          <a:noFill/>
          <a:ln>
            <a:noFill/>
          </a:ln>
        </p:spPr>
        <p:txBody>
          <a:bodyPr wrap="none" rtlCol="0">
            <a:spAutoFit/>
          </a:bodyPr>
          <a:lstStyle/>
          <a:p>
            <a:pPr>
              <a:buClrTx/>
              <a:buFontTx/>
              <a:buNone/>
            </a:pPr>
            <a:r>
              <a:rPr lang="en-US" sz="600" u="sng" kern="1200" dirty="0">
                <a:solidFill>
                  <a:srgbClr val="001F5F"/>
                </a:solidFill>
                <a:latin typeface="Aptos" panose="02110004020202020204"/>
                <a:ea typeface="+mn-ea"/>
                <a:cs typeface="+mn-cs"/>
              </a:rPr>
              <a:t>Implementation</a:t>
            </a:r>
          </a:p>
        </p:txBody>
      </p:sp>
      <p:sp>
        <p:nvSpPr>
          <p:cNvPr id="1197" name="Rounded Rectangle 1196">
            <a:extLst>
              <a:ext uri="{FF2B5EF4-FFF2-40B4-BE49-F238E27FC236}">
                <a16:creationId xmlns:a16="http://schemas.microsoft.com/office/drawing/2014/main" id="{5DF65C3E-13E4-40D4-A8D0-942DD6729136}"/>
              </a:ext>
            </a:extLst>
          </p:cNvPr>
          <p:cNvSpPr/>
          <p:nvPr/>
        </p:nvSpPr>
        <p:spPr>
          <a:xfrm>
            <a:off x="5437146" y="4328054"/>
            <a:ext cx="150268" cy="107627"/>
          </a:xfrm>
          <a:prstGeom prst="roundRect">
            <a:avLst/>
          </a:prstGeom>
          <a:solidFill>
            <a:srgbClr val="FFD79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dirty="0">
                <a:solidFill>
                  <a:srgbClr val="938120"/>
                </a:solidFill>
                <a:latin typeface="Aptos" panose="02110004020202020204"/>
              </a:rPr>
              <a:t>3</a:t>
            </a:r>
            <a:endParaRPr kumimoji="0" lang="en-US" sz="900" b="0" i="0" u="none" strike="noStrike" kern="1200" cap="none" spc="0" normalizeH="0" baseline="0" noProof="0" dirty="0">
              <a:ln>
                <a:noFill/>
              </a:ln>
              <a:solidFill>
                <a:srgbClr val="938120"/>
              </a:solidFill>
              <a:effectLst/>
              <a:uLnTx/>
              <a:uFillTx/>
              <a:latin typeface="Aptos" panose="02110004020202020204"/>
              <a:ea typeface="+mn-ea"/>
              <a:cs typeface="+mn-cs"/>
            </a:endParaRPr>
          </a:p>
        </p:txBody>
      </p:sp>
      <p:sp>
        <p:nvSpPr>
          <p:cNvPr id="1198" name="Rounded Rectangle 1197">
            <a:extLst>
              <a:ext uri="{FF2B5EF4-FFF2-40B4-BE49-F238E27FC236}">
                <a16:creationId xmlns:a16="http://schemas.microsoft.com/office/drawing/2014/main" id="{594CA3A7-7DA4-9648-3E90-AFF87FB7EA35}"/>
              </a:ext>
            </a:extLst>
          </p:cNvPr>
          <p:cNvSpPr/>
          <p:nvPr/>
        </p:nvSpPr>
        <p:spPr>
          <a:xfrm>
            <a:off x="4812522" y="4331881"/>
            <a:ext cx="150268" cy="107627"/>
          </a:xfrm>
          <a:prstGeom prst="roundRect">
            <a:avLst/>
          </a:prstGeom>
          <a:solidFill>
            <a:srgbClr val="4EA72E">
              <a:lumMod val="60000"/>
              <a:lumOff val="4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156082"/>
                </a:solidFill>
                <a:effectLst/>
                <a:uLnTx/>
                <a:uFillTx/>
                <a:latin typeface="Aptos" panose="02110004020202020204"/>
                <a:ea typeface="+mn-ea"/>
                <a:cs typeface="+mn-cs"/>
              </a:rPr>
              <a:t>5</a:t>
            </a:r>
          </a:p>
        </p:txBody>
      </p:sp>
      <p:sp>
        <p:nvSpPr>
          <p:cNvPr id="1199" name="Rounded Rectangle 1198">
            <a:extLst>
              <a:ext uri="{FF2B5EF4-FFF2-40B4-BE49-F238E27FC236}">
                <a16:creationId xmlns:a16="http://schemas.microsoft.com/office/drawing/2014/main" id="{1B8B3CCB-0FA3-3014-FC57-3FD807226838}"/>
              </a:ext>
            </a:extLst>
          </p:cNvPr>
          <p:cNvSpPr/>
          <p:nvPr/>
        </p:nvSpPr>
        <p:spPr>
          <a:xfrm>
            <a:off x="5120455" y="4404639"/>
            <a:ext cx="150268" cy="97843"/>
          </a:xfrm>
          <a:prstGeom prst="roundRect">
            <a:avLst/>
          </a:prstGeom>
          <a:solidFill>
            <a:srgbClr val="EA9A99"/>
          </a:solidFill>
          <a:ln w="19050" cap="flat" cmpd="sng" algn="ctr">
            <a:noFill/>
            <a:prstDash val="solid"/>
            <a:miter lim="800000"/>
          </a:ln>
          <a:effectLst/>
        </p:spPr>
        <p:txBody>
          <a:bodyPr rtlCol="0" anchor="ctr"/>
          <a:lstStyle/>
          <a:p>
            <a:pPr algn="ctr">
              <a:buClrTx/>
              <a:buFontTx/>
              <a:buNone/>
            </a:pPr>
            <a:r>
              <a:rPr lang="en-US" sz="900" dirty="0">
                <a:solidFill>
                  <a:srgbClr val="AD3834"/>
                </a:solidFill>
              </a:rPr>
              <a:t>2</a:t>
            </a:r>
          </a:p>
        </p:txBody>
      </p:sp>
      <p:sp>
        <p:nvSpPr>
          <p:cNvPr id="1200" name="Rounded Rectangle 1199">
            <a:extLst>
              <a:ext uri="{FF2B5EF4-FFF2-40B4-BE49-F238E27FC236}">
                <a16:creationId xmlns:a16="http://schemas.microsoft.com/office/drawing/2014/main" id="{5B08998D-20DF-00BB-5F19-75E9FDBB5572}"/>
              </a:ext>
            </a:extLst>
          </p:cNvPr>
          <p:cNvSpPr/>
          <p:nvPr/>
        </p:nvSpPr>
        <p:spPr>
          <a:xfrm>
            <a:off x="5117946" y="4678868"/>
            <a:ext cx="150268" cy="107627"/>
          </a:xfrm>
          <a:prstGeom prst="roundRect">
            <a:avLst/>
          </a:prstGeom>
          <a:solidFill>
            <a:srgbClr val="FFD79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dirty="0">
                <a:solidFill>
                  <a:srgbClr val="938120"/>
                </a:solidFill>
                <a:latin typeface="Aptos" panose="02110004020202020204"/>
              </a:rPr>
              <a:t>3</a:t>
            </a:r>
            <a:endParaRPr kumimoji="0" lang="en-US" sz="900" b="0" i="0" u="none" strike="noStrike" kern="1200" cap="none" spc="0" normalizeH="0" baseline="0" noProof="0" dirty="0">
              <a:ln>
                <a:noFill/>
              </a:ln>
              <a:solidFill>
                <a:srgbClr val="938120"/>
              </a:solidFill>
              <a:effectLst/>
              <a:uLnTx/>
              <a:uFillTx/>
              <a:latin typeface="Aptos" panose="02110004020202020204"/>
              <a:ea typeface="+mn-ea"/>
              <a:cs typeface="+mn-cs"/>
            </a:endParaRPr>
          </a:p>
        </p:txBody>
      </p:sp>
      <p:sp>
        <p:nvSpPr>
          <p:cNvPr id="1201" name="TextBox 1200">
            <a:extLst>
              <a:ext uri="{FF2B5EF4-FFF2-40B4-BE49-F238E27FC236}">
                <a16:creationId xmlns:a16="http://schemas.microsoft.com/office/drawing/2014/main" id="{734B7F3F-4076-953E-648C-44716B903162}"/>
              </a:ext>
            </a:extLst>
          </p:cNvPr>
          <p:cNvSpPr txBox="1"/>
          <p:nvPr/>
        </p:nvSpPr>
        <p:spPr>
          <a:xfrm>
            <a:off x="4933071" y="4738792"/>
            <a:ext cx="550151" cy="184666"/>
          </a:xfrm>
          <a:prstGeom prst="rect">
            <a:avLst/>
          </a:prstGeom>
          <a:noFill/>
          <a:ln>
            <a:noFill/>
          </a:ln>
        </p:spPr>
        <p:txBody>
          <a:bodyPr wrap="none" rtlCol="0">
            <a:spAutoFit/>
          </a:bodyPr>
          <a:lstStyle/>
          <a:p>
            <a:pPr>
              <a:buClrTx/>
              <a:buFontTx/>
              <a:buNone/>
            </a:pPr>
            <a:r>
              <a:rPr lang="en-US" sz="600" u="sng" kern="1200" dirty="0">
                <a:solidFill>
                  <a:srgbClr val="001F5F"/>
                </a:solidFill>
                <a:latin typeface="Aptos" panose="02110004020202020204"/>
                <a:ea typeface="+mn-ea"/>
                <a:cs typeface="+mn-cs"/>
              </a:rPr>
              <a:t>Experience</a:t>
            </a:r>
          </a:p>
        </p:txBody>
      </p:sp>
      <p:sp>
        <p:nvSpPr>
          <p:cNvPr id="1204" name="Google Shape;21536;p354">
            <a:extLst>
              <a:ext uri="{FF2B5EF4-FFF2-40B4-BE49-F238E27FC236}">
                <a16:creationId xmlns:a16="http://schemas.microsoft.com/office/drawing/2014/main" id="{531CA423-12FE-AF80-CC44-206E3F7738F8}"/>
              </a:ext>
            </a:extLst>
          </p:cNvPr>
          <p:cNvSpPr txBox="1"/>
          <p:nvPr/>
        </p:nvSpPr>
        <p:spPr>
          <a:xfrm>
            <a:off x="1284782" y="2564807"/>
            <a:ext cx="3852665" cy="237311"/>
          </a:xfrm>
          <a:prstGeom prst="rect">
            <a:avLst/>
          </a:prstGeom>
          <a:noFill/>
          <a:ln>
            <a:noFill/>
          </a:ln>
        </p:spPr>
        <p:txBody>
          <a:bodyPr spcFirstLastPara="1" wrap="square" lIns="112400" tIns="56167" rIns="112400" bIns="56167" anchor="t" anchorCtr="0">
            <a:spAutoFit/>
          </a:bodyPr>
          <a:lstStyle/>
          <a:p>
            <a:pPr>
              <a:lnSpc>
                <a:spcPct val="115000"/>
              </a:lnSpc>
            </a:pPr>
            <a:r>
              <a:rPr lang="en-US" sz="700" dirty="0"/>
              <a:t>Vision statement of the component is written here, what it intends to accomplish, etc.</a:t>
            </a:r>
          </a:p>
        </p:txBody>
      </p:sp>
      <p:sp>
        <p:nvSpPr>
          <p:cNvPr id="1206" name="Google Shape;21537;p354">
            <a:extLst>
              <a:ext uri="{FF2B5EF4-FFF2-40B4-BE49-F238E27FC236}">
                <a16:creationId xmlns:a16="http://schemas.microsoft.com/office/drawing/2014/main" id="{05C9E2FD-409C-B53B-95C4-8A0D1FB1213F}"/>
              </a:ext>
            </a:extLst>
          </p:cNvPr>
          <p:cNvSpPr txBox="1"/>
          <p:nvPr/>
        </p:nvSpPr>
        <p:spPr>
          <a:xfrm>
            <a:off x="4593959" y="3297887"/>
            <a:ext cx="1141071" cy="237311"/>
          </a:xfrm>
          <a:prstGeom prst="rect">
            <a:avLst/>
          </a:prstGeom>
          <a:noFill/>
          <a:ln>
            <a:noFill/>
          </a:ln>
        </p:spPr>
        <p:txBody>
          <a:bodyPr spcFirstLastPara="1" wrap="square" lIns="112400" tIns="56167" rIns="112400" bIns="56167" anchor="t" anchorCtr="0">
            <a:spAutoFit/>
          </a:bodyPr>
          <a:lstStyle/>
          <a:p>
            <a:pPr marL="171450" indent="-171450">
              <a:lnSpc>
                <a:spcPct val="115000"/>
              </a:lnSpc>
              <a:buFont typeface="Arial" panose="020B0604020202020204" pitchFamily="34" charset="0"/>
              <a:buChar char="•"/>
            </a:pPr>
            <a:r>
              <a:rPr lang="en-US" sz="700" dirty="0"/>
              <a:t>STEM Courses</a:t>
            </a:r>
            <a:endParaRPr lang="en" sz="700" dirty="0"/>
          </a:p>
        </p:txBody>
      </p:sp>
      <p:sp>
        <p:nvSpPr>
          <p:cNvPr id="1207" name="Rounded Rectangular Callout 1206">
            <a:extLst>
              <a:ext uri="{FF2B5EF4-FFF2-40B4-BE49-F238E27FC236}">
                <a16:creationId xmlns:a16="http://schemas.microsoft.com/office/drawing/2014/main" id="{02DA0744-6123-01D2-7634-CCB30E4A8DDE}"/>
              </a:ext>
            </a:extLst>
          </p:cNvPr>
          <p:cNvSpPr/>
          <p:nvPr/>
        </p:nvSpPr>
        <p:spPr>
          <a:xfrm>
            <a:off x="6341020" y="3226146"/>
            <a:ext cx="1751475" cy="523537"/>
          </a:xfrm>
          <a:prstGeom prst="wedgeRoundRectCallout">
            <a:avLst>
              <a:gd name="adj1" fmla="val -88852"/>
              <a:gd name="adj2" fmla="val -4866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Only shows if the component is embedded in another component</a:t>
            </a:r>
          </a:p>
        </p:txBody>
      </p:sp>
      <p:sp>
        <p:nvSpPr>
          <p:cNvPr id="1212" name="Rounded Rectangle 1211">
            <a:extLst>
              <a:ext uri="{FF2B5EF4-FFF2-40B4-BE49-F238E27FC236}">
                <a16:creationId xmlns:a16="http://schemas.microsoft.com/office/drawing/2014/main" id="{93105DF1-D123-B258-26E6-97582EEA1832}"/>
              </a:ext>
            </a:extLst>
          </p:cNvPr>
          <p:cNvSpPr/>
          <p:nvPr/>
        </p:nvSpPr>
        <p:spPr>
          <a:xfrm>
            <a:off x="1881369" y="3222699"/>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13" name="Rounded Rectangle 1212">
            <a:extLst>
              <a:ext uri="{FF2B5EF4-FFF2-40B4-BE49-F238E27FC236}">
                <a16:creationId xmlns:a16="http://schemas.microsoft.com/office/drawing/2014/main" id="{1BFE7C01-FA31-EC19-20C6-7F7A5CD65B43}"/>
              </a:ext>
            </a:extLst>
          </p:cNvPr>
          <p:cNvSpPr/>
          <p:nvPr/>
        </p:nvSpPr>
        <p:spPr>
          <a:xfrm>
            <a:off x="3218049" y="3226800"/>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14" name="Google Shape;21518;p354">
            <a:extLst>
              <a:ext uri="{FF2B5EF4-FFF2-40B4-BE49-F238E27FC236}">
                <a16:creationId xmlns:a16="http://schemas.microsoft.com/office/drawing/2014/main" id="{9F941DF1-AC5E-0793-5EA5-087393380D24}"/>
              </a:ext>
            </a:extLst>
          </p:cNvPr>
          <p:cNvSpPr txBox="1"/>
          <p:nvPr/>
        </p:nvSpPr>
        <p:spPr>
          <a:xfrm>
            <a:off x="3275579" y="3130554"/>
            <a:ext cx="1122465" cy="191599"/>
          </a:xfrm>
          <a:prstGeom prst="rect">
            <a:avLst/>
          </a:prstGeom>
          <a:noFill/>
          <a:ln>
            <a:noFill/>
          </a:ln>
        </p:spPr>
        <p:txBody>
          <a:bodyPr spcFirstLastPara="1" wrap="square" lIns="83067" tIns="41533" rIns="83067" bIns="41533" anchor="t" anchorCtr="0">
            <a:spAutoFit/>
          </a:bodyPr>
          <a:lstStyle/>
          <a:p>
            <a:pPr algn="ctr"/>
            <a:r>
              <a:rPr lang="en" sz="700" b="1" dirty="0">
                <a:solidFill>
                  <a:srgbClr val="7F7F7F"/>
                </a:solidFill>
              </a:rPr>
              <a:t>Leaps &amp; DPs</a:t>
            </a:r>
            <a:endParaRPr sz="700" dirty="0"/>
          </a:p>
        </p:txBody>
      </p:sp>
      <p:sp>
        <p:nvSpPr>
          <p:cNvPr id="1215" name="Google Shape;21536;p354">
            <a:extLst>
              <a:ext uri="{FF2B5EF4-FFF2-40B4-BE49-F238E27FC236}">
                <a16:creationId xmlns:a16="http://schemas.microsoft.com/office/drawing/2014/main" id="{2E0CCE13-BC47-EBD1-8187-DFC948FF2EBC}"/>
              </a:ext>
            </a:extLst>
          </p:cNvPr>
          <p:cNvSpPr txBox="1"/>
          <p:nvPr/>
        </p:nvSpPr>
        <p:spPr>
          <a:xfrm>
            <a:off x="1945848" y="3265388"/>
            <a:ext cx="1157306" cy="608951"/>
          </a:xfrm>
          <a:prstGeom prst="rect">
            <a:avLst/>
          </a:prstGeom>
          <a:noFill/>
          <a:ln>
            <a:noFill/>
          </a:ln>
        </p:spPr>
        <p:txBody>
          <a:bodyPr spcFirstLastPara="1" wrap="square" lIns="112400" tIns="56167" rIns="112400" bIns="56167" anchor="t" anchorCtr="0">
            <a:spAutoFit/>
          </a:bodyPr>
          <a:lstStyle/>
          <a:p>
            <a:pPr marL="58738" indent="-58738">
              <a:lnSpc>
                <a:spcPct val="115000"/>
              </a:lnSpc>
              <a:buFont typeface="Arial" panose="020B0604020202020204" pitchFamily="34" charset="0"/>
              <a:buChar char="•"/>
            </a:pPr>
            <a:r>
              <a:rPr lang="en-US" sz="700" dirty="0"/>
              <a:t>(H) Algebra</a:t>
            </a:r>
          </a:p>
          <a:p>
            <a:pPr marL="58738" indent="-58738">
              <a:lnSpc>
                <a:spcPct val="115000"/>
              </a:lnSpc>
              <a:buFont typeface="Arial" panose="020B0604020202020204" pitchFamily="34" charset="0"/>
              <a:buChar char="•"/>
            </a:pPr>
            <a:r>
              <a:rPr lang="en-US" sz="700" dirty="0"/>
              <a:t>(M) Calculus</a:t>
            </a:r>
          </a:p>
          <a:p>
            <a:pPr marL="58738" indent="-58738">
              <a:lnSpc>
                <a:spcPct val="115000"/>
              </a:lnSpc>
              <a:buFont typeface="Arial" panose="020B0604020202020204" pitchFamily="34" charset="0"/>
              <a:buChar char="•"/>
            </a:pPr>
            <a:r>
              <a:rPr lang="en-US" sz="700" dirty="0"/>
              <a:t>(M) Geometry</a:t>
            </a:r>
          </a:p>
          <a:p>
            <a:pPr marL="58738" indent="-58738">
              <a:lnSpc>
                <a:spcPct val="115000"/>
              </a:lnSpc>
              <a:buFont typeface="Arial" panose="020B0604020202020204" pitchFamily="34" charset="0"/>
              <a:buChar char="•"/>
            </a:pPr>
            <a:r>
              <a:rPr lang="en-US" sz="700" dirty="0"/>
              <a:t>(L) Math Identity</a:t>
            </a:r>
            <a:endParaRPr sz="700" dirty="0"/>
          </a:p>
        </p:txBody>
      </p:sp>
      <p:sp>
        <p:nvSpPr>
          <p:cNvPr id="1216" name="Google Shape;21507;p354">
            <a:extLst>
              <a:ext uri="{FF2B5EF4-FFF2-40B4-BE49-F238E27FC236}">
                <a16:creationId xmlns:a16="http://schemas.microsoft.com/office/drawing/2014/main" id="{2191D7AE-B004-7BD2-6282-A9200A43C07F}"/>
              </a:ext>
            </a:extLst>
          </p:cNvPr>
          <p:cNvSpPr txBox="1"/>
          <p:nvPr/>
        </p:nvSpPr>
        <p:spPr>
          <a:xfrm>
            <a:off x="1962225" y="3124792"/>
            <a:ext cx="1085199" cy="191599"/>
          </a:xfrm>
          <a:prstGeom prst="rect">
            <a:avLst/>
          </a:prstGeom>
          <a:noFill/>
          <a:ln>
            <a:noFill/>
          </a:ln>
        </p:spPr>
        <p:txBody>
          <a:bodyPr spcFirstLastPara="1" wrap="square" lIns="83067" tIns="41533" rIns="83067" bIns="41533" anchor="t" anchorCtr="0">
            <a:spAutoFit/>
          </a:bodyPr>
          <a:lstStyle/>
          <a:p>
            <a:pPr algn="ctr"/>
            <a:r>
              <a:rPr lang="en" sz="700" b="1" dirty="0">
                <a:solidFill>
                  <a:srgbClr val="7F7F7F"/>
                </a:solidFill>
              </a:rPr>
              <a:t>Targeted Outcomes</a:t>
            </a:r>
            <a:endParaRPr sz="1200" dirty="0"/>
          </a:p>
        </p:txBody>
      </p:sp>
      <p:sp>
        <p:nvSpPr>
          <p:cNvPr id="1217" name="Google Shape;21536;p354">
            <a:extLst>
              <a:ext uri="{FF2B5EF4-FFF2-40B4-BE49-F238E27FC236}">
                <a16:creationId xmlns:a16="http://schemas.microsoft.com/office/drawing/2014/main" id="{2BAA2529-F79F-4F9D-F88A-437F4905FADF}"/>
              </a:ext>
            </a:extLst>
          </p:cNvPr>
          <p:cNvSpPr txBox="1"/>
          <p:nvPr/>
        </p:nvSpPr>
        <p:spPr>
          <a:xfrm>
            <a:off x="3276520" y="3283253"/>
            <a:ext cx="1107358" cy="608951"/>
          </a:xfrm>
          <a:prstGeom prst="rect">
            <a:avLst/>
          </a:prstGeom>
          <a:noFill/>
          <a:ln>
            <a:noFill/>
          </a:ln>
        </p:spPr>
        <p:txBody>
          <a:bodyPr spcFirstLastPara="1" wrap="square" lIns="112400" tIns="56167" rIns="112400" bIns="56167" anchor="t" anchorCtr="0">
            <a:spAutoFit/>
          </a:bodyPr>
          <a:lstStyle/>
          <a:p>
            <a:pPr marL="58738" indent="-58738">
              <a:lnSpc>
                <a:spcPct val="115000"/>
              </a:lnSpc>
              <a:buFont typeface="Arial" panose="020B0604020202020204" pitchFamily="34" charset="0"/>
              <a:buChar char="•"/>
            </a:pPr>
            <a:r>
              <a:rPr lang="en-US" sz="700" u="sng" dirty="0"/>
              <a:t>(M) Customization</a:t>
            </a:r>
          </a:p>
          <a:p>
            <a:pPr marL="58738" indent="-58738">
              <a:lnSpc>
                <a:spcPct val="115000"/>
              </a:lnSpc>
              <a:buFont typeface="Arial" panose="020B0604020202020204" pitchFamily="34" charset="0"/>
              <a:buChar char="•"/>
            </a:pPr>
            <a:r>
              <a:rPr lang="en-US" sz="700" dirty="0"/>
              <a:t>(L) Agency</a:t>
            </a:r>
          </a:p>
          <a:p>
            <a:pPr marL="58738" indent="-58738">
              <a:lnSpc>
                <a:spcPct val="115000"/>
              </a:lnSpc>
              <a:buFont typeface="Arial" panose="020B0604020202020204" pitchFamily="34" charset="0"/>
              <a:buChar char="•"/>
            </a:pPr>
            <a:r>
              <a:rPr lang="en-US" sz="700" dirty="0"/>
              <a:t>(L) High expectation and rigorous learning</a:t>
            </a:r>
          </a:p>
        </p:txBody>
      </p:sp>
      <p:sp>
        <p:nvSpPr>
          <p:cNvPr id="1218" name="Rounded Rectangle 1217">
            <a:extLst>
              <a:ext uri="{FF2B5EF4-FFF2-40B4-BE49-F238E27FC236}">
                <a16:creationId xmlns:a16="http://schemas.microsoft.com/office/drawing/2014/main" id="{2C703FD8-FE36-C578-937C-F42A8D3414F7}"/>
              </a:ext>
            </a:extLst>
          </p:cNvPr>
          <p:cNvSpPr/>
          <p:nvPr/>
        </p:nvSpPr>
        <p:spPr>
          <a:xfrm>
            <a:off x="557745" y="3222699"/>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19" name="Google Shape;21516;p354">
            <a:extLst>
              <a:ext uri="{FF2B5EF4-FFF2-40B4-BE49-F238E27FC236}">
                <a16:creationId xmlns:a16="http://schemas.microsoft.com/office/drawing/2014/main" id="{66CC6DF7-1344-9419-B5B3-A84AC7C18E67}"/>
              </a:ext>
            </a:extLst>
          </p:cNvPr>
          <p:cNvSpPr txBox="1"/>
          <p:nvPr/>
        </p:nvSpPr>
        <p:spPr>
          <a:xfrm>
            <a:off x="690265" y="3134639"/>
            <a:ext cx="1020423" cy="191599"/>
          </a:xfrm>
          <a:prstGeom prst="rect">
            <a:avLst/>
          </a:prstGeom>
          <a:noFill/>
          <a:ln>
            <a:noFill/>
          </a:ln>
        </p:spPr>
        <p:txBody>
          <a:bodyPr spcFirstLastPara="1" wrap="square" lIns="83067" tIns="41533" rIns="83067" bIns="41533" anchor="t" anchorCtr="0">
            <a:spAutoFit/>
          </a:bodyPr>
          <a:lstStyle/>
          <a:p>
            <a:pPr algn="ctr"/>
            <a:r>
              <a:rPr lang="en" sz="700" b="1" u="sng" dirty="0">
                <a:solidFill>
                  <a:srgbClr val="7F7F7F"/>
                </a:solidFill>
              </a:rPr>
              <a:t>Snapshot</a:t>
            </a:r>
            <a:endParaRPr sz="1200" u="sng" dirty="0"/>
          </a:p>
        </p:txBody>
      </p:sp>
      <p:sp>
        <p:nvSpPr>
          <p:cNvPr id="1220" name="Google Shape;21537;p354">
            <a:extLst>
              <a:ext uri="{FF2B5EF4-FFF2-40B4-BE49-F238E27FC236}">
                <a16:creationId xmlns:a16="http://schemas.microsoft.com/office/drawing/2014/main" id="{FE33CDB8-F947-F37C-9788-AD88CCA2980E}"/>
              </a:ext>
            </a:extLst>
          </p:cNvPr>
          <p:cNvSpPr txBox="1"/>
          <p:nvPr/>
        </p:nvSpPr>
        <p:spPr>
          <a:xfrm>
            <a:off x="564589" y="3260508"/>
            <a:ext cx="1477135" cy="732831"/>
          </a:xfrm>
          <a:prstGeom prst="rect">
            <a:avLst/>
          </a:prstGeom>
          <a:noFill/>
          <a:ln>
            <a:noFill/>
          </a:ln>
        </p:spPr>
        <p:txBody>
          <a:bodyPr spcFirstLastPara="1" wrap="square" lIns="112400" tIns="56167" rIns="112400" bIns="56167" anchor="t" anchorCtr="0">
            <a:spAutoFit/>
          </a:bodyPr>
          <a:lstStyle/>
          <a:p>
            <a:pPr marL="60325" indent="-60325">
              <a:lnSpc>
                <a:spcPct val="115000"/>
              </a:lnSpc>
              <a:buFont typeface="Arial" panose="020B0604020202020204" pitchFamily="34" charset="0"/>
              <a:buChar char="•"/>
            </a:pPr>
            <a:r>
              <a:rPr lang="en-US" sz="700" dirty="0"/>
              <a:t>Algebra &amp; Critical thinking</a:t>
            </a:r>
          </a:p>
          <a:p>
            <a:pPr marL="60325" indent="-60325">
              <a:lnSpc>
                <a:spcPct val="115000"/>
              </a:lnSpc>
              <a:buFont typeface="Arial" panose="020B0604020202020204" pitchFamily="34" charset="0"/>
              <a:buChar char="•"/>
            </a:pPr>
            <a:r>
              <a:rPr lang="en-US" sz="700" dirty="0"/>
              <a:t>Educators (Name 1)</a:t>
            </a:r>
          </a:p>
          <a:p>
            <a:pPr marL="60325" indent="-60325">
              <a:lnSpc>
                <a:spcPct val="115000"/>
              </a:lnSpc>
              <a:buFont typeface="Arial" panose="020B0604020202020204" pitchFamily="34" charset="0"/>
              <a:buChar char="•"/>
            </a:pPr>
            <a:r>
              <a:rPr lang="en-US" sz="700" dirty="0"/>
              <a:t>9</a:t>
            </a:r>
            <a:r>
              <a:rPr lang="en-US" sz="700" baseline="30000" dirty="0"/>
              <a:t>th</a:t>
            </a:r>
            <a:r>
              <a:rPr lang="en-US" sz="700" dirty="0"/>
              <a:t> &amp; 10</a:t>
            </a:r>
            <a:r>
              <a:rPr lang="en-US" sz="700" baseline="30000" dirty="0"/>
              <a:t>th</a:t>
            </a:r>
            <a:r>
              <a:rPr lang="en-US" sz="700" dirty="0"/>
              <a:t> Graders</a:t>
            </a:r>
          </a:p>
          <a:p>
            <a:pPr marL="60325" indent="-60325">
              <a:lnSpc>
                <a:spcPct val="115000"/>
              </a:lnSpc>
              <a:buFont typeface="Arial" panose="020B0604020202020204" pitchFamily="34" charset="0"/>
              <a:buChar char="•"/>
            </a:pPr>
            <a:r>
              <a:rPr lang="en-US" sz="700" dirty="0"/>
              <a:t>100 students across 10 class</a:t>
            </a:r>
          </a:p>
          <a:p>
            <a:pPr marL="60325" indent="-60325">
              <a:lnSpc>
                <a:spcPct val="115000"/>
              </a:lnSpc>
              <a:buFont typeface="Arial" panose="020B0604020202020204" pitchFamily="34" charset="0"/>
              <a:buChar char="•"/>
            </a:pPr>
            <a:r>
              <a:rPr lang="en-US" sz="700" dirty="0"/>
              <a:t>5x per week for 50 mins</a:t>
            </a:r>
            <a:endParaRPr lang="en" sz="700" dirty="0"/>
          </a:p>
        </p:txBody>
      </p:sp>
      <p:sp>
        <p:nvSpPr>
          <p:cNvPr id="10" name="Rounded Rectangular Callout 9">
            <a:extLst>
              <a:ext uri="{FF2B5EF4-FFF2-40B4-BE49-F238E27FC236}">
                <a16:creationId xmlns:a16="http://schemas.microsoft.com/office/drawing/2014/main" id="{B6D84EDB-8A9D-D35D-AD0A-41F4515A670E}"/>
              </a:ext>
            </a:extLst>
          </p:cNvPr>
          <p:cNvSpPr/>
          <p:nvPr/>
        </p:nvSpPr>
        <p:spPr>
          <a:xfrm>
            <a:off x="-831568" y="3483838"/>
            <a:ext cx="1196281" cy="1018644"/>
          </a:xfrm>
          <a:prstGeom prst="wedgeRoundRectCallout">
            <a:avLst>
              <a:gd name="adj1" fmla="val 83820"/>
              <a:gd name="adj2" fmla="val -7366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Single click on title to open a full view of the Data Preview Window, Double click to open a working space</a:t>
            </a:r>
          </a:p>
        </p:txBody>
      </p:sp>
      <p:sp>
        <p:nvSpPr>
          <p:cNvPr id="2" name="Rounded Rectangle 1">
            <a:extLst>
              <a:ext uri="{FF2B5EF4-FFF2-40B4-BE49-F238E27FC236}">
                <a16:creationId xmlns:a16="http://schemas.microsoft.com/office/drawing/2014/main" id="{0B32B163-5F6E-465B-93ED-1EA2FBF52155}"/>
              </a:ext>
            </a:extLst>
          </p:cNvPr>
          <p:cNvSpPr/>
          <p:nvPr/>
        </p:nvSpPr>
        <p:spPr>
          <a:xfrm>
            <a:off x="3233516" y="4146414"/>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Google Shape;21518;p354">
            <a:extLst>
              <a:ext uri="{FF2B5EF4-FFF2-40B4-BE49-F238E27FC236}">
                <a16:creationId xmlns:a16="http://schemas.microsoft.com/office/drawing/2014/main" id="{02C742FC-CCC0-1DD6-AB2A-72977E0BB5D6}"/>
              </a:ext>
            </a:extLst>
          </p:cNvPr>
          <p:cNvSpPr txBox="1"/>
          <p:nvPr/>
        </p:nvSpPr>
        <p:spPr>
          <a:xfrm>
            <a:off x="3248018" y="4042113"/>
            <a:ext cx="1234712" cy="191599"/>
          </a:xfrm>
          <a:prstGeom prst="rect">
            <a:avLst/>
          </a:prstGeom>
          <a:noFill/>
          <a:ln>
            <a:noFill/>
          </a:ln>
        </p:spPr>
        <p:txBody>
          <a:bodyPr spcFirstLastPara="1" wrap="square" lIns="83067" tIns="41533" rIns="83067" bIns="41533" anchor="t" anchorCtr="0">
            <a:spAutoFit/>
          </a:bodyPr>
          <a:lstStyle/>
          <a:p>
            <a:pPr algn="ctr"/>
            <a:r>
              <a:rPr lang="en" sz="700" b="1" dirty="0">
                <a:solidFill>
                  <a:srgbClr val="7F7F7F"/>
                </a:solidFill>
              </a:rPr>
              <a:t>Tools &amp; Resources</a:t>
            </a:r>
            <a:endParaRPr sz="700" dirty="0"/>
          </a:p>
        </p:txBody>
      </p:sp>
      <p:sp>
        <p:nvSpPr>
          <p:cNvPr id="4" name="Google Shape;21538;p354">
            <a:extLst>
              <a:ext uri="{FF2B5EF4-FFF2-40B4-BE49-F238E27FC236}">
                <a16:creationId xmlns:a16="http://schemas.microsoft.com/office/drawing/2014/main" id="{B2729391-859E-F253-844A-5685E85F26B0}"/>
              </a:ext>
            </a:extLst>
          </p:cNvPr>
          <p:cNvSpPr txBox="1"/>
          <p:nvPr/>
        </p:nvSpPr>
        <p:spPr>
          <a:xfrm>
            <a:off x="3283907" y="4180217"/>
            <a:ext cx="1058954" cy="485071"/>
          </a:xfrm>
          <a:prstGeom prst="rect">
            <a:avLst/>
          </a:prstGeom>
          <a:noFill/>
          <a:ln>
            <a:noFill/>
          </a:ln>
        </p:spPr>
        <p:txBody>
          <a:bodyPr spcFirstLastPara="1" wrap="square" lIns="112400" tIns="56167" rIns="112400" bIns="56167" anchor="t" anchorCtr="0">
            <a:spAutoFit/>
          </a:bodyPr>
          <a:lstStyle/>
          <a:p>
            <a:pPr marL="58738" indent="-58738">
              <a:lnSpc>
                <a:spcPct val="115000"/>
              </a:lnSpc>
              <a:buFont typeface="Arial" panose="020B0604020202020204" pitchFamily="34" charset="0"/>
              <a:buChar char="•"/>
            </a:pPr>
            <a:r>
              <a:rPr lang="en" sz="700" dirty="0"/>
              <a:t>Key Resource 1</a:t>
            </a:r>
          </a:p>
          <a:p>
            <a:pPr marL="58738" indent="-58738">
              <a:lnSpc>
                <a:spcPct val="115000"/>
              </a:lnSpc>
              <a:buFont typeface="Arial" panose="020B0604020202020204" pitchFamily="34" charset="0"/>
              <a:buChar char="•"/>
            </a:pPr>
            <a:r>
              <a:rPr lang="en" sz="700" dirty="0"/>
              <a:t>Key Resource 2</a:t>
            </a:r>
          </a:p>
          <a:p>
            <a:pPr marL="58738" indent="-58738">
              <a:lnSpc>
                <a:spcPct val="115000"/>
              </a:lnSpc>
              <a:buFont typeface="Arial" panose="020B0604020202020204" pitchFamily="34" charset="0"/>
              <a:buChar char="•"/>
            </a:pPr>
            <a:r>
              <a:rPr lang="en" sz="700" dirty="0"/>
              <a:t>Key Resource 3</a:t>
            </a:r>
            <a:endParaRPr sz="700" dirty="0"/>
          </a:p>
        </p:txBody>
      </p:sp>
      <p:sp>
        <p:nvSpPr>
          <p:cNvPr id="7" name="Rounded Rectangular Callout 6">
            <a:extLst>
              <a:ext uri="{FF2B5EF4-FFF2-40B4-BE49-F238E27FC236}">
                <a16:creationId xmlns:a16="http://schemas.microsoft.com/office/drawing/2014/main" id="{BD559565-293F-8904-3D8A-AB1379E73A08}"/>
              </a:ext>
            </a:extLst>
          </p:cNvPr>
          <p:cNvSpPr/>
          <p:nvPr/>
        </p:nvSpPr>
        <p:spPr>
          <a:xfrm>
            <a:off x="5380715" y="2112958"/>
            <a:ext cx="1447500" cy="995359"/>
          </a:xfrm>
          <a:prstGeom prst="wedgeRoundRectCallout">
            <a:avLst>
              <a:gd name="adj1" fmla="val -145782"/>
              <a:gd name="adj2" fmla="val 8042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Single click on any line item in the data preview window to open a Full View</a:t>
            </a:r>
          </a:p>
          <a:p>
            <a:pPr algn="ctr"/>
            <a:endParaRPr lang="en-US" sz="900" dirty="0"/>
          </a:p>
          <a:p>
            <a:pPr algn="ctr"/>
            <a:r>
              <a:rPr lang="en-US" sz="900" dirty="0"/>
              <a:t>Double click to open working space</a:t>
            </a:r>
          </a:p>
        </p:txBody>
      </p:sp>
    </p:spTree>
    <p:extLst>
      <p:ext uri="{BB962C8B-B14F-4D97-AF65-F5344CB8AC3E}">
        <p14:creationId xmlns:p14="http://schemas.microsoft.com/office/powerpoint/2010/main" val="3079699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E72C5-2DD1-3A36-5EEF-7027B7359FBE}"/>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049147C6-E6A5-54FB-F9C5-AD5E24A4424F}"/>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33712F7E-7066-D1B9-281B-0EA3968EC495}"/>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3" name="Google Shape;21506;p354">
            <a:extLst>
              <a:ext uri="{FF2B5EF4-FFF2-40B4-BE49-F238E27FC236}">
                <a16:creationId xmlns:a16="http://schemas.microsoft.com/office/drawing/2014/main" id="{2D86FD83-C091-7464-263F-74A730564D16}"/>
              </a:ext>
            </a:extLst>
          </p:cNvPr>
          <p:cNvSpPr txBox="1"/>
          <p:nvPr/>
        </p:nvSpPr>
        <p:spPr>
          <a:xfrm>
            <a:off x="2656215" y="6268020"/>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sp>
        <p:nvSpPr>
          <p:cNvPr id="27" name="Google Shape;21509;p354">
            <a:extLst>
              <a:ext uri="{FF2B5EF4-FFF2-40B4-BE49-F238E27FC236}">
                <a16:creationId xmlns:a16="http://schemas.microsoft.com/office/drawing/2014/main" id="{9FD48580-B249-09AC-FB35-EFF46C1AFD9D}"/>
              </a:ext>
            </a:extLst>
          </p:cNvPr>
          <p:cNvSpPr txBox="1"/>
          <p:nvPr/>
        </p:nvSpPr>
        <p:spPr>
          <a:xfrm>
            <a:off x="1760834"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35" name="TextBox 34">
            <a:extLst>
              <a:ext uri="{FF2B5EF4-FFF2-40B4-BE49-F238E27FC236}">
                <a16:creationId xmlns:a16="http://schemas.microsoft.com/office/drawing/2014/main" id="{934A4F22-6CE5-D1B0-11A4-9F4B0A3D67C7}"/>
              </a:ext>
            </a:extLst>
          </p:cNvPr>
          <p:cNvSpPr txBox="1"/>
          <p:nvPr/>
        </p:nvSpPr>
        <p:spPr>
          <a:xfrm>
            <a:off x="1403431"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pic>
        <p:nvPicPr>
          <p:cNvPr id="37" name="Google Shape;2017;p43">
            <a:extLst>
              <a:ext uri="{FF2B5EF4-FFF2-40B4-BE49-F238E27FC236}">
                <a16:creationId xmlns:a16="http://schemas.microsoft.com/office/drawing/2014/main" id="{47CB1207-E1AB-A9A0-B61D-638669120896}"/>
              </a:ext>
            </a:extLst>
          </p:cNvPr>
          <p:cNvPicPr preferRelativeResize="0"/>
          <p:nvPr/>
        </p:nvPicPr>
        <p:blipFill rotWithShape="1">
          <a:blip r:embed="rId4">
            <a:alphaModFix/>
          </a:blip>
          <a:srcRect t="57094"/>
          <a:stretch/>
        </p:blipFill>
        <p:spPr>
          <a:xfrm rot="10800000">
            <a:off x="2157167" y="6188910"/>
            <a:ext cx="568466" cy="244066"/>
          </a:xfrm>
          <a:prstGeom prst="rect">
            <a:avLst/>
          </a:prstGeom>
          <a:noFill/>
          <a:ln>
            <a:noFill/>
          </a:ln>
        </p:spPr>
      </p:pic>
      <p:sp>
        <p:nvSpPr>
          <p:cNvPr id="38" name="Google Shape;2019;p43">
            <a:extLst>
              <a:ext uri="{FF2B5EF4-FFF2-40B4-BE49-F238E27FC236}">
                <a16:creationId xmlns:a16="http://schemas.microsoft.com/office/drawing/2014/main" id="{4CE6B0CC-EE10-BA75-190E-BD9BB08925EA}"/>
              </a:ext>
            </a:extLst>
          </p:cNvPr>
          <p:cNvSpPr/>
          <p:nvPr/>
        </p:nvSpPr>
        <p:spPr>
          <a:xfrm>
            <a:off x="2372635" y="6313995"/>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Rounded Rectangle 1">
            <a:extLst>
              <a:ext uri="{FF2B5EF4-FFF2-40B4-BE49-F238E27FC236}">
                <a16:creationId xmlns:a16="http://schemas.microsoft.com/office/drawing/2014/main" id="{1BA141A6-8D51-50E5-AA0A-FC8A4ABF9419}"/>
              </a:ext>
            </a:extLst>
          </p:cNvPr>
          <p:cNvSpPr/>
          <p:nvPr/>
        </p:nvSpPr>
        <p:spPr>
          <a:xfrm>
            <a:off x="916612" y="2662165"/>
            <a:ext cx="4568398" cy="2470023"/>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DA0B1048-747E-56C9-38CB-EF830FD22540}"/>
              </a:ext>
            </a:extLst>
          </p:cNvPr>
          <p:cNvSpPr txBox="1"/>
          <p:nvPr/>
        </p:nvSpPr>
        <p:spPr>
          <a:xfrm>
            <a:off x="1151209" y="2887520"/>
            <a:ext cx="1079503" cy="307777"/>
          </a:xfrm>
          <a:prstGeom prst="rect">
            <a:avLst/>
          </a:prstGeom>
          <a:noFill/>
        </p:spPr>
        <p:txBody>
          <a:bodyPr wrap="square" rtlCol="0">
            <a:spAutoFit/>
          </a:bodyPr>
          <a:lstStyle/>
          <a:p>
            <a:r>
              <a:rPr lang="en-US" sz="1400" u="sng" dirty="0">
                <a:solidFill>
                  <a:schemeClr val="tx2">
                    <a:lumMod val="50000"/>
                    <a:lumOff val="50000"/>
                  </a:schemeClr>
                </a:solidFill>
              </a:rPr>
              <a:t>Design</a:t>
            </a:r>
          </a:p>
        </p:txBody>
      </p:sp>
      <p:sp>
        <p:nvSpPr>
          <p:cNvPr id="11" name="TextBox 10">
            <a:extLst>
              <a:ext uri="{FF2B5EF4-FFF2-40B4-BE49-F238E27FC236}">
                <a16:creationId xmlns:a16="http://schemas.microsoft.com/office/drawing/2014/main" id="{E19B4669-5212-DA7F-3E3D-A641BBDD39A4}"/>
              </a:ext>
            </a:extLst>
          </p:cNvPr>
          <p:cNvSpPr txBox="1"/>
          <p:nvPr/>
        </p:nvSpPr>
        <p:spPr>
          <a:xfrm>
            <a:off x="4347712" y="2858205"/>
            <a:ext cx="1304901" cy="307777"/>
          </a:xfrm>
          <a:prstGeom prst="rect">
            <a:avLst/>
          </a:prstGeom>
          <a:noFill/>
        </p:spPr>
        <p:txBody>
          <a:bodyPr wrap="square" rtlCol="0">
            <a:spAutoFit/>
          </a:bodyPr>
          <a:lstStyle/>
          <a:p>
            <a:r>
              <a:rPr lang="en-US" sz="1400" u="sng" dirty="0">
                <a:solidFill>
                  <a:schemeClr val="tx2">
                    <a:lumMod val="50000"/>
                    <a:lumOff val="50000"/>
                  </a:schemeClr>
                </a:solidFill>
              </a:rPr>
              <a:t>Conditions</a:t>
            </a:r>
          </a:p>
        </p:txBody>
      </p:sp>
      <p:cxnSp>
        <p:nvCxnSpPr>
          <p:cNvPr id="20" name="Straight Connector 19">
            <a:extLst>
              <a:ext uri="{FF2B5EF4-FFF2-40B4-BE49-F238E27FC236}">
                <a16:creationId xmlns:a16="http://schemas.microsoft.com/office/drawing/2014/main" id="{D7114B7D-D69A-89F8-3069-EA4C6BD33A63}"/>
              </a:ext>
            </a:extLst>
          </p:cNvPr>
          <p:cNvCxnSpPr>
            <a:cxnSpLocks/>
            <a:stCxn id="1161" idx="2"/>
          </p:cNvCxnSpPr>
          <p:nvPr/>
        </p:nvCxnSpPr>
        <p:spPr>
          <a:xfrm>
            <a:off x="2169288" y="3222645"/>
            <a:ext cx="1043019" cy="591991"/>
          </a:xfrm>
          <a:prstGeom prst="line">
            <a:avLst/>
          </a:prstGeom>
          <a:ln w="38100">
            <a:solidFill>
              <a:srgbClr val="FFD79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A9BA4B9-FF1F-8010-F7AF-7FED8179F19A}"/>
              </a:ext>
            </a:extLst>
          </p:cNvPr>
          <p:cNvCxnSpPr>
            <a:cxnSpLocks/>
            <a:stCxn id="1163" idx="2"/>
          </p:cNvCxnSpPr>
          <p:nvPr/>
        </p:nvCxnSpPr>
        <p:spPr>
          <a:xfrm flipH="1">
            <a:off x="3001440" y="3198228"/>
            <a:ext cx="1087279" cy="644698"/>
          </a:xfrm>
          <a:prstGeom prst="line">
            <a:avLst/>
          </a:prstGeom>
          <a:ln w="38100">
            <a:solidFill>
              <a:srgbClr val="8EDA73"/>
            </a:solidFill>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6A05BB22-11F4-4B3F-0858-6762D39E5954}"/>
              </a:ext>
            </a:extLst>
          </p:cNvPr>
          <p:cNvCxnSpPr>
            <a:cxnSpLocks/>
          </p:cNvCxnSpPr>
          <p:nvPr/>
        </p:nvCxnSpPr>
        <p:spPr>
          <a:xfrm>
            <a:off x="3123848" y="3737646"/>
            <a:ext cx="13230" cy="685415"/>
          </a:xfrm>
          <a:prstGeom prst="straightConnector1">
            <a:avLst/>
          </a:prstGeom>
          <a:ln w="38100">
            <a:solidFill>
              <a:srgbClr val="EB9999"/>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85800C46-25DA-54DC-86F0-A10ADBE7C7D2}"/>
              </a:ext>
            </a:extLst>
          </p:cNvPr>
          <p:cNvSpPr txBox="1"/>
          <p:nvPr/>
        </p:nvSpPr>
        <p:spPr>
          <a:xfrm>
            <a:off x="2390313" y="3907435"/>
            <a:ext cx="1978323" cy="307777"/>
          </a:xfrm>
          <a:prstGeom prst="rect">
            <a:avLst/>
          </a:prstGeom>
          <a:noFill/>
        </p:spPr>
        <p:txBody>
          <a:bodyPr wrap="square" rtlCol="0">
            <a:spAutoFit/>
          </a:bodyPr>
          <a:lstStyle/>
          <a:p>
            <a:r>
              <a:rPr lang="en-US" sz="1400" u="sng" dirty="0">
                <a:solidFill>
                  <a:schemeClr val="tx2">
                    <a:lumMod val="50000"/>
                    <a:lumOff val="50000"/>
                  </a:schemeClr>
                </a:solidFill>
              </a:rPr>
              <a:t>Implementation</a:t>
            </a:r>
          </a:p>
        </p:txBody>
      </p:sp>
      <p:sp>
        <p:nvSpPr>
          <p:cNvPr id="42" name="TextBox 41">
            <a:extLst>
              <a:ext uri="{FF2B5EF4-FFF2-40B4-BE49-F238E27FC236}">
                <a16:creationId xmlns:a16="http://schemas.microsoft.com/office/drawing/2014/main" id="{40EA2728-9328-1B19-FA1B-B40C092416DB}"/>
              </a:ext>
            </a:extLst>
          </p:cNvPr>
          <p:cNvSpPr txBox="1"/>
          <p:nvPr/>
        </p:nvSpPr>
        <p:spPr>
          <a:xfrm>
            <a:off x="5447939" y="3566847"/>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6" name="TextBox 45">
            <a:extLst>
              <a:ext uri="{FF2B5EF4-FFF2-40B4-BE49-F238E27FC236}">
                <a16:creationId xmlns:a16="http://schemas.microsoft.com/office/drawing/2014/main" id="{0FBEBDFC-0389-E3FD-565D-8166EF85C2F4}"/>
              </a:ext>
            </a:extLst>
          </p:cNvPr>
          <p:cNvSpPr txBox="1"/>
          <p:nvPr/>
        </p:nvSpPr>
        <p:spPr>
          <a:xfrm rot="10800000">
            <a:off x="523685" y="3520460"/>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8" name="Rounded Rectangle 47">
            <a:extLst>
              <a:ext uri="{FF2B5EF4-FFF2-40B4-BE49-F238E27FC236}">
                <a16:creationId xmlns:a16="http://schemas.microsoft.com/office/drawing/2014/main" id="{E27E4EF5-2BD0-8F73-2E00-85BBBC321BBB}"/>
              </a:ext>
            </a:extLst>
          </p:cNvPr>
          <p:cNvSpPr/>
          <p:nvPr/>
        </p:nvSpPr>
        <p:spPr>
          <a:xfrm>
            <a:off x="2437919" y="2273538"/>
            <a:ext cx="1532292" cy="324066"/>
          </a:xfrm>
          <a:prstGeom prst="roundRect">
            <a:avLst/>
          </a:prstGeom>
          <a:solidFill>
            <a:srgbClr val="D9E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Key Drivers ⌄</a:t>
            </a:r>
          </a:p>
        </p:txBody>
      </p:sp>
      <p:pic>
        <p:nvPicPr>
          <p:cNvPr id="49" name="Picture 2" descr="Collapse - Free arrows icons">
            <a:extLst>
              <a:ext uri="{FF2B5EF4-FFF2-40B4-BE49-F238E27FC236}">
                <a16:creationId xmlns:a16="http://schemas.microsoft.com/office/drawing/2014/main" id="{167B8DC6-8BB0-A903-7D93-01ACA74275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0532" y="2568553"/>
            <a:ext cx="254520" cy="254520"/>
          </a:xfrm>
          <a:prstGeom prst="rect">
            <a:avLst/>
          </a:prstGeom>
          <a:solidFill>
            <a:schemeClr val="bg1">
              <a:lumMod val="85000"/>
            </a:schemeClr>
          </a:solidFill>
          <a:ln>
            <a:solidFill>
              <a:schemeClr val="tx1"/>
            </a:solidFill>
          </a:ln>
        </p:spPr>
      </p:pic>
      <p:cxnSp>
        <p:nvCxnSpPr>
          <p:cNvPr id="50" name="Straight Connector 49">
            <a:extLst>
              <a:ext uri="{FF2B5EF4-FFF2-40B4-BE49-F238E27FC236}">
                <a16:creationId xmlns:a16="http://schemas.microsoft.com/office/drawing/2014/main" id="{866BBCE3-BCF8-EE0F-1DE5-DF11E76DEA87}"/>
              </a:ext>
            </a:extLst>
          </p:cNvPr>
          <p:cNvCxnSpPr/>
          <p:nvPr/>
        </p:nvCxnSpPr>
        <p:spPr>
          <a:xfrm>
            <a:off x="2431203" y="2568553"/>
            <a:ext cx="1451611" cy="0"/>
          </a:xfrm>
          <a:prstGeom prst="line">
            <a:avLst/>
          </a:prstGeom>
          <a:ln>
            <a:solidFill>
              <a:srgbClr val="1A6A24"/>
            </a:solidFill>
          </a:ln>
        </p:spPr>
        <p:style>
          <a:lnRef idx="2">
            <a:schemeClr val="accent1"/>
          </a:lnRef>
          <a:fillRef idx="0">
            <a:schemeClr val="accent1"/>
          </a:fillRef>
          <a:effectRef idx="1">
            <a:schemeClr val="accent1"/>
          </a:effectRef>
          <a:fontRef idx="minor">
            <a:schemeClr val="tx1"/>
          </a:fontRef>
        </p:style>
      </p:cxnSp>
      <p:sp>
        <p:nvSpPr>
          <p:cNvPr id="51" name="Rounded Rectangular Callout 50">
            <a:extLst>
              <a:ext uri="{FF2B5EF4-FFF2-40B4-BE49-F238E27FC236}">
                <a16:creationId xmlns:a16="http://schemas.microsoft.com/office/drawing/2014/main" id="{C928ADD6-00E0-277A-757B-30F5F8AF9EA1}"/>
              </a:ext>
            </a:extLst>
          </p:cNvPr>
          <p:cNvSpPr/>
          <p:nvPr/>
        </p:nvSpPr>
        <p:spPr>
          <a:xfrm>
            <a:off x="6398761" y="2251433"/>
            <a:ext cx="1778816" cy="668653"/>
          </a:xfrm>
          <a:prstGeom prst="wedgeRoundRectCallout">
            <a:avLst>
              <a:gd name="adj1" fmla="val -114656"/>
              <a:gd name="adj2" fmla="val 3023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On hover, a collapse icon will show to bring you to the multi-data preview window view</a:t>
            </a:r>
          </a:p>
        </p:txBody>
      </p:sp>
      <p:sp>
        <p:nvSpPr>
          <p:cNvPr id="52" name="Rounded Rectangular Callout 51">
            <a:extLst>
              <a:ext uri="{FF2B5EF4-FFF2-40B4-BE49-F238E27FC236}">
                <a16:creationId xmlns:a16="http://schemas.microsoft.com/office/drawing/2014/main" id="{1C917BE8-CC78-1B14-8E44-33A52AE4EA25}"/>
              </a:ext>
            </a:extLst>
          </p:cNvPr>
          <p:cNvSpPr/>
          <p:nvPr/>
        </p:nvSpPr>
        <p:spPr>
          <a:xfrm>
            <a:off x="5284230" y="4248002"/>
            <a:ext cx="1778816" cy="918957"/>
          </a:xfrm>
          <a:prstGeom prst="wedgeRoundRectCallout">
            <a:avLst>
              <a:gd name="adj1" fmla="val -128549"/>
              <a:gd name="adj2" fmla="val -3629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Click on “implementation”, to open  the implementation score working space</a:t>
            </a:r>
          </a:p>
        </p:txBody>
      </p:sp>
      <p:sp>
        <p:nvSpPr>
          <p:cNvPr id="53" name="Rounded Rectangular Callout 52">
            <a:extLst>
              <a:ext uri="{FF2B5EF4-FFF2-40B4-BE49-F238E27FC236}">
                <a16:creationId xmlns:a16="http://schemas.microsoft.com/office/drawing/2014/main" id="{C57DED71-8B3C-4E0E-C7AC-95CC01D29927}"/>
              </a:ext>
            </a:extLst>
          </p:cNvPr>
          <p:cNvSpPr/>
          <p:nvPr/>
        </p:nvSpPr>
        <p:spPr>
          <a:xfrm>
            <a:off x="6659094" y="3688291"/>
            <a:ext cx="1214955" cy="518726"/>
          </a:xfrm>
          <a:prstGeom prst="wedgeRoundRectCallout">
            <a:avLst>
              <a:gd name="adj1" fmla="val -127532"/>
              <a:gd name="adj2" fmla="val -1009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Toggle to next DPW</a:t>
            </a:r>
          </a:p>
        </p:txBody>
      </p:sp>
      <p:sp>
        <p:nvSpPr>
          <p:cNvPr id="54" name="Google Shape;21510;p354">
            <a:extLst>
              <a:ext uri="{FF2B5EF4-FFF2-40B4-BE49-F238E27FC236}">
                <a16:creationId xmlns:a16="http://schemas.microsoft.com/office/drawing/2014/main" id="{2E283055-350A-B7C1-BF84-25458E4AC604}"/>
              </a:ext>
            </a:extLst>
          </p:cNvPr>
          <p:cNvSpPr txBox="1"/>
          <p:nvPr/>
        </p:nvSpPr>
        <p:spPr>
          <a:xfrm>
            <a:off x="1673753" y="5238864"/>
            <a:ext cx="1500866"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Learning &amp; Advancement</a:t>
            </a:r>
            <a:endParaRPr sz="1400" dirty="0"/>
          </a:p>
        </p:txBody>
      </p:sp>
      <p:sp>
        <p:nvSpPr>
          <p:cNvPr id="56" name="Google Shape;21511;p354">
            <a:extLst>
              <a:ext uri="{FF2B5EF4-FFF2-40B4-BE49-F238E27FC236}">
                <a16:creationId xmlns:a16="http://schemas.microsoft.com/office/drawing/2014/main" id="{0CDCF03C-58D0-C3C1-EF49-CA5CE81B0CAD}"/>
              </a:ext>
            </a:extLst>
          </p:cNvPr>
          <p:cNvSpPr txBox="1"/>
          <p:nvPr/>
        </p:nvSpPr>
        <p:spPr>
          <a:xfrm>
            <a:off x="3307992" y="5228962"/>
            <a:ext cx="1364424"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Engagement </a:t>
            </a:r>
          </a:p>
          <a:p>
            <a:pPr algn="ctr"/>
            <a:r>
              <a:rPr lang="en" sz="1400" dirty="0"/>
              <a:t>&amp; Wellbeing</a:t>
            </a:r>
            <a:endParaRPr sz="1400" dirty="0"/>
          </a:p>
        </p:txBody>
      </p:sp>
      <p:sp>
        <p:nvSpPr>
          <p:cNvPr id="57" name="Google Shape;123;p25">
            <a:extLst>
              <a:ext uri="{FF2B5EF4-FFF2-40B4-BE49-F238E27FC236}">
                <a16:creationId xmlns:a16="http://schemas.microsoft.com/office/drawing/2014/main" id="{62D06668-ECD7-8071-3736-C2ECBEC71F02}"/>
              </a:ext>
            </a:extLst>
          </p:cNvPr>
          <p:cNvSpPr/>
          <p:nvPr/>
        </p:nvSpPr>
        <p:spPr>
          <a:xfrm>
            <a:off x="1989798" y="5719937"/>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58" name="TextBox 57">
            <a:extLst>
              <a:ext uri="{FF2B5EF4-FFF2-40B4-BE49-F238E27FC236}">
                <a16:creationId xmlns:a16="http://schemas.microsoft.com/office/drawing/2014/main" id="{D054774A-95E1-9795-FA63-626611438E21}"/>
              </a:ext>
            </a:extLst>
          </p:cNvPr>
          <p:cNvSpPr txBox="1"/>
          <p:nvPr/>
        </p:nvSpPr>
        <p:spPr>
          <a:xfrm>
            <a:off x="2811945" y="5749245"/>
            <a:ext cx="780303"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59" name="Google Shape;122;p25">
            <a:extLst>
              <a:ext uri="{FF2B5EF4-FFF2-40B4-BE49-F238E27FC236}">
                <a16:creationId xmlns:a16="http://schemas.microsoft.com/office/drawing/2014/main" id="{A229AC06-19DC-0DB5-F388-89BDE0EAAD58}"/>
              </a:ext>
            </a:extLst>
          </p:cNvPr>
          <p:cNvSpPr/>
          <p:nvPr/>
        </p:nvSpPr>
        <p:spPr>
          <a:xfrm>
            <a:off x="3558359" y="5714838"/>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grpSp>
        <p:nvGrpSpPr>
          <p:cNvPr id="60" name="Google Shape;21512;p354">
            <a:extLst>
              <a:ext uri="{FF2B5EF4-FFF2-40B4-BE49-F238E27FC236}">
                <a16:creationId xmlns:a16="http://schemas.microsoft.com/office/drawing/2014/main" id="{B4BF58BC-4661-6544-4066-57BE78579E7F}"/>
              </a:ext>
            </a:extLst>
          </p:cNvPr>
          <p:cNvGrpSpPr/>
          <p:nvPr/>
        </p:nvGrpSpPr>
        <p:grpSpPr>
          <a:xfrm>
            <a:off x="2229571" y="898661"/>
            <a:ext cx="2011437" cy="1354357"/>
            <a:chOff x="7996645" y="4997800"/>
            <a:chExt cx="1742072" cy="1489829"/>
          </a:xfrm>
        </p:grpSpPr>
        <p:sp>
          <p:nvSpPr>
            <p:cNvPr id="61" name="Google Shape;21513;p354">
              <a:extLst>
                <a:ext uri="{FF2B5EF4-FFF2-40B4-BE49-F238E27FC236}">
                  <a16:creationId xmlns:a16="http://schemas.microsoft.com/office/drawing/2014/main" id="{21DC4F73-35A3-1C8A-8649-DD2F2A30658A}"/>
                </a:ext>
              </a:extLst>
            </p:cNvPr>
            <p:cNvSpPr txBox="1"/>
            <p:nvPr/>
          </p:nvSpPr>
          <p:spPr>
            <a:xfrm>
              <a:off x="7996645" y="5041112"/>
              <a:ext cx="1545903" cy="1446517"/>
            </a:xfrm>
            <a:prstGeom prst="rect">
              <a:avLst/>
            </a:prstGeom>
            <a:noFill/>
            <a:ln>
              <a:noFill/>
            </a:ln>
          </p:spPr>
          <p:txBody>
            <a:bodyPr spcFirstLastPara="1" wrap="square" lIns="83067" tIns="41533" rIns="83067" bIns="41533" anchor="t" anchorCtr="0">
              <a:spAutoFit/>
            </a:bodyPr>
            <a:lstStyle/>
            <a:p>
              <a:r>
                <a:rPr lang="en" sz="4000" dirty="0">
                  <a:solidFill>
                    <a:srgbClr val="000000"/>
                  </a:solidFill>
                  <a:latin typeface="Arial"/>
                  <a:ea typeface="Arial"/>
                  <a:cs typeface="Arial"/>
                  <a:sym typeface="Arial"/>
                </a:rPr>
                <a:t>• • • • •               </a:t>
              </a:r>
              <a:endParaRPr sz="2400" dirty="0"/>
            </a:p>
          </p:txBody>
        </p:sp>
        <p:sp>
          <p:nvSpPr>
            <p:cNvPr id="1156" name="Google Shape;21514;p354">
              <a:extLst>
                <a:ext uri="{FF2B5EF4-FFF2-40B4-BE49-F238E27FC236}">
                  <a16:creationId xmlns:a16="http://schemas.microsoft.com/office/drawing/2014/main" id="{B318C5FC-3D40-A8EA-B74A-134E27F9C62C}"/>
                </a:ext>
              </a:extLst>
            </p:cNvPr>
            <p:cNvSpPr txBox="1"/>
            <p:nvPr/>
          </p:nvSpPr>
          <p:spPr>
            <a:xfrm>
              <a:off x="8849517" y="4997800"/>
              <a:ext cx="889200" cy="1175667"/>
            </a:xfrm>
            <a:prstGeom prst="rect">
              <a:avLst/>
            </a:prstGeom>
            <a:noFill/>
            <a:ln>
              <a:noFill/>
            </a:ln>
          </p:spPr>
          <p:txBody>
            <a:bodyPr spcFirstLastPara="1" wrap="square" lIns="83067" tIns="41533" rIns="83067" bIns="41533" anchor="t" anchorCtr="0">
              <a:spAutoFit/>
            </a:bodyPr>
            <a:lstStyle/>
            <a:p>
              <a:r>
                <a:rPr lang="en" sz="3600" dirty="0">
                  <a:solidFill>
                    <a:srgbClr val="000000"/>
                  </a:solidFill>
                  <a:latin typeface="Arial"/>
                  <a:ea typeface="Arial"/>
                  <a:cs typeface="Arial"/>
                  <a:sym typeface="Arial"/>
                </a:rPr>
                <a:t>   </a:t>
              </a:r>
              <a:r>
                <a:rPr lang="en" sz="1600" dirty="0">
                  <a:solidFill>
                    <a:srgbClr val="000000"/>
                  </a:solidFill>
                  <a:latin typeface="Arial"/>
                  <a:ea typeface="Arial"/>
                  <a:cs typeface="Arial"/>
                  <a:sym typeface="Arial"/>
                </a:rPr>
                <a:t>  </a:t>
              </a:r>
              <a:r>
                <a:rPr lang="en" sz="2800" dirty="0">
                  <a:solidFill>
                    <a:srgbClr val="000000"/>
                  </a:solidFill>
                  <a:latin typeface="Arial"/>
                  <a:ea typeface="Arial"/>
                  <a:cs typeface="Arial"/>
                  <a:sym typeface="Arial"/>
                </a:rPr>
                <a:t> ○</a:t>
              </a:r>
              <a:endParaRPr sz="3600" dirty="0"/>
            </a:p>
          </p:txBody>
        </p:sp>
      </p:grpSp>
      <p:sp>
        <p:nvSpPr>
          <p:cNvPr id="1161" name="Rounded Rectangle 1160">
            <a:extLst>
              <a:ext uri="{FF2B5EF4-FFF2-40B4-BE49-F238E27FC236}">
                <a16:creationId xmlns:a16="http://schemas.microsoft.com/office/drawing/2014/main" id="{9EA068DE-1009-15F2-9E29-16FECCF740AC}"/>
              </a:ext>
            </a:extLst>
          </p:cNvPr>
          <p:cNvSpPr/>
          <p:nvPr/>
        </p:nvSpPr>
        <p:spPr>
          <a:xfrm>
            <a:off x="1883964" y="2884862"/>
            <a:ext cx="570648" cy="337783"/>
          </a:xfrm>
          <a:prstGeom prst="roundRect">
            <a:avLst/>
          </a:prstGeom>
          <a:solidFill>
            <a:srgbClr val="FFD79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dirty="0">
                <a:solidFill>
                  <a:srgbClr val="938120"/>
                </a:solidFill>
                <a:latin typeface="Aptos" panose="02110004020202020204"/>
              </a:rPr>
              <a:t>3</a:t>
            </a:r>
            <a:endParaRPr kumimoji="0" lang="en-US" b="0" i="0" u="none" strike="noStrike" kern="1200" cap="none" spc="0" normalizeH="0" baseline="0" noProof="0" dirty="0">
              <a:ln>
                <a:noFill/>
              </a:ln>
              <a:solidFill>
                <a:srgbClr val="938120"/>
              </a:solidFill>
              <a:effectLst/>
              <a:uLnTx/>
              <a:uFillTx/>
              <a:latin typeface="Aptos" panose="02110004020202020204"/>
              <a:ea typeface="+mn-ea"/>
              <a:cs typeface="+mn-cs"/>
            </a:endParaRPr>
          </a:p>
        </p:txBody>
      </p:sp>
      <p:sp>
        <p:nvSpPr>
          <p:cNvPr id="1163" name="Rounded Rectangle 1162">
            <a:extLst>
              <a:ext uri="{FF2B5EF4-FFF2-40B4-BE49-F238E27FC236}">
                <a16:creationId xmlns:a16="http://schemas.microsoft.com/office/drawing/2014/main" id="{ECD77A5B-A062-6E9C-BB6B-6E3077F60252}"/>
              </a:ext>
            </a:extLst>
          </p:cNvPr>
          <p:cNvSpPr/>
          <p:nvPr/>
        </p:nvSpPr>
        <p:spPr>
          <a:xfrm>
            <a:off x="3803395" y="2860445"/>
            <a:ext cx="570648" cy="337783"/>
          </a:xfrm>
          <a:prstGeom prst="roundRect">
            <a:avLst/>
          </a:prstGeom>
          <a:solidFill>
            <a:srgbClr val="4EA72E">
              <a:lumMod val="60000"/>
              <a:lumOff val="4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56082"/>
                </a:solidFill>
                <a:effectLst/>
                <a:uLnTx/>
                <a:uFillTx/>
                <a:latin typeface="Aptos" panose="02110004020202020204"/>
                <a:ea typeface="+mn-ea"/>
                <a:cs typeface="+mn-cs"/>
              </a:rPr>
              <a:t>5</a:t>
            </a:r>
          </a:p>
        </p:txBody>
      </p:sp>
      <p:sp>
        <p:nvSpPr>
          <p:cNvPr id="1164" name="Rounded Rectangle 1163">
            <a:extLst>
              <a:ext uri="{FF2B5EF4-FFF2-40B4-BE49-F238E27FC236}">
                <a16:creationId xmlns:a16="http://schemas.microsoft.com/office/drawing/2014/main" id="{5CEF761D-FA1E-1EA5-5CFF-FAF51FD76CAB}"/>
              </a:ext>
            </a:extLst>
          </p:cNvPr>
          <p:cNvSpPr/>
          <p:nvPr/>
        </p:nvSpPr>
        <p:spPr>
          <a:xfrm>
            <a:off x="2856792" y="3598495"/>
            <a:ext cx="570648" cy="337783"/>
          </a:xfrm>
          <a:prstGeom prst="roundRect">
            <a:avLst/>
          </a:prstGeom>
          <a:solidFill>
            <a:srgbClr val="EB9B99"/>
          </a:solidFill>
          <a:ln w="19050" cap="flat" cmpd="sng" algn="ctr">
            <a:noFill/>
            <a:prstDash val="solid"/>
            <a:miter lim="800000"/>
          </a:ln>
          <a:effectLst/>
        </p:spPr>
        <p:txBody>
          <a:bodyPr rtlCol="0" anchor="ctr"/>
          <a:lstStyle/>
          <a:p>
            <a:pPr lvl="0" algn="ctr">
              <a:defRPr/>
            </a:pPr>
            <a:r>
              <a:rPr lang="en-US" dirty="0">
                <a:solidFill>
                  <a:srgbClr val="AD3834"/>
                </a:solidFill>
              </a:rPr>
              <a:t>2</a:t>
            </a:r>
            <a:endParaRPr kumimoji="0" lang="en-US" b="0" i="0" u="none" strike="noStrike" kern="1200" cap="none" spc="0" normalizeH="0" baseline="0" noProof="0" dirty="0">
              <a:ln>
                <a:noFill/>
              </a:ln>
              <a:solidFill>
                <a:srgbClr val="156082"/>
              </a:solidFill>
              <a:effectLst/>
              <a:uLnTx/>
              <a:uFillTx/>
              <a:latin typeface="Aptos" panose="02110004020202020204"/>
              <a:ea typeface="+mn-ea"/>
              <a:cs typeface="+mn-cs"/>
            </a:endParaRPr>
          </a:p>
        </p:txBody>
      </p:sp>
      <p:sp>
        <p:nvSpPr>
          <p:cNvPr id="1169" name="Rounded Rectangle 1168">
            <a:extLst>
              <a:ext uri="{FF2B5EF4-FFF2-40B4-BE49-F238E27FC236}">
                <a16:creationId xmlns:a16="http://schemas.microsoft.com/office/drawing/2014/main" id="{1350D6E8-6B1C-C6BF-9736-C526B9059E65}"/>
              </a:ext>
            </a:extLst>
          </p:cNvPr>
          <p:cNvSpPr/>
          <p:nvPr/>
        </p:nvSpPr>
        <p:spPr>
          <a:xfrm>
            <a:off x="2847113" y="4436117"/>
            <a:ext cx="570648" cy="337783"/>
          </a:xfrm>
          <a:prstGeom prst="roundRect">
            <a:avLst/>
          </a:prstGeom>
          <a:solidFill>
            <a:srgbClr val="FFD79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dirty="0">
                <a:solidFill>
                  <a:srgbClr val="938120"/>
                </a:solidFill>
                <a:latin typeface="Aptos" panose="02110004020202020204"/>
              </a:rPr>
              <a:t>3</a:t>
            </a:r>
            <a:endParaRPr kumimoji="0" lang="en-US" b="0" i="0" u="none" strike="noStrike" kern="1200" cap="none" spc="0" normalizeH="0" baseline="0" noProof="0" dirty="0">
              <a:ln>
                <a:noFill/>
              </a:ln>
              <a:solidFill>
                <a:srgbClr val="938120"/>
              </a:solidFill>
              <a:effectLst/>
              <a:uLnTx/>
              <a:uFillTx/>
              <a:latin typeface="Aptos" panose="02110004020202020204"/>
              <a:ea typeface="+mn-ea"/>
              <a:cs typeface="+mn-cs"/>
            </a:endParaRPr>
          </a:p>
        </p:txBody>
      </p:sp>
      <p:sp>
        <p:nvSpPr>
          <p:cNvPr id="1170" name="TextBox 1169">
            <a:extLst>
              <a:ext uri="{FF2B5EF4-FFF2-40B4-BE49-F238E27FC236}">
                <a16:creationId xmlns:a16="http://schemas.microsoft.com/office/drawing/2014/main" id="{66EF5AA0-1B43-3520-A6E7-1A2D3B22999A}"/>
              </a:ext>
            </a:extLst>
          </p:cNvPr>
          <p:cNvSpPr txBox="1"/>
          <p:nvPr/>
        </p:nvSpPr>
        <p:spPr>
          <a:xfrm>
            <a:off x="2604081" y="4773900"/>
            <a:ext cx="1103747" cy="307777"/>
          </a:xfrm>
          <a:prstGeom prst="rect">
            <a:avLst/>
          </a:prstGeom>
          <a:noFill/>
        </p:spPr>
        <p:txBody>
          <a:bodyPr wrap="square" rtlCol="0">
            <a:spAutoFit/>
          </a:bodyPr>
          <a:lstStyle/>
          <a:p>
            <a:r>
              <a:rPr lang="en-US" sz="1400" u="sng" dirty="0">
                <a:solidFill>
                  <a:schemeClr val="tx2">
                    <a:lumMod val="50000"/>
                    <a:lumOff val="50000"/>
                  </a:schemeClr>
                </a:solidFill>
              </a:rPr>
              <a:t>Experience</a:t>
            </a:r>
          </a:p>
        </p:txBody>
      </p:sp>
      <p:cxnSp>
        <p:nvCxnSpPr>
          <p:cNvPr id="1175" name="Straight Arrow Connector 1174">
            <a:extLst>
              <a:ext uri="{FF2B5EF4-FFF2-40B4-BE49-F238E27FC236}">
                <a16:creationId xmlns:a16="http://schemas.microsoft.com/office/drawing/2014/main" id="{100FA57B-6956-655B-7A43-BE78E43AE3B1}"/>
              </a:ext>
            </a:extLst>
          </p:cNvPr>
          <p:cNvCxnSpPr>
            <a:cxnSpLocks/>
          </p:cNvCxnSpPr>
          <p:nvPr/>
        </p:nvCxnSpPr>
        <p:spPr>
          <a:xfrm flipH="1">
            <a:off x="2795248" y="5132188"/>
            <a:ext cx="344019"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79" name="Straight Arrow Connector 1178">
            <a:extLst>
              <a:ext uri="{FF2B5EF4-FFF2-40B4-BE49-F238E27FC236}">
                <a16:creationId xmlns:a16="http://schemas.microsoft.com/office/drawing/2014/main" id="{BE58A3C3-74CA-AD6F-2A51-FA832225D864}"/>
              </a:ext>
            </a:extLst>
          </p:cNvPr>
          <p:cNvCxnSpPr>
            <a:cxnSpLocks/>
          </p:cNvCxnSpPr>
          <p:nvPr/>
        </p:nvCxnSpPr>
        <p:spPr>
          <a:xfrm>
            <a:off x="3139267" y="5132188"/>
            <a:ext cx="357548"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53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C54DD-8499-CDAB-FDAA-33B370299B50}"/>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53953D01-080B-3EBE-9602-8F4DB3F5E4D5}"/>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72E5B90E-66F1-A299-D2EF-593D1A41A0C0}"/>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7" name="Google Shape;21509;p354">
            <a:extLst>
              <a:ext uri="{FF2B5EF4-FFF2-40B4-BE49-F238E27FC236}">
                <a16:creationId xmlns:a16="http://schemas.microsoft.com/office/drawing/2014/main" id="{320ED556-2CCE-4F5E-B98B-FBAEE24BEC23}"/>
              </a:ext>
            </a:extLst>
          </p:cNvPr>
          <p:cNvSpPr txBox="1"/>
          <p:nvPr/>
        </p:nvSpPr>
        <p:spPr>
          <a:xfrm>
            <a:off x="1760834"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35" name="TextBox 34">
            <a:extLst>
              <a:ext uri="{FF2B5EF4-FFF2-40B4-BE49-F238E27FC236}">
                <a16:creationId xmlns:a16="http://schemas.microsoft.com/office/drawing/2014/main" id="{F366EE8A-7B20-0E3E-BD18-E0257A07E0D3}"/>
              </a:ext>
            </a:extLst>
          </p:cNvPr>
          <p:cNvSpPr txBox="1"/>
          <p:nvPr/>
        </p:nvSpPr>
        <p:spPr>
          <a:xfrm>
            <a:off x="1403431"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sp>
        <p:nvSpPr>
          <p:cNvPr id="2" name="Rounded Rectangle 1">
            <a:extLst>
              <a:ext uri="{FF2B5EF4-FFF2-40B4-BE49-F238E27FC236}">
                <a16:creationId xmlns:a16="http://schemas.microsoft.com/office/drawing/2014/main" id="{D99749D5-DD7E-EE42-B56B-894CD6DA798E}"/>
              </a:ext>
            </a:extLst>
          </p:cNvPr>
          <p:cNvSpPr/>
          <p:nvPr/>
        </p:nvSpPr>
        <p:spPr>
          <a:xfrm>
            <a:off x="916612" y="2662165"/>
            <a:ext cx="4568398" cy="2470023"/>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TextBox 41">
            <a:extLst>
              <a:ext uri="{FF2B5EF4-FFF2-40B4-BE49-F238E27FC236}">
                <a16:creationId xmlns:a16="http://schemas.microsoft.com/office/drawing/2014/main" id="{BFCD6C35-4F84-E562-A6D5-D9F36F7F0D92}"/>
              </a:ext>
            </a:extLst>
          </p:cNvPr>
          <p:cNvSpPr txBox="1"/>
          <p:nvPr/>
        </p:nvSpPr>
        <p:spPr>
          <a:xfrm>
            <a:off x="5447939" y="3566847"/>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6" name="TextBox 45">
            <a:extLst>
              <a:ext uri="{FF2B5EF4-FFF2-40B4-BE49-F238E27FC236}">
                <a16:creationId xmlns:a16="http://schemas.microsoft.com/office/drawing/2014/main" id="{26F42261-C060-A3B7-FECA-9CA2ABFD937C}"/>
              </a:ext>
            </a:extLst>
          </p:cNvPr>
          <p:cNvSpPr txBox="1"/>
          <p:nvPr/>
        </p:nvSpPr>
        <p:spPr>
          <a:xfrm rot="10800000">
            <a:off x="523685" y="3520460"/>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8" name="Rounded Rectangle 47">
            <a:extLst>
              <a:ext uri="{FF2B5EF4-FFF2-40B4-BE49-F238E27FC236}">
                <a16:creationId xmlns:a16="http://schemas.microsoft.com/office/drawing/2014/main" id="{CEF487C0-66C4-6BF8-7D5D-02652CFF7CFF}"/>
              </a:ext>
            </a:extLst>
          </p:cNvPr>
          <p:cNvSpPr/>
          <p:nvPr/>
        </p:nvSpPr>
        <p:spPr>
          <a:xfrm>
            <a:off x="2184325" y="2273538"/>
            <a:ext cx="2039480" cy="324066"/>
          </a:xfrm>
          <a:prstGeom prst="roundRect">
            <a:avLst/>
          </a:prstGeom>
          <a:solidFill>
            <a:srgbClr val="D9E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Vision Statement⌄</a:t>
            </a:r>
          </a:p>
        </p:txBody>
      </p:sp>
      <p:cxnSp>
        <p:nvCxnSpPr>
          <p:cNvPr id="50" name="Straight Connector 49">
            <a:extLst>
              <a:ext uri="{FF2B5EF4-FFF2-40B4-BE49-F238E27FC236}">
                <a16:creationId xmlns:a16="http://schemas.microsoft.com/office/drawing/2014/main" id="{DB9EC427-3ACA-5D36-9783-C51CB305EDBB}"/>
              </a:ext>
            </a:extLst>
          </p:cNvPr>
          <p:cNvCxnSpPr/>
          <p:nvPr/>
        </p:nvCxnSpPr>
        <p:spPr>
          <a:xfrm>
            <a:off x="2431203" y="2568553"/>
            <a:ext cx="1451611" cy="0"/>
          </a:xfrm>
          <a:prstGeom prst="line">
            <a:avLst/>
          </a:prstGeom>
          <a:ln>
            <a:solidFill>
              <a:srgbClr val="1A6A24"/>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36C3F348-8347-5155-0758-7B9908B13E9E}"/>
              </a:ext>
            </a:extLst>
          </p:cNvPr>
          <p:cNvSpPr txBox="1"/>
          <p:nvPr/>
        </p:nvSpPr>
        <p:spPr>
          <a:xfrm>
            <a:off x="1051065" y="2816501"/>
            <a:ext cx="4396874" cy="2192908"/>
          </a:xfrm>
          <a:prstGeom prst="rect">
            <a:avLst/>
          </a:prstGeom>
          <a:noFill/>
        </p:spPr>
        <p:txBody>
          <a:bodyPr wrap="square" rtlCol="0">
            <a:spAutoFit/>
          </a:bodyPr>
          <a:lstStyle/>
          <a:p>
            <a:r>
              <a:rPr lang="en-US" sz="1050" b="1" dirty="0"/>
              <a:t>The Math Course</a:t>
            </a:r>
            <a:r>
              <a:rPr lang="en-US" sz="1050" dirty="0"/>
              <a:t> is designed to help students—often in middle or early high school—develop a clearer understanding of the pathways, expectations, and opportunities available in higher education. The course introduces students to different types of colleges and universities, admissions requirements, and financial aid options while also giving them the chance to explore majors, careers, and campus life.</a:t>
            </a:r>
          </a:p>
          <a:p>
            <a:endParaRPr lang="en-US" sz="1050" dirty="0"/>
          </a:p>
          <a:p>
            <a:r>
              <a:rPr lang="en-US" sz="1050" dirty="0"/>
              <a:t>Beyond simply providing information, a college exposure course focuses on building the skills and mindsets students need to see themselves as “college-capable.” The course aims to demystify higher education, expand students’ sense of what is possible, and motivate them to take concrete steps—academically and personally—toward their postsecondary goals.</a:t>
            </a:r>
          </a:p>
        </p:txBody>
      </p:sp>
      <p:sp>
        <p:nvSpPr>
          <p:cNvPr id="26" name="Google Shape;21506;p354">
            <a:extLst>
              <a:ext uri="{FF2B5EF4-FFF2-40B4-BE49-F238E27FC236}">
                <a16:creationId xmlns:a16="http://schemas.microsoft.com/office/drawing/2014/main" id="{18245665-BD19-CD06-9A06-A65EE2CBEA18}"/>
              </a:ext>
            </a:extLst>
          </p:cNvPr>
          <p:cNvSpPr txBox="1"/>
          <p:nvPr/>
        </p:nvSpPr>
        <p:spPr>
          <a:xfrm>
            <a:off x="2656215" y="6268020"/>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pic>
        <p:nvPicPr>
          <p:cNvPr id="31" name="Google Shape;2017;p43">
            <a:extLst>
              <a:ext uri="{FF2B5EF4-FFF2-40B4-BE49-F238E27FC236}">
                <a16:creationId xmlns:a16="http://schemas.microsoft.com/office/drawing/2014/main" id="{B5A20B28-DEBA-E615-EA03-4396B0B86ECF}"/>
              </a:ext>
            </a:extLst>
          </p:cNvPr>
          <p:cNvPicPr preferRelativeResize="0"/>
          <p:nvPr/>
        </p:nvPicPr>
        <p:blipFill rotWithShape="1">
          <a:blip r:embed="rId4">
            <a:alphaModFix/>
          </a:blip>
          <a:srcRect t="57094"/>
          <a:stretch/>
        </p:blipFill>
        <p:spPr>
          <a:xfrm rot="10800000">
            <a:off x="2157167" y="6188910"/>
            <a:ext cx="568466" cy="244066"/>
          </a:xfrm>
          <a:prstGeom prst="rect">
            <a:avLst/>
          </a:prstGeom>
          <a:noFill/>
          <a:ln>
            <a:noFill/>
          </a:ln>
        </p:spPr>
      </p:pic>
      <p:sp>
        <p:nvSpPr>
          <p:cNvPr id="33" name="Google Shape;2019;p43">
            <a:extLst>
              <a:ext uri="{FF2B5EF4-FFF2-40B4-BE49-F238E27FC236}">
                <a16:creationId xmlns:a16="http://schemas.microsoft.com/office/drawing/2014/main" id="{AE60D6A8-3596-CCD5-9F3B-B897CE385B16}"/>
              </a:ext>
            </a:extLst>
          </p:cNvPr>
          <p:cNvSpPr/>
          <p:nvPr/>
        </p:nvSpPr>
        <p:spPr>
          <a:xfrm>
            <a:off x="2372635" y="6313995"/>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 name="Google Shape;21510;p354">
            <a:extLst>
              <a:ext uri="{FF2B5EF4-FFF2-40B4-BE49-F238E27FC236}">
                <a16:creationId xmlns:a16="http://schemas.microsoft.com/office/drawing/2014/main" id="{03E36DC4-C07E-FC3B-18AA-FDD264142072}"/>
              </a:ext>
            </a:extLst>
          </p:cNvPr>
          <p:cNvSpPr txBox="1"/>
          <p:nvPr/>
        </p:nvSpPr>
        <p:spPr>
          <a:xfrm>
            <a:off x="1673753" y="5238864"/>
            <a:ext cx="1500866"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Learning &amp; Advancement</a:t>
            </a:r>
            <a:endParaRPr sz="1400" dirty="0"/>
          </a:p>
        </p:txBody>
      </p:sp>
      <p:sp>
        <p:nvSpPr>
          <p:cNvPr id="39" name="Google Shape;21511;p354">
            <a:extLst>
              <a:ext uri="{FF2B5EF4-FFF2-40B4-BE49-F238E27FC236}">
                <a16:creationId xmlns:a16="http://schemas.microsoft.com/office/drawing/2014/main" id="{B61905C1-194C-CD9A-E5FB-556B3FF5CA54}"/>
              </a:ext>
            </a:extLst>
          </p:cNvPr>
          <p:cNvSpPr txBox="1"/>
          <p:nvPr/>
        </p:nvSpPr>
        <p:spPr>
          <a:xfrm>
            <a:off x="3307992" y="5228962"/>
            <a:ext cx="1364424"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Engagement </a:t>
            </a:r>
          </a:p>
          <a:p>
            <a:pPr algn="ctr"/>
            <a:r>
              <a:rPr lang="en" sz="1400" dirty="0"/>
              <a:t>&amp; Wellbeing</a:t>
            </a:r>
            <a:endParaRPr sz="1400" dirty="0"/>
          </a:p>
        </p:txBody>
      </p:sp>
      <p:sp>
        <p:nvSpPr>
          <p:cNvPr id="40" name="Google Shape;123;p25">
            <a:extLst>
              <a:ext uri="{FF2B5EF4-FFF2-40B4-BE49-F238E27FC236}">
                <a16:creationId xmlns:a16="http://schemas.microsoft.com/office/drawing/2014/main" id="{0DBB3093-7583-9141-51A0-83E504452BC7}"/>
              </a:ext>
            </a:extLst>
          </p:cNvPr>
          <p:cNvSpPr/>
          <p:nvPr/>
        </p:nvSpPr>
        <p:spPr>
          <a:xfrm>
            <a:off x="1989798" y="5719937"/>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41" name="TextBox 40">
            <a:extLst>
              <a:ext uri="{FF2B5EF4-FFF2-40B4-BE49-F238E27FC236}">
                <a16:creationId xmlns:a16="http://schemas.microsoft.com/office/drawing/2014/main" id="{D98388A6-66D8-902A-9DEF-374DC5FB3848}"/>
              </a:ext>
            </a:extLst>
          </p:cNvPr>
          <p:cNvSpPr txBox="1"/>
          <p:nvPr/>
        </p:nvSpPr>
        <p:spPr>
          <a:xfrm>
            <a:off x="2811945" y="5749245"/>
            <a:ext cx="780303"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43" name="Google Shape;122;p25">
            <a:extLst>
              <a:ext uri="{FF2B5EF4-FFF2-40B4-BE49-F238E27FC236}">
                <a16:creationId xmlns:a16="http://schemas.microsoft.com/office/drawing/2014/main" id="{1CFE0923-12DC-46FA-3D05-E737EB2CF0FE}"/>
              </a:ext>
            </a:extLst>
          </p:cNvPr>
          <p:cNvSpPr/>
          <p:nvPr/>
        </p:nvSpPr>
        <p:spPr>
          <a:xfrm>
            <a:off x="3558359" y="5714838"/>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cxnSp>
        <p:nvCxnSpPr>
          <p:cNvPr id="44" name="Straight Arrow Connector 43">
            <a:extLst>
              <a:ext uri="{FF2B5EF4-FFF2-40B4-BE49-F238E27FC236}">
                <a16:creationId xmlns:a16="http://schemas.microsoft.com/office/drawing/2014/main" id="{E6C6DE72-BB6A-C8B8-719B-5691A0F78A3E}"/>
              </a:ext>
            </a:extLst>
          </p:cNvPr>
          <p:cNvCxnSpPr>
            <a:cxnSpLocks/>
          </p:cNvCxnSpPr>
          <p:nvPr/>
        </p:nvCxnSpPr>
        <p:spPr>
          <a:xfrm flipH="1">
            <a:off x="2795248" y="5132188"/>
            <a:ext cx="344019"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8BA4010E-304D-4C87-51F5-5621C1F24033}"/>
              </a:ext>
            </a:extLst>
          </p:cNvPr>
          <p:cNvCxnSpPr>
            <a:cxnSpLocks/>
          </p:cNvCxnSpPr>
          <p:nvPr/>
        </p:nvCxnSpPr>
        <p:spPr>
          <a:xfrm>
            <a:off x="3139267" y="5132188"/>
            <a:ext cx="357548"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47" name="Google Shape;21512;p354">
            <a:extLst>
              <a:ext uri="{FF2B5EF4-FFF2-40B4-BE49-F238E27FC236}">
                <a16:creationId xmlns:a16="http://schemas.microsoft.com/office/drawing/2014/main" id="{38A3A346-0E89-9FBE-5C94-B4596511DDC6}"/>
              </a:ext>
            </a:extLst>
          </p:cNvPr>
          <p:cNvGrpSpPr/>
          <p:nvPr/>
        </p:nvGrpSpPr>
        <p:grpSpPr>
          <a:xfrm>
            <a:off x="2229571" y="898661"/>
            <a:ext cx="2011437" cy="1354357"/>
            <a:chOff x="7996645" y="4997800"/>
            <a:chExt cx="1742072" cy="1489829"/>
          </a:xfrm>
        </p:grpSpPr>
        <p:sp>
          <p:nvSpPr>
            <p:cNvPr id="49" name="Google Shape;21513;p354">
              <a:extLst>
                <a:ext uri="{FF2B5EF4-FFF2-40B4-BE49-F238E27FC236}">
                  <a16:creationId xmlns:a16="http://schemas.microsoft.com/office/drawing/2014/main" id="{B568A471-FF23-D31B-1554-2673DC6D0B0D}"/>
                </a:ext>
              </a:extLst>
            </p:cNvPr>
            <p:cNvSpPr txBox="1"/>
            <p:nvPr/>
          </p:nvSpPr>
          <p:spPr>
            <a:xfrm>
              <a:off x="7996645" y="5041112"/>
              <a:ext cx="1545903" cy="1446517"/>
            </a:xfrm>
            <a:prstGeom prst="rect">
              <a:avLst/>
            </a:prstGeom>
            <a:noFill/>
            <a:ln>
              <a:noFill/>
            </a:ln>
          </p:spPr>
          <p:txBody>
            <a:bodyPr spcFirstLastPara="1" wrap="square" lIns="83067" tIns="41533" rIns="83067" bIns="41533" anchor="t" anchorCtr="0">
              <a:spAutoFit/>
            </a:bodyPr>
            <a:lstStyle/>
            <a:p>
              <a:r>
                <a:rPr lang="en" sz="4000" dirty="0">
                  <a:solidFill>
                    <a:srgbClr val="000000"/>
                  </a:solidFill>
                  <a:latin typeface="Arial"/>
                  <a:ea typeface="Arial"/>
                  <a:cs typeface="Arial"/>
                  <a:sym typeface="Arial"/>
                </a:rPr>
                <a:t>• • • • •               </a:t>
              </a:r>
              <a:endParaRPr sz="2400" dirty="0"/>
            </a:p>
          </p:txBody>
        </p:sp>
        <p:sp>
          <p:nvSpPr>
            <p:cNvPr id="51" name="Google Shape;21514;p354">
              <a:extLst>
                <a:ext uri="{FF2B5EF4-FFF2-40B4-BE49-F238E27FC236}">
                  <a16:creationId xmlns:a16="http://schemas.microsoft.com/office/drawing/2014/main" id="{9C4B65B2-55E9-C18E-6212-211080E25D01}"/>
                </a:ext>
              </a:extLst>
            </p:cNvPr>
            <p:cNvSpPr txBox="1"/>
            <p:nvPr/>
          </p:nvSpPr>
          <p:spPr>
            <a:xfrm>
              <a:off x="8849517" y="4997800"/>
              <a:ext cx="889200" cy="1175667"/>
            </a:xfrm>
            <a:prstGeom prst="rect">
              <a:avLst/>
            </a:prstGeom>
            <a:noFill/>
            <a:ln>
              <a:noFill/>
            </a:ln>
          </p:spPr>
          <p:txBody>
            <a:bodyPr spcFirstLastPara="1" wrap="square" lIns="83067" tIns="41533" rIns="83067" bIns="41533" anchor="t" anchorCtr="0">
              <a:spAutoFit/>
            </a:bodyPr>
            <a:lstStyle/>
            <a:p>
              <a:r>
                <a:rPr lang="en" sz="3600" dirty="0">
                  <a:solidFill>
                    <a:srgbClr val="000000"/>
                  </a:solidFill>
                  <a:latin typeface="Arial"/>
                  <a:ea typeface="Arial"/>
                  <a:cs typeface="Arial"/>
                  <a:sym typeface="Arial"/>
                </a:rPr>
                <a:t>   </a:t>
              </a:r>
              <a:r>
                <a:rPr lang="en" sz="1600" dirty="0">
                  <a:solidFill>
                    <a:srgbClr val="000000"/>
                  </a:solidFill>
                  <a:latin typeface="Arial"/>
                  <a:ea typeface="Arial"/>
                  <a:cs typeface="Arial"/>
                  <a:sym typeface="Arial"/>
                </a:rPr>
                <a:t>  </a:t>
              </a:r>
              <a:r>
                <a:rPr lang="en" sz="2800" dirty="0">
                  <a:solidFill>
                    <a:srgbClr val="000000"/>
                  </a:solidFill>
                  <a:latin typeface="Arial"/>
                  <a:ea typeface="Arial"/>
                  <a:cs typeface="Arial"/>
                  <a:sym typeface="Arial"/>
                </a:rPr>
                <a:t> ○</a:t>
              </a:r>
              <a:endParaRPr sz="3600" dirty="0"/>
            </a:p>
          </p:txBody>
        </p:sp>
      </p:grpSp>
    </p:spTree>
    <p:extLst>
      <p:ext uri="{BB962C8B-B14F-4D97-AF65-F5344CB8AC3E}">
        <p14:creationId xmlns:p14="http://schemas.microsoft.com/office/powerpoint/2010/main" val="39768726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DA61D-BC6B-8A30-D904-DE082599B07D}"/>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073CB749-A5BE-E3AA-1521-0BC8B67108E4}"/>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75EBE750-5A57-38EA-B149-2E56D001C444}"/>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7" name="Google Shape;21509;p354">
            <a:extLst>
              <a:ext uri="{FF2B5EF4-FFF2-40B4-BE49-F238E27FC236}">
                <a16:creationId xmlns:a16="http://schemas.microsoft.com/office/drawing/2014/main" id="{14A35128-C351-ACDD-0684-92254E8ABEC6}"/>
              </a:ext>
            </a:extLst>
          </p:cNvPr>
          <p:cNvSpPr txBox="1"/>
          <p:nvPr/>
        </p:nvSpPr>
        <p:spPr>
          <a:xfrm>
            <a:off x="1760834"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35" name="TextBox 34">
            <a:extLst>
              <a:ext uri="{FF2B5EF4-FFF2-40B4-BE49-F238E27FC236}">
                <a16:creationId xmlns:a16="http://schemas.microsoft.com/office/drawing/2014/main" id="{C44B19B9-C718-2992-7A45-EF3B43D74B86}"/>
              </a:ext>
            </a:extLst>
          </p:cNvPr>
          <p:cNvSpPr txBox="1"/>
          <p:nvPr/>
        </p:nvSpPr>
        <p:spPr>
          <a:xfrm>
            <a:off x="1403431"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sp>
        <p:nvSpPr>
          <p:cNvPr id="2" name="Rounded Rectangle 1">
            <a:extLst>
              <a:ext uri="{FF2B5EF4-FFF2-40B4-BE49-F238E27FC236}">
                <a16:creationId xmlns:a16="http://schemas.microsoft.com/office/drawing/2014/main" id="{8FD00343-B984-57C3-9DF7-6C3445299C42}"/>
              </a:ext>
            </a:extLst>
          </p:cNvPr>
          <p:cNvSpPr/>
          <p:nvPr/>
        </p:nvSpPr>
        <p:spPr>
          <a:xfrm>
            <a:off x="916612" y="2662165"/>
            <a:ext cx="4568398" cy="2470023"/>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TextBox 41">
            <a:extLst>
              <a:ext uri="{FF2B5EF4-FFF2-40B4-BE49-F238E27FC236}">
                <a16:creationId xmlns:a16="http://schemas.microsoft.com/office/drawing/2014/main" id="{ED6B4EEB-5BEA-BB1B-41CF-9095720D6F3A}"/>
              </a:ext>
            </a:extLst>
          </p:cNvPr>
          <p:cNvSpPr txBox="1"/>
          <p:nvPr/>
        </p:nvSpPr>
        <p:spPr>
          <a:xfrm>
            <a:off x="5447939" y="3566847"/>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6" name="TextBox 45">
            <a:extLst>
              <a:ext uri="{FF2B5EF4-FFF2-40B4-BE49-F238E27FC236}">
                <a16:creationId xmlns:a16="http://schemas.microsoft.com/office/drawing/2014/main" id="{7747CF63-CF14-68F7-3ACF-ABF8200E0C89}"/>
              </a:ext>
            </a:extLst>
          </p:cNvPr>
          <p:cNvSpPr txBox="1"/>
          <p:nvPr/>
        </p:nvSpPr>
        <p:spPr>
          <a:xfrm rot="10800000">
            <a:off x="523685" y="3520460"/>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8" name="Rounded Rectangle 47">
            <a:extLst>
              <a:ext uri="{FF2B5EF4-FFF2-40B4-BE49-F238E27FC236}">
                <a16:creationId xmlns:a16="http://schemas.microsoft.com/office/drawing/2014/main" id="{FEF2AD17-9C5A-8037-1B5F-351F738FCABF}"/>
              </a:ext>
            </a:extLst>
          </p:cNvPr>
          <p:cNvSpPr/>
          <p:nvPr/>
        </p:nvSpPr>
        <p:spPr>
          <a:xfrm>
            <a:off x="2184325" y="2273538"/>
            <a:ext cx="2039480" cy="324066"/>
          </a:xfrm>
          <a:prstGeom prst="roundRect">
            <a:avLst/>
          </a:prstGeom>
          <a:solidFill>
            <a:srgbClr val="D9E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Subcomponents⌄</a:t>
            </a:r>
          </a:p>
        </p:txBody>
      </p:sp>
      <p:cxnSp>
        <p:nvCxnSpPr>
          <p:cNvPr id="50" name="Straight Connector 49">
            <a:extLst>
              <a:ext uri="{FF2B5EF4-FFF2-40B4-BE49-F238E27FC236}">
                <a16:creationId xmlns:a16="http://schemas.microsoft.com/office/drawing/2014/main" id="{4764FE33-7E5D-BD5C-9BFA-3CFAE8D9F441}"/>
              </a:ext>
            </a:extLst>
          </p:cNvPr>
          <p:cNvCxnSpPr/>
          <p:nvPr/>
        </p:nvCxnSpPr>
        <p:spPr>
          <a:xfrm>
            <a:off x="2431203" y="2568553"/>
            <a:ext cx="1451611" cy="0"/>
          </a:xfrm>
          <a:prstGeom prst="line">
            <a:avLst/>
          </a:prstGeom>
          <a:ln>
            <a:solidFill>
              <a:srgbClr val="1A6A24"/>
            </a:solidFill>
          </a:ln>
        </p:spPr>
        <p:style>
          <a:lnRef idx="2">
            <a:schemeClr val="accent1"/>
          </a:lnRef>
          <a:fillRef idx="0">
            <a:schemeClr val="accent1"/>
          </a:fillRef>
          <a:effectRef idx="1">
            <a:schemeClr val="accent1"/>
          </a:effectRef>
          <a:fontRef idx="minor">
            <a:schemeClr val="tx1"/>
          </a:fontRef>
        </p:style>
      </p:cxnSp>
      <p:sp>
        <p:nvSpPr>
          <p:cNvPr id="3" name="Google Shape;21536;p354">
            <a:extLst>
              <a:ext uri="{FF2B5EF4-FFF2-40B4-BE49-F238E27FC236}">
                <a16:creationId xmlns:a16="http://schemas.microsoft.com/office/drawing/2014/main" id="{973FE371-A276-877D-E985-AF91DAE11977}"/>
              </a:ext>
            </a:extLst>
          </p:cNvPr>
          <p:cNvSpPr txBox="1"/>
          <p:nvPr/>
        </p:nvSpPr>
        <p:spPr>
          <a:xfrm>
            <a:off x="1078302" y="2820049"/>
            <a:ext cx="4243953" cy="1891995"/>
          </a:xfrm>
          <a:prstGeom prst="rect">
            <a:avLst/>
          </a:prstGeom>
          <a:noFill/>
          <a:ln>
            <a:noFill/>
          </a:ln>
        </p:spPr>
        <p:txBody>
          <a:bodyPr spcFirstLastPara="1" wrap="square" lIns="112400" tIns="56167" rIns="112400" bIns="56167" anchor="t" anchorCtr="0">
            <a:spAutoFit/>
          </a:bodyPr>
          <a:lstStyle/>
          <a:p>
            <a:pPr>
              <a:lnSpc>
                <a:spcPct val="115000"/>
              </a:lnSpc>
            </a:pPr>
            <a:r>
              <a:rPr lang="en-US" sz="1200" b="1" dirty="0"/>
              <a:t>Geometry Class</a:t>
            </a:r>
          </a:p>
          <a:p>
            <a:pPr>
              <a:lnSpc>
                <a:spcPct val="115000"/>
              </a:lnSpc>
            </a:pPr>
            <a:r>
              <a:rPr lang="en-US" sz="1050" dirty="0"/>
              <a:t>Description of Geometry Class from Subcomponent Snapshot</a:t>
            </a:r>
          </a:p>
          <a:p>
            <a:pPr marL="58738" indent="-58738">
              <a:lnSpc>
                <a:spcPct val="115000"/>
              </a:lnSpc>
              <a:buFont typeface="Arial" panose="020B0604020202020204" pitchFamily="34" charset="0"/>
              <a:buChar char="•"/>
            </a:pPr>
            <a:endParaRPr lang="en-US" sz="1050" dirty="0"/>
          </a:p>
          <a:p>
            <a:pPr>
              <a:lnSpc>
                <a:spcPct val="115000"/>
              </a:lnSpc>
            </a:pPr>
            <a:r>
              <a:rPr lang="en-US" sz="1200" b="1" dirty="0"/>
              <a:t>Calculus Class</a:t>
            </a:r>
          </a:p>
          <a:p>
            <a:pPr>
              <a:lnSpc>
                <a:spcPct val="115000"/>
              </a:lnSpc>
            </a:pPr>
            <a:r>
              <a:rPr lang="en-US" sz="1050" dirty="0"/>
              <a:t>Description of Calculus Class from Subcomponent Snapshot</a:t>
            </a:r>
          </a:p>
          <a:p>
            <a:pPr>
              <a:lnSpc>
                <a:spcPct val="115000"/>
              </a:lnSpc>
            </a:pPr>
            <a:endParaRPr lang="en-US" sz="1200" b="1" dirty="0"/>
          </a:p>
          <a:p>
            <a:pPr>
              <a:lnSpc>
                <a:spcPct val="115000"/>
              </a:lnSpc>
            </a:pPr>
            <a:r>
              <a:rPr lang="en-US" sz="1200" b="1" dirty="0"/>
              <a:t>Teach to One Math</a:t>
            </a:r>
          </a:p>
          <a:p>
            <a:pPr>
              <a:lnSpc>
                <a:spcPct val="115000"/>
              </a:lnSpc>
            </a:pPr>
            <a:r>
              <a:rPr lang="en-US" sz="1050" dirty="0"/>
              <a:t>Description of Teach to One Math from the Subcomponent Snapshot</a:t>
            </a:r>
          </a:p>
          <a:p>
            <a:pPr>
              <a:lnSpc>
                <a:spcPct val="115000"/>
              </a:lnSpc>
            </a:pPr>
            <a:endParaRPr sz="1050" dirty="0"/>
          </a:p>
        </p:txBody>
      </p:sp>
      <p:sp>
        <p:nvSpPr>
          <p:cNvPr id="25" name="Google Shape;21506;p354">
            <a:extLst>
              <a:ext uri="{FF2B5EF4-FFF2-40B4-BE49-F238E27FC236}">
                <a16:creationId xmlns:a16="http://schemas.microsoft.com/office/drawing/2014/main" id="{1F5EE3D7-A91B-E039-9C30-AA358A03EC0B}"/>
              </a:ext>
            </a:extLst>
          </p:cNvPr>
          <p:cNvSpPr txBox="1"/>
          <p:nvPr/>
        </p:nvSpPr>
        <p:spPr>
          <a:xfrm>
            <a:off x="2656215" y="6268020"/>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pic>
        <p:nvPicPr>
          <p:cNvPr id="26" name="Google Shape;2017;p43">
            <a:extLst>
              <a:ext uri="{FF2B5EF4-FFF2-40B4-BE49-F238E27FC236}">
                <a16:creationId xmlns:a16="http://schemas.microsoft.com/office/drawing/2014/main" id="{9F98E6D4-07CD-7F0D-3AE0-3B7E2B83B2BE}"/>
              </a:ext>
            </a:extLst>
          </p:cNvPr>
          <p:cNvPicPr preferRelativeResize="0"/>
          <p:nvPr/>
        </p:nvPicPr>
        <p:blipFill rotWithShape="1">
          <a:blip r:embed="rId4">
            <a:alphaModFix/>
          </a:blip>
          <a:srcRect t="57094"/>
          <a:stretch/>
        </p:blipFill>
        <p:spPr>
          <a:xfrm rot="10800000">
            <a:off x="2157167" y="6188910"/>
            <a:ext cx="568466" cy="244066"/>
          </a:xfrm>
          <a:prstGeom prst="rect">
            <a:avLst/>
          </a:prstGeom>
          <a:noFill/>
          <a:ln>
            <a:noFill/>
          </a:ln>
        </p:spPr>
      </p:pic>
      <p:sp>
        <p:nvSpPr>
          <p:cNvPr id="31" name="Google Shape;2019;p43">
            <a:extLst>
              <a:ext uri="{FF2B5EF4-FFF2-40B4-BE49-F238E27FC236}">
                <a16:creationId xmlns:a16="http://schemas.microsoft.com/office/drawing/2014/main" id="{DB1EB3A3-3253-9A08-9E02-94E76052E1C6}"/>
              </a:ext>
            </a:extLst>
          </p:cNvPr>
          <p:cNvSpPr/>
          <p:nvPr/>
        </p:nvSpPr>
        <p:spPr>
          <a:xfrm>
            <a:off x="2372635" y="6313995"/>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 name="Google Shape;21510;p354">
            <a:extLst>
              <a:ext uri="{FF2B5EF4-FFF2-40B4-BE49-F238E27FC236}">
                <a16:creationId xmlns:a16="http://schemas.microsoft.com/office/drawing/2014/main" id="{EABD7D12-4D4C-96FD-AEEF-F846A27FBE82}"/>
              </a:ext>
            </a:extLst>
          </p:cNvPr>
          <p:cNvSpPr txBox="1"/>
          <p:nvPr/>
        </p:nvSpPr>
        <p:spPr>
          <a:xfrm>
            <a:off x="1673753" y="5238864"/>
            <a:ext cx="1500866"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Learning &amp; Advancement</a:t>
            </a:r>
            <a:endParaRPr sz="1400" dirty="0"/>
          </a:p>
        </p:txBody>
      </p:sp>
      <p:sp>
        <p:nvSpPr>
          <p:cNvPr id="36" name="Google Shape;21511;p354">
            <a:extLst>
              <a:ext uri="{FF2B5EF4-FFF2-40B4-BE49-F238E27FC236}">
                <a16:creationId xmlns:a16="http://schemas.microsoft.com/office/drawing/2014/main" id="{D9437D47-90F4-FE4C-8B46-72B1236C42E9}"/>
              </a:ext>
            </a:extLst>
          </p:cNvPr>
          <p:cNvSpPr txBox="1"/>
          <p:nvPr/>
        </p:nvSpPr>
        <p:spPr>
          <a:xfrm>
            <a:off x="3307992" y="5228962"/>
            <a:ext cx="1364424"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Engagement </a:t>
            </a:r>
          </a:p>
          <a:p>
            <a:pPr algn="ctr"/>
            <a:r>
              <a:rPr lang="en" sz="1400" dirty="0"/>
              <a:t>&amp; Wellbeing</a:t>
            </a:r>
            <a:endParaRPr sz="1400" dirty="0"/>
          </a:p>
        </p:txBody>
      </p:sp>
      <p:sp>
        <p:nvSpPr>
          <p:cNvPr id="39" name="Google Shape;123;p25">
            <a:extLst>
              <a:ext uri="{FF2B5EF4-FFF2-40B4-BE49-F238E27FC236}">
                <a16:creationId xmlns:a16="http://schemas.microsoft.com/office/drawing/2014/main" id="{B23866E8-8CAD-1C59-2EB4-1BE5461B92C9}"/>
              </a:ext>
            </a:extLst>
          </p:cNvPr>
          <p:cNvSpPr/>
          <p:nvPr/>
        </p:nvSpPr>
        <p:spPr>
          <a:xfrm>
            <a:off x="1989798" y="5719937"/>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40" name="TextBox 39">
            <a:extLst>
              <a:ext uri="{FF2B5EF4-FFF2-40B4-BE49-F238E27FC236}">
                <a16:creationId xmlns:a16="http://schemas.microsoft.com/office/drawing/2014/main" id="{3A179806-9A6B-77B9-9637-B37CF61A1EE8}"/>
              </a:ext>
            </a:extLst>
          </p:cNvPr>
          <p:cNvSpPr txBox="1"/>
          <p:nvPr/>
        </p:nvSpPr>
        <p:spPr>
          <a:xfrm>
            <a:off x="2811945" y="5749245"/>
            <a:ext cx="780303"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41" name="Google Shape;122;p25">
            <a:extLst>
              <a:ext uri="{FF2B5EF4-FFF2-40B4-BE49-F238E27FC236}">
                <a16:creationId xmlns:a16="http://schemas.microsoft.com/office/drawing/2014/main" id="{44C242C6-5F41-7EE9-22BE-D71AE67745E4}"/>
              </a:ext>
            </a:extLst>
          </p:cNvPr>
          <p:cNvSpPr/>
          <p:nvPr/>
        </p:nvSpPr>
        <p:spPr>
          <a:xfrm>
            <a:off x="3558359" y="5714838"/>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cxnSp>
        <p:nvCxnSpPr>
          <p:cNvPr id="43" name="Straight Arrow Connector 42">
            <a:extLst>
              <a:ext uri="{FF2B5EF4-FFF2-40B4-BE49-F238E27FC236}">
                <a16:creationId xmlns:a16="http://schemas.microsoft.com/office/drawing/2014/main" id="{A98C37A1-E5EF-AE0E-F82B-7DCB48F879E8}"/>
              </a:ext>
            </a:extLst>
          </p:cNvPr>
          <p:cNvCxnSpPr>
            <a:cxnSpLocks/>
          </p:cNvCxnSpPr>
          <p:nvPr/>
        </p:nvCxnSpPr>
        <p:spPr>
          <a:xfrm flipH="1">
            <a:off x="2795248" y="5132188"/>
            <a:ext cx="344019"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9C5DF1C2-0508-DB7D-38E5-C79C54077035}"/>
              </a:ext>
            </a:extLst>
          </p:cNvPr>
          <p:cNvCxnSpPr>
            <a:cxnSpLocks/>
          </p:cNvCxnSpPr>
          <p:nvPr/>
        </p:nvCxnSpPr>
        <p:spPr>
          <a:xfrm>
            <a:off x="3139267" y="5132188"/>
            <a:ext cx="357548"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45" name="Google Shape;21512;p354">
            <a:extLst>
              <a:ext uri="{FF2B5EF4-FFF2-40B4-BE49-F238E27FC236}">
                <a16:creationId xmlns:a16="http://schemas.microsoft.com/office/drawing/2014/main" id="{FD15C364-224D-E902-68D9-471F29EAC01D}"/>
              </a:ext>
            </a:extLst>
          </p:cNvPr>
          <p:cNvGrpSpPr/>
          <p:nvPr/>
        </p:nvGrpSpPr>
        <p:grpSpPr>
          <a:xfrm>
            <a:off x="2229571" y="898661"/>
            <a:ext cx="2011437" cy="1354357"/>
            <a:chOff x="7996645" y="4997800"/>
            <a:chExt cx="1742072" cy="1489829"/>
          </a:xfrm>
        </p:grpSpPr>
        <p:sp>
          <p:nvSpPr>
            <p:cNvPr id="47" name="Google Shape;21513;p354">
              <a:extLst>
                <a:ext uri="{FF2B5EF4-FFF2-40B4-BE49-F238E27FC236}">
                  <a16:creationId xmlns:a16="http://schemas.microsoft.com/office/drawing/2014/main" id="{1C3D7232-39AE-C951-510E-3D83D0D5E697}"/>
                </a:ext>
              </a:extLst>
            </p:cNvPr>
            <p:cNvSpPr txBox="1"/>
            <p:nvPr/>
          </p:nvSpPr>
          <p:spPr>
            <a:xfrm>
              <a:off x="7996645" y="5041112"/>
              <a:ext cx="1545903" cy="1446517"/>
            </a:xfrm>
            <a:prstGeom prst="rect">
              <a:avLst/>
            </a:prstGeom>
            <a:noFill/>
            <a:ln>
              <a:noFill/>
            </a:ln>
          </p:spPr>
          <p:txBody>
            <a:bodyPr spcFirstLastPara="1" wrap="square" lIns="83067" tIns="41533" rIns="83067" bIns="41533" anchor="t" anchorCtr="0">
              <a:spAutoFit/>
            </a:bodyPr>
            <a:lstStyle/>
            <a:p>
              <a:r>
                <a:rPr lang="en" sz="4000" dirty="0">
                  <a:solidFill>
                    <a:srgbClr val="000000"/>
                  </a:solidFill>
                  <a:latin typeface="Arial"/>
                  <a:ea typeface="Arial"/>
                  <a:cs typeface="Arial"/>
                  <a:sym typeface="Arial"/>
                </a:rPr>
                <a:t>• • • • •               </a:t>
              </a:r>
              <a:endParaRPr sz="2400" dirty="0"/>
            </a:p>
          </p:txBody>
        </p:sp>
        <p:sp>
          <p:nvSpPr>
            <p:cNvPr id="49" name="Google Shape;21514;p354">
              <a:extLst>
                <a:ext uri="{FF2B5EF4-FFF2-40B4-BE49-F238E27FC236}">
                  <a16:creationId xmlns:a16="http://schemas.microsoft.com/office/drawing/2014/main" id="{343E632C-7B38-F412-7179-997A6ECBEE15}"/>
                </a:ext>
              </a:extLst>
            </p:cNvPr>
            <p:cNvSpPr txBox="1"/>
            <p:nvPr/>
          </p:nvSpPr>
          <p:spPr>
            <a:xfrm>
              <a:off x="8849517" y="4997800"/>
              <a:ext cx="889200" cy="1175667"/>
            </a:xfrm>
            <a:prstGeom prst="rect">
              <a:avLst/>
            </a:prstGeom>
            <a:noFill/>
            <a:ln>
              <a:noFill/>
            </a:ln>
          </p:spPr>
          <p:txBody>
            <a:bodyPr spcFirstLastPara="1" wrap="square" lIns="83067" tIns="41533" rIns="83067" bIns="41533" anchor="t" anchorCtr="0">
              <a:spAutoFit/>
            </a:bodyPr>
            <a:lstStyle/>
            <a:p>
              <a:r>
                <a:rPr lang="en" sz="3600" dirty="0">
                  <a:solidFill>
                    <a:srgbClr val="000000"/>
                  </a:solidFill>
                  <a:latin typeface="Arial"/>
                  <a:ea typeface="Arial"/>
                  <a:cs typeface="Arial"/>
                  <a:sym typeface="Arial"/>
                </a:rPr>
                <a:t>   </a:t>
              </a:r>
              <a:r>
                <a:rPr lang="en" sz="1600" dirty="0">
                  <a:solidFill>
                    <a:srgbClr val="000000"/>
                  </a:solidFill>
                  <a:latin typeface="Arial"/>
                  <a:ea typeface="Arial"/>
                  <a:cs typeface="Arial"/>
                  <a:sym typeface="Arial"/>
                </a:rPr>
                <a:t>  </a:t>
              </a:r>
              <a:r>
                <a:rPr lang="en" sz="2800" dirty="0">
                  <a:solidFill>
                    <a:srgbClr val="000000"/>
                  </a:solidFill>
                  <a:latin typeface="Arial"/>
                  <a:ea typeface="Arial"/>
                  <a:cs typeface="Arial"/>
                  <a:sym typeface="Arial"/>
                </a:rPr>
                <a:t> ○</a:t>
              </a:r>
              <a:endParaRPr sz="3600" dirty="0"/>
            </a:p>
          </p:txBody>
        </p:sp>
      </p:grpSp>
    </p:spTree>
    <p:extLst>
      <p:ext uri="{BB962C8B-B14F-4D97-AF65-F5344CB8AC3E}">
        <p14:creationId xmlns:p14="http://schemas.microsoft.com/office/powerpoint/2010/main" val="1730908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169B3-CEFE-9584-6FBF-E452AFF60027}"/>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EE77A876-C87C-49F1-D922-6B58D4ADB765}"/>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A5798D6A-FA4B-953D-C8A2-EE8242E46D90}"/>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7" name="Google Shape;21509;p354">
            <a:extLst>
              <a:ext uri="{FF2B5EF4-FFF2-40B4-BE49-F238E27FC236}">
                <a16:creationId xmlns:a16="http://schemas.microsoft.com/office/drawing/2014/main" id="{BAF45EF0-243A-50BD-4DCF-1048E80A2615}"/>
              </a:ext>
            </a:extLst>
          </p:cNvPr>
          <p:cNvSpPr txBox="1"/>
          <p:nvPr/>
        </p:nvSpPr>
        <p:spPr>
          <a:xfrm>
            <a:off x="1760834"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35" name="TextBox 34">
            <a:extLst>
              <a:ext uri="{FF2B5EF4-FFF2-40B4-BE49-F238E27FC236}">
                <a16:creationId xmlns:a16="http://schemas.microsoft.com/office/drawing/2014/main" id="{D0178F33-0F1A-2E7F-BBCE-3857A24EAC42}"/>
              </a:ext>
            </a:extLst>
          </p:cNvPr>
          <p:cNvSpPr txBox="1"/>
          <p:nvPr/>
        </p:nvSpPr>
        <p:spPr>
          <a:xfrm>
            <a:off x="1403431"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sp>
        <p:nvSpPr>
          <p:cNvPr id="2" name="Rounded Rectangle 1">
            <a:extLst>
              <a:ext uri="{FF2B5EF4-FFF2-40B4-BE49-F238E27FC236}">
                <a16:creationId xmlns:a16="http://schemas.microsoft.com/office/drawing/2014/main" id="{B910B377-B3BA-2434-43E8-7A2473B9D0EA}"/>
              </a:ext>
            </a:extLst>
          </p:cNvPr>
          <p:cNvSpPr/>
          <p:nvPr/>
        </p:nvSpPr>
        <p:spPr>
          <a:xfrm>
            <a:off x="916612" y="2662165"/>
            <a:ext cx="4568398" cy="2470023"/>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TextBox 41">
            <a:extLst>
              <a:ext uri="{FF2B5EF4-FFF2-40B4-BE49-F238E27FC236}">
                <a16:creationId xmlns:a16="http://schemas.microsoft.com/office/drawing/2014/main" id="{B4528326-6C1F-5B37-3176-5FF6640664D7}"/>
              </a:ext>
            </a:extLst>
          </p:cNvPr>
          <p:cNvSpPr txBox="1"/>
          <p:nvPr/>
        </p:nvSpPr>
        <p:spPr>
          <a:xfrm>
            <a:off x="5447939" y="3566847"/>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6" name="TextBox 45">
            <a:extLst>
              <a:ext uri="{FF2B5EF4-FFF2-40B4-BE49-F238E27FC236}">
                <a16:creationId xmlns:a16="http://schemas.microsoft.com/office/drawing/2014/main" id="{4273686A-C1D4-85B2-B638-C27FDCD232F3}"/>
              </a:ext>
            </a:extLst>
          </p:cNvPr>
          <p:cNvSpPr txBox="1"/>
          <p:nvPr/>
        </p:nvSpPr>
        <p:spPr>
          <a:xfrm rot="10800000">
            <a:off x="523685" y="3520460"/>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8" name="Rounded Rectangle 47">
            <a:extLst>
              <a:ext uri="{FF2B5EF4-FFF2-40B4-BE49-F238E27FC236}">
                <a16:creationId xmlns:a16="http://schemas.microsoft.com/office/drawing/2014/main" id="{9DE52D65-07AB-5A6F-B83A-E1AC5E0CE62C}"/>
              </a:ext>
            </a:extLst>
          </p:cNvPr>
          <p:cNvSpPr/>
          <p:nvPr/>
        </p:nvSpPr>
        <p:spPr>
          <a:xfrm>
            <a:off x="2082351" y="2273538"/>
            <a:ext cx="2243428" cy="324066"/>
          </a:xfrm>
          <a:prstGeom prst="roundRect">
            <a:avLst/>
          </a:prstGeom>
          <a:solidFill>
            <a:srgbClr val="D9E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Targeted Outcomes⌄</a:t>
            </a:r>
          </a:p>
        </p:txBody>
      </p:sp>
      <p:cxnSp>
        <p:nvCxnSpPr>
          <p:cNvPr id="50" name="Straight Connector 49">
            <a:extLst>
              <a:ext uri="{FF2B5EF4-FFF2-40B4-BE49-F238E27FC236}">
                <a16:creationId xmlns:a16="http://schemas.microsoft.com/office/drawing/2014/main" id="{92645F5F-0106-A74C-0396-3CEA8B4528F4}"/>
              </a:ext>
            </a:extLst>
          </p:cNvPr>
          <p:cNvCxnSpPr/>
          <p:nvPr/>
        </p:nvCxnSpPr>
        <p:spPr>
          <a:xfrm>
            <a:off x="2431203" y="2568553"/>
            <a:ext cx="1451611" cy="0"/>
          </a:xfrm>
          <a:prstGeom prst="line">
            <a:avLst/>
          </a:prstGeom>
          <a:ln>
            <a:solidFill>
              <a:srgbClr val="1A6A24"/>
            </a:solidFill>
          </a:ln>
        </p:spPr>
        <p:style>
          <a:lnRef idx="2">
            <a:schemeClr val="accent1"/>
          </a:lnRef>
          <a:fillRef idx="0">
            <a:schemeClr val="accent1"/>
          </a:fillRef>
          <a:effectRef idx="1">
            <a:schemeClr val="accent1"/>
          </a:effectRef>
          <a:fontRef idx="minor">
            <a:schemeClr val="tx1"/>
          </a:fontRef>
        </p:style>
      </p:cxnSp>
      <p:sp>
        <p:nvSpPr>
          <p:cNvPr id="3" name="Google Shape;21536;p354">
            <a:extLst>
              <a:ext uri="{FF2B5EF4-FFF2-40B4-BE49-F238E27FC236}">
                <a16:creationId xmlns:a16="http://schemas.microsoft.com/office/drawing/2014/main" id="{2F964EBB-EE36-CB7B-2CA6-1611B1C4A79D}"/>
              </a:ext>
            </a:extLst>
          </p:cNvPr>
          <p:cNvSpPr txBox="1"/>
          <p:nvPr/>
        </p:nvSpPr>
        <p:spPr>
          <a:xfrm>
            <a:off x="1154642" y="2820049"/>
            <a:ext cx="4236852" cy="2290181"/>
          </a:xfrm>
          <a:prstGeom prst="rect">
            <a:avLst/>
          </a:prstGeom>
          <a:noFill/>
          <a:ln>
            <a:noFill/>
          </a:ln>
        </p:spPr>
        <p:txBody>
          <a:bodyPr spcFirstLastPara="1" wrap="square" lIns="112400" tIns="56167" rIns="112400" bIns="56167" anchor="t" anchorCtr="0">
            <a:spAutoFit/>
          </a:bodyPr>
          <a:lstStyle/>
          <a:p>
            <a:pPr>
              <a:lnSpc>
                <a:spcPct val="115000"/>
              </a:lnSpc>
            </a:pPr>
            <a:r>
              <a:rPr lang="en-US" sz="1200" b="1" dirty="0"/>
              <a:t>Algebra (Primary, High)</a:t>
            </a:r>
          </a:p>
          <a:p>
            <a:pPr>
              <a:lnSpc>
                <a:spcPct val="115000"/>
              </a:lnSpc>
            </a:pPr>
            <a:r>
              <a:rPr lang="en-US" sz="1050" dirty="0"/>
              <a:t>Description of how Algebra applies to this component</a:t>
            </a:r>
          </a:p>
          <a:p>
            <a:pPr>
              <a:lnSpc>
                <a:spcPct val="115000"/>
              </a:lnSpc>
            </a:pPr>
            <a:endParaRPr lang="en-US" sz="1050" dirty="0"/>
          </a:p>
          <a:p>
            <a:pPr>
              <a:lnSpc>
                <a:spcPct val="115000"/>
              </a:lnSpc>
            </a:pPr>
            <a:endParaRPr lang="en-US" sz="1050" dirty="0"/>
          </a:p>
          <a:p>
            <a:pPr>
              <a:lnSpc>
                <a:spcPct val="115000"/>
              </a:lnSpc>
            </a:pPr>
            <a:r>
              <a:rPr lang="en-US" sz="1200" b="1" dirty="0"/>
              <a:t>Calculus (Medium)</a:t>
            </a:r>
          </a:p>
          <a:p>
            <a:pPr>
              <a:lnSpc>
                <a:spcPct val="115000"/>
              </a:lnSpc>
            </a:pPr>
            <a:r>
              <a:rPr lang="en-US" sz="1050" dirty="0"/>
              <a:t>Description of how Calculus applies to this component</a:t>
            </a:r>
          </a:p>
          <a:p>
            <a:pPr>
              <a:lnSpc>
                <a:spcPct val="115000"/>
              </a:lnSpc>
            </a:pPr>
            <a:endParaRPr lang="en-US" sz="1200" b="1" dirty="0"/>
          </a:p>
          <a:p>
            <a:pPr>
              <a:lnSpc>
                <a:spcPct val="115000"/>
              </a:lnSpc>
            </a:pPr>
            <a:endParaRPr lang="en-US" sz="1200" b="1" dirty="0"/>
          </a:p>
          <a:p>
            <a:pPr>
              <a:lnSpc>
                <a:spcPct val="115000"/>
              </a:lnSpc>
            </a:pPr>
            <a:r>
              <a:rPr lang="en-US" sz="1200" b="1" dirty="0"/>
              <a:t>Geometry (Medium)</a:t>
            </a:r>
          </a:p>
          <a:p>
            <a:pPr>
              <a:lnSpc>
                <a:spcPct val="115000"/>
              </a:lnSpc>
            </a:pPr>
            <a:r>
              <a:rPr lang="en-US" sz="1050" dirty="0"/>
              <a:t>Description of how Geometry applies to this component</a:t>
            </a:r>
          </a:p>
          <a:p>
            <a:pPr>
              <a:lnSpc>
                <a:spcPct val="115000"/>
              </a:lnSpc>
            </a:pPr>
            <a:endParaRPr sz="1050" dirty="0"/>
          </a:p>
        </p:txBody>
      </p:sp>
      <p:grpSp>
        <p:nvGrpSpPr>
          <p:cNvPr id="54" name="Google Shape;21512;p354">
            <a:extLst>
              <a:ext uri="{FF2B5EF4-FFF2-40B4-BE49-F238E27FC236}">
                <a16:creationId xmlns:a16="http://schemas.microsoft.com/office/drawing/2014/main" id="{4C52B7A9-1D3E-D646-90BD-81DA4684BBC6}"/>
              </a:ext>
            </a:extLst>
          </p:cNvPr>
          <p:cNvGrpSpPr/>
          <p:nvPr/>
        </p:nvGrpSpPr>
        <p:grpSpPr>
          <a:xfrm>
            <a:off x="2229571" y="898661"/>
            <a:ext cx="2011437" cy="1354357"/>
            <a:chOff x="7996645" y="4997800"/>
            <a:chExt cx="1742072" cy="1489829"/>
          </a:xfrm>
        </p:grpSpPr>
        <p:sp>
          <p:nvSpPr>
            <p:cNvPr id="56" name="Google Shape;21513;p354">
              <a:extLst>
                <a:ext uri="{FF2B5EF4-FFF2-40B4-BE49-F238E27FC236}">
                  <a16:creationId xmlns:a16="http://schemas.microsoft.com/office/drawing/2014/main" id="{C4430E36-D193-E924-B62A-15F0B2D41425}"/>
                </a:ext>
              </a:extLst>
            </p:cNvPr>
            <p:cNvSpPr txBox="1"/>
            <p:nvPr/>
          </p:nvSpPr>
          <p:spPr>
            <a:xfrm>
              <a:off x="7996645" y="5041112"/>
              <a:ext cx="1545903" cy="1446517"/>
            </a:xfrm>
            <a:prstGeom prst="rect">
              <a:avLst/>
            </a:prstGeom>
            <a:noFill/>
            <a:ln>
              <a:noFill/>
            </a:ln>
          </p:spPr>
          <p:txBody>
            <a:bodyPr spcFirstLastPara="1" wrap="square" lIns="83067" tIns="41533" rIns="83067" bIns="41533" anchor="t" anchorCtr="0">
              <a:spAutoFit/>
            </a:bodyPr>
            <a:lstStyle/>
            <a:p>
              <a:r>
                <a:rPr lang="en" sz="4000" dirty="0">
                  <a:solidFill>
                    <a:srgbClr val="000000"/>
                  </a:solidFill>
                  <a:latin typeface="Arial"/>
                  <a:ea typeface="Arial"/>
                  <a:cs typeface="Arial"/>
                  <a:sym typeface="Arial"/>
                </a:rPr>
                <a:t>• • • • •               </a:t>
              </a:r>
              <a:endParaRPr sz="2400" dirty="0"/>
            </a:p>
          </p:txBody>
        </p:sp>
        <p:sp>
          <p:nvSpPr>
            <p:cNvPr id="57" name="Google Shape;21514;p354">
              <a:extLst>
                <a:ext uri="{FF2B5EF4-FFF2-40B4-BE49-F238E27FC236}">
                  <a16:creationId xmlns:a16="http://schemas.microsoft.com/office/drawing/2014/main" id="{557D52A3-F763-FABB-5088-39BE863E57B6}"/>
                </a:ext>
              </a:extLst>
            </p:cNvPr>
            <p:cNvSpPr txBox="1"/>
            <p:nvPr/>
          </p:nvSpPr>
          <p:spPr>
            <a:xfrm>
              <a:off x="8849517" y="4997800"/>
              <a:ext cx="889200" cy="1175667"/>
            </a:xfrm>
            <a:prstGeom prst="rect">
              <a:avLst/>
            </a:prstGeom>
            <a:noFill/>
            <a:ln>
              <a:noFill/>
            </a:ln>
          </p:spPr>
          <p:txBody>
            <a:bodyPr spcFirstLastPara="1" wrap="square" lIns="83067" tIns="41533" rIns="83067" bIns="41533" anchor="t" anchorCtr="0">
              <a:spAutoFit/>
            </a:bodyPr>
            <a:lstStyle/>
            <a:p>
              <a:r>
                <a:rPr lang="en" sz="3600" dirty="0">
                  <a:solidFill>
                    <a:srgbClr val="000000"/>
                  </a:solidFill>
                  <a:latin typeface="Arial"/>
                  <a:ea typeface="Arial"/>
                  <a:cs typeface="Arial"/>
                  <a:sym typeface="Arial"/>
                </a:rPr>
                <a:t>   </a:t>
              </a:r>
              <a:r>
                <a:rPr lang="en" sz="1600" dirty="0">
                  <a:solidFill>
                    <a:srgbClr val="000000"/>
                  </a:solidFill>
                  <a:latin typeface="Arial"/>
                  <a:ea typeface="Arial"/>
                  <a:cs typeface="Arial"/>
                  <a:sym typeface="Arial"/>
                </a:rPr>
                <a:t>  </a:t>
              </a:r>
              <a:r>
                <a:rPr lang="en" sz="2800" dirty="0">
                  <a:solidFill>
                    <a:srgbClr val="000000"/>
                  </a:solidFill>
                  <a:latin typeface="Arial"/>
                  <a:ea typeface="Arial"/>
                  <a:cs typeface="Arial"/>
                  <a:sym typeface="Arial"/>
                </a:rPr>
                <a:t> ○</a:t>
              </a:r>
              <a:endParaRPr sz="3600" dirty="0"/>
            </a:p>
          </p:txBody>
        </p:sp>
      </p:grpSp>
      <p:sp>
        <p:nvSpPr>
          <p:cNvPr id="58" name="Google Shape;21506;p354">
            <a:extLst>
              <a:ext uri="{FF2B5EF4-FFF2-40B4-BE49-F238E27FC236}">
                <a16:creationId xmlns:a16="http://schemas.microsoft.com/office/drawing/2014/main" id="{22FC5D82-4E3B-1F57-0CBC-2137C3B20A54}"/>
              </a:ext>
            </a:extLst>
          </p:cNvPr>
          <p:cNvSpPr txBox="1"/>
          <p:nvPr/>
        </p:nvSpPr>
        <p:spPr>
          <a:xfrm>
            <a:off x="2656215" y="6268020"/>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pic>
        <p:nvPicPr>
          <p:cNvPr id="59" name="Google Shape;2017;p43">
            <a:extLst>
              <a:ext uri="{FF2B5EF4-FFF2-40B4-BE49-F238E27FC236}">
                <a16:creationId xmlns:a16="http://schemas.microsoft.com/office/drawing/2014/main" id="{7D8AA453-C014-F0B4-3E61-618C9BC49EBE}"/>
              </a:ext>
            </a:extLst>
          </p:cNvPr>
          <p:cNvPicPr preferRelativeResize="0"/>
          <p:nvPr/>
        </p:nvPicPr>
        <p:blipFill rotWithShape="1">
          <a:blip r:embed="rId4">
            <a:alphaModFix/>
          </a:blip>
          <a:srcRect t="57094"/>
          <a:stretch/>
        </p:blipFill>
        <p:spPr>
          <a:xfrm rot="10800000">
            <a:off x="2157167" y="6188910"/>
            <a:ext cx="568466" cy="244066"/>
          </a:xfrm>
          <a:prstGeom prst="rect">
            <a:avLst/>
          </a:prstGeom>
          <a:noFill/>
          <a:ln>
            <a:noFill/>
          </a:ln>
        </p:spPr>
      </p:pic>
      <p:sp>
        <p:nvSpPr>
          <p:cNvPr id="60" name="Google Shape;2019;p43">
            <a:extLst>
              <a:ext uri="{FF2B5EF4-FFF2-40B4-BE49-F238E27FC236}">
                <a16:creationId xmlns:a16="http://schemas.microsoft.com/office/drawing/2014/main" id="{35895BCE-12FF-68A5-164D-8F5561D94C46}"/>
              </a:ext>
            </a:extLst>
          </p:cNvPr>
          <p:cNvSpPr/>
          <p:nvPr/>
        </p:nvSpPr>
        <p:spPr>
          <a:xfrm>
            <a:off x="2372635" y="6313995"/>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1" name="Google Shape;21510;p354">
            <a:extLst>
              <a:ext uri="{FF2B5EF4-FFF2-40B4-BE49-F238E27FC236}">
                <a16:creationId xmlns:a16="http://schemas.microsoft.com/office/drawing/2014/main" id="{B9AF21F8-85FB-6160-99C2-A2C3DA8FB3F0}"/>
              </a:ext>
            </a:extLst>
          </p:cNvPr>
          <p:cNvSpPr txBox="1"/>
          <p:nvPr/>
        </p:nvSpPr>
        <p:spPr>
          <a:xfrm>
            <a:off x="1673753" y="5238864"/>
            <a:ext cx="1500866"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Learning &amp; Advancement</a:t>
            </a:r>
            <a:endParaRPr sz="1400" dirty="0"/>
          </a:p>
        </p:txBody>
      </p:sp>
      <p:sp>
        <p:nvSpPr>
          <p:cNvPr id="62" name="Google Shape;21511;p354">
            <a:extLst>
              <a:ext uri="{FF2B5EF4-FFF2-40B4-BE49-F238E27FC236}">
                <a16:creationId xmlns:a16="http://schemas.microsoft.com/office/drawing/2014/main" id="{6FAE4AEF-4F17-871F-B3B7-5BC4202BDA40}"/>
              </a:ext>
            </a:extLst>
          </p:cNvPr>
          <p:cNvSpPr txBox="1"/>
          <p:nvPr/>
        </p:nvSpPr>
        <p:spPr>
          <a:xfrm>
            <a:off x="3307992" y="5228962"/>
            <a:ext cx="1364424"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Engagement </a:t>
            </a:r>
          </a:p>
          <a:p>
            <a:pPr algn="ctr"/>
            <a:r>
              <a:rPr lang="en" sz="1400" dirty="0"/>
              <a:t>&amp; Wellbeing</a:t>
            </a:r>
            <a:endParaRPr sz="1400" dirty="0"/>
          </a:p>
        </p:txBody>
      </p:sp>
      <p:sp>
        <p:nvSpPr>
          <p:cNvPr id="63" name="Google Shape;123;p25">
            <a:extLst>
              <a:ext uri="{FF2B5EF4-FFF2-40B4-BE49-F238E27FC236}">
                <a16:creationId xmlns:a16="http://schemas.microsoft.com/office/drawing/2014/main" id="{C5341550-6E0F-9289-13AE-52765BCD434D}"/>
              </a:ext>
            </a:extLst>
          </p:cNvPr>
          <p:cNvSpPr/>
          <p:nvPr/>
        </p:nvSpPr>
        <p:spPr>
          <a:xfrm>
            <a:off x="1989798" y="5719937"/>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1024" name="TextBox 1023">
            <a:extLst>
              <a:ext uri="{FF2B5EF4-FFF2-40B4-BE49-F238E27FC236}">
                <a16:creationId xmlns:a16="http://schemas.microsoft.com/office/drawing/2014/main" id="{3762A61A-1844-8621-CB62-546BDBD29491}"/>
              </a:ext>
            </a:extLst>
          </p:cNvPr>
          <p:cNvSpPr txBox="1"/>
          <p:nvPr/>
        </p:nvSpPr>
        <p:spPr>
          <a:xfrm>
            <a:off x="2811945" y="5749245"/>
            <a:ext cx="780303"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1025" name="Google Shape;122;p25">
            <a:extLst>
              <a:ext uri="{FF2B5EF4-FFF2-40B4-BE49-F238E27FC236}">
                <a16:creationId xmlns:a16="http://schemas.microsoft.com/office/drawing/2014/main" id="{AEC1D5F8-4B7D-9B31-E4B5-424E2316D837}"/>
              </a:ext>
            </a:extLst>
          </p:cNvPr>
          <p:cNvSpPr/>
          <p:nvPr/>
        </p:nvSpPr>
        <p:spPr>
          <a:xfrm>
            <a:off x="3558359" y="5714838"/>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cxnSp>
        <p:nvCxnSpPr>
          <p:cNvPr id="1027" name="Straight Arrow Connector 1026">
            <a:extLst>
              <a:ext uri="{FF2B5EF4-FFF2-40B4-BE49-F238E27FC236}">
                <a16:creationId xmlns:a16="http://schemas.microsoft.com/office/drawing/2014/main" id="{78710EE7-54E2-10CB-8BF4-E6C7C0BC765F}"/>
              </a:ext>
            </a:extLst>
          </p:cNvPr>
          <p:cNvCxnSpPr>
            <a:cxnSpLocks/>
          </p:cNvCxnSpPr>
          <p:nvPr/>
        </p:nvCxnSpPr>
        <p:spPr>
          <a:xfrm flipH="1">
            <a:off x="2795248" y="5132188"/>
            <a:ext cx="344019"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28" name="Straight Arrow Connector 1027">
            <a:extLst>
              <a:ext uri="{FF2B5EF4-FFF2-40B4-BE49-F238E27FC236}">
                <a16:creationId xmlns:a16="http://schemas.microsoft.com/office/drawing/2014/main" id="{341B7EA0-5780-708A-EB66-1B83DE4782BE}"/>
              </a:ext>
            </a:extLst>
          </p:cNvPr>
          <p:cNvCxnSpPr>
            <a:cxnSpLocks/>
          </p:cNvCxnSpPr>
          <p:nvPr/>
        </p:nvCxnSpPr>
        <p:spPr>
          <a:xfrm>
            <a:off x="3139267" y="5132188"/>
            <a:ext cx="357548"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 name="Rounded Rectangle 3">
            <a:extLst>
              <a:ext uri="{FF2B5EF4-FFF2-40B4-BE49-F238E27FC236}">
                <a16:creationId xmlns:a16="http://schemas.microsoft.com/office/drawing/2014/main" id="{32607B4F-44F5-145D-20E5-F87AA45B4234}"/>
              </a:ext>
            </a:extLst>
          </p:cNvPr>
          <p:cNvSpPr/>
          <p:nvPr/>
        </p:nvSpPr>
        <p:spPr>
          <a:xfrm>
            <a:off x="1335648" y="3332844"/>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6" name="Rounded Rectangle 5">
            <a:extLst>
              <a:ext uri="{FF2B5EF4-FFF2-40B4-BE49-F238E27FC236}">
                <a16:creationId xmlns:a16="http://schemas.microsoft.com/office/drawing/2014/main" id="{0C1F44D2-DC1C-2A1D-C844-DAB7CE121A32}"/>
              </a:ext>
            </a:extLst>
          </p:cNvPr>
          <p:cNvSpPr/>
          <p:nvPr/>
        </p:nvSpPr>
        <p:spPr>
          <a:xfrm>
            <a:off x="2509477" y="3341158"/>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11" name="Rounded Rectangle 10">
            <a:extLst>
              <a:ext uri="{FF2B5EF4-FFF2-40B4-BE49-F238E27FC236}">
                <a16:creationId xmlns:a16="http://schemas.microsoft.com/office/drawing/2014/main" id="{063B4278-68E3-48D2-450D-7C1FF3E0EDAD}"/>
              </a:ext>
            </a:extLst>
          </p:cNvPr>
          <p:cNvSpPr/>
          <p:nvPr/>
        </p:nvSpPr>
        <p:spPr>
          <a:xfrm>
            <a:off x="3683306" y="3338398"/>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12" name="Rounded Rectangle 11">
            <a:extLst>
              <a:ext uri="{FF2B5EF4-FFF2-40B4-BE49-F238E27FC236}">
                <a16:creationId xmlns:a16="http://schemas.microsoft.com/office/drawing/2014/main" id="{CDAF2B71-A284-4278-336E-F7791EAA4AFA}"/>
              </a:ext>
            </a:extLst>
          </p:cNvPr>
          <p:cNvSpPr/>
          <p:nvPr/>
        </p:nvSpPr>
        <p:spPr>
          <a:xfrm>
            <a:off x="1335648" y="4128531"/>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13" name="Rounded Rectangle 12">
            <a:extLst>
              <a:ext uri="{FF2B5EF4-FFF2-40B4-BE49-F238E27FC236}">
                <a16:creationId xmlns:a16="http://schemas.microsoft.com/office/drawing/2014/main" id="{0C0EE29F-706E-314D-1ADA-38EBBB860EAA}"/>
              </a:ext>
            </a:extLst>
          </p:cNvPr>
          <p:cNvSpPr/>
          <p:nvPr/>
        </p:nvSpPr>
        <p:spPr>
          <a:xfrm>
            <a:off x="2509477" y="4136845"/>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Tree>
    <p:extLst>
      <p:ext uri="{BB962C8B-B14F-4D97-AF65-F5344CB8AC3E}">
        <p14:creationId xmlns:p14="http://schemas.microsoft.com/office/powerpoint/2010/main" val="2325846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A7527-B442-669C-76B2-E6F1EBDD3381}"/>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A5D6A0CD-DD97-B2CE-E150-E53829BB764C}"/>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D818A365-5A08-E0B4-8F6E-73411521E7BB}"/>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7" name="Google Shape;21509;p354">
            <a:extLst>
              <a:ext uri="{FF2B5EF4-FFF2-40B4-BE49-F238E27FC236}">
                <a16:creationId xmlns:a16="http://schemas.microsoft.com/office/drawing/2014/main" id="{146BC79E-64BA-1540-725F-247A60504C41}"/>
              </a:ext>
            </a:extLst>
          </p:cNvPr>
          <p:cNvSpPr txBox="1"/>
          <p:nvPr/>
        </p:nvSpPr>
        <p:spPr>
          <a:xfrm>
            <a:off x="1760834"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35" name="TextBox 34">
            <a:extLst>
              <a:ext uri="{FF2B5EF4-FFF2-40B4-BE49-F238E27FC236}">
                <a16:creationId xmlns:a16="http://schemas.microsoft.com/office/drawing/2014/main" id="{E8132D3C-1B16-7E06-086C-C13E5BB134D7}"/>
              </a:ext>
            </a:extLst>
          </p:cNvPr>
          <p:cNvSpPr txBox="1"/>
          <p:nvPr/>
        </p:nvSpPr>
        <p:spPr>
          <a:xfrm>
            <a:off x="1403431"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sp>
        <p:nvSpPr>
          <p:cNvPr id="2" name="Rounded Rectangle 1">
            <a:extLst>
              <a:ext uri="{FF2B5EF4-FFF2-40B4-BE49-F238E27FC236}">
                <a16:creationId xmlns:a16="http://schemas.microsoft.com/office/drawing/2014/main" id="{46ACC50B-88E0-1311-888D-351377B7BE3F}"/>
              </a:ext>
            </a:extLst>
          </p:cNvPr>
          <p:cNvSpPr/>
          <p:nvPr/>
        </p:nvSpPr>
        <p:spPr>
          <a:xfrm>
            <a:off x="916612" y="2662165"/>
            <a:ext cx="4568398" cy="2470023"/>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TextBox 41">
            <a:extLst>
              <a:ext uri="{FF2B5EF4-FFF2-40B4-BE49-F238E27FC236}">
                <a16:creationId xmlns:a16="http://schemas.microsoft.com/office/drawing/2014/main" id="{5C3A2F2F-0AC0-4BA9-ECB2-33ED97B83E44}"/>
              </a:ext>
            </a:extLst>
          </p:cNvPr>
          <p:cNvSpPr txBox="1"/>
          <p:nvPr/>
        </p:nvSpPr>
        <p:spPr>
          <a:xfrm>
            <a:off x="5447939" y="3566847"/>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6" name="TextBox 45">
            <a:extLst>
              <a:ext uri="{FF2B5EF4-FFF2-40B4-BE49-F238E27FC236}">
                <a16:creationId xmlns:a16="http://schemas.microsoft.com/office/drawing/2014/main" id="{A8E4B733-F667-02F4-938B-6CE5F3DFA517}"/>
              </a:ext>
            </a:extLst>
          </p:cNvPr>
          <p:cNvSpPr txBox="1"/>
          <p:nvPr/>
        </p:nvSpPr>
        <p:spPr>
          <a:xfrm rot="10800000">
            <a:off x="523685" y="3520460"/>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8" name="Rounded Rectangle 47">
            <a:extLst>
              <a:ext uri="{FF2B5EF4-FFF2-40B4-BE49-F238E27FC236}">
                <a16:creationId xmlns:a16="http://schemas.microsoft.com/office/drawing/2014/main" id="{D3B6E25D-5D25-0F79-925E-D96F87B17B52}"/>
              </a:ext>
            </a:extLst>
          </p:cNvPr>
          <p:cNvSpPr/>
          <p:nvPr/>
        </p:nvSpPr>
        <p:spPr>
          <a:xfrm>
            <a:off x="2437919" y="2273538"/>
            <a:ext cx="1532292" cy="324066"/>
          </a:xfrm>
          <a:prstGeom prst="roundRect">
            <a:avLst/>
          </a:prstGeom>
          <a:solidFill>
            <a:srgbClr val="D9E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Leaps⌄</a:t>
            </a:r>
          </a:p>
        </p:txBody>
      </p:sp>
      <p:cxnSp>
        <p:nvCxnSpPr>
          <p:cNvPr id="50" name="Straight Connector 49">
            <a:extLst>
              <a:ext uri="{FF2B5EF4-FFF2-40B4-BE49-F238E27FC236}">
                <a16:creationId xmlns:a16="http://schemas.microsoft.com/office/drawing/2014/main" id="{0B1C9ADE-60D4-6694-DC28-98792EE0C5FB}"/>
              </a:ext>
            </a:extLst>
          </p:cNvPr>
          <p:cNvCxnSpPr/>
          <p:nvPr/>
        </p:nvCxnSpPr>
        <p:spPr>
          <a:xfrm>
            <a:off x="2431203" y="2568553"/>
            <a:ext cx="1451611" cy="0"/>
          </a:xfrm>
          <a:prstGeom prst="line">
            <a:avLst/>
          </a:prstGeom>
          <a:ln>
            <a:solidFill>
              <a:srgbClr val="1A6A24"/>
            </a:solidFill>
          </a:ln>
        </p:spPr>
        <p:style>
          <a:lnRef idx="2">
            <a:schemeClr val="accent1"/>
          </a:lnRef>
          <a:fillRef idx="0">
            <a:schemeClr val="accent1"/>
          </a:fillRef>
          <a:effectRef idx="1">
            <a:schemeClr val="accent1"/>
          </a:effectRef>
          <a:fontRef idx="minor">
            <a:schemeClr val="tx1"/>
          </a:fontRef>
        </p:style>
      </p:cxnSp>
      <p:sp>
        <p:nvSpPr>
          <p:cNvPr id="3" name="Google Shape;21536;p354">
            <a:extLst>
              <a:ext uri="{FF2B5EF4-FFF2-40B4-BE49-F238E27FC236}">
                <a16:creationId xmlns:a16="http://schemas.microsoft.com/office/drawing/2014/main" id="{F4E9D2A1-8590-604B-5376-46B39EC482C8}"/>
              </a:ext>
            </a:extLst>
          </p:cNvPr>
          <p:cNvSpPr txBox="1"/>
          <p:nvPr/>
        </p:nvSpPr>
        <p:spPr>
          <a:xfrm>
            <a:off x="1211087" y="2820049"/>
            <a:ext cx="4233978" cy="2290181"/>
          </a:xfrm>
          <a:prstGeom prst="rect">
            <a:avLst/>
          </a:prstGeom>
          <a:noFill/>
          <a:ln>
            <a:noFill/>
          </a:ln>
        </p:spPr>
        <p:txBody>
          <a:bodyPr spcFirstLastPara="1" wrap="square" lIns="112400" tIns="56167" rIns="112400" bIns="56167" anchor="t" anchorCtr="0">
            <a:spAutoFit/>
          </a:bodyPr>
          <a:lstStyle/>
          <a:p>
            <a:pPr>
              <a:lnSpc>
                <a:spcPct val="115000"/>
              </a:lnSpc>
            </a:pPr>
            <a:r>
              <a:rPr lang="en-US" sz="1200" b="1" dirty="0"/>
              <a:t>Whole Child 	</a:t>
            </a:r>
            <a:r>
              <a:rPr lang="en-US" sz="1200" dirty="0"/>
              <a:t>(High)</a:t>
            </a:r>
          </a:p>
          <a:p>
            <a:pPr>
              <a:lnSpc>
                <a:spcPct val="115000"/>
              </a:lnSpc>
            </a:pPr>
            <a:r>
              <a:rPr lang="en-US" sz="1050" dirty="0"/>
              <a:t>Description of how Algebra applies to this component</a:t>
            </a:r>
          </a:p>
          <a:p>
            <a:pPr marL="58738" indent="-58738">
              <a:lnSpc>
                <a:spcPct val="115000"/>
              </a:lnSpc>
              <a:buFont typeface="Arial" panose="020B0604020202020204" pitchFamily="34" charset="0"/>
              <a:buChar char="•"/>
            </a:pPr>
            <a:endParaRPr lang="en-US" sz="1050" dirty="0"/>
          </a:p>
          <a:p>
            <a:pPr marL="58738" indent="-58738">
              <a:lnSpc>
                <a:spcPct val="115000"/>
              </a:lnSpc>
              <a:buFont typeface="Arial" panose="020B0604020202020204" pitchFamily="34" charset="0"/>
              <a:buChar char="•"/>
            </a:pPr>
            <a:endParaRPr lang="en-US" sz="1050" dirty="0"/>
          </a:p>
          <a:p>
            <a:pPr>
              <a:lnSpc>
                <a:spcPct val="115000"/>
              </a:lnSpc>
            </a:pPr>
            <a:r>
              <a:rPr lang="en-US" sz="1200" b="1" dirty="0"/>
              <a:t>Customization </a:t>
            </a:r>
            <a:r>
              <a:rPr lang="en-US" sz="1200" dirty="0"/>
              <a:t>(Medium)</a:t>
            </a:r>
          </a:p>
          <a:p>
            <a:pPr>
              <a:lnSpc>
                <a:spcPct val="115000"/>
              </a:lnSpc>
            </a:pPr>
            <a:r>
              <a:rPr lang="en-US" sz="1050" dirty="0"/>
              <a:t>Description of how Customization applies to this component</a:t>
            </a:r>
          </a:p>
          <a:p>
            <a:pPr>
              <a:lnSpc>
                <a:spcPct val="115000"/>
              </a:lnSpc>
            </a:pPr>
            <a:endParaRPr lang="en-US" sz="1200" b="1" dirty="0"/>
          </a:p>
          <a:p>
            <a:pPr>
              <a:lnSpc>
                <a:spcPct val="115000"/>
              </a:lnSpc>
            </a:pPr>
            <a:endParaRPr lang="en-US" sz="1200" b="1" dirty="0"/>
          </a:p>
          <a:p>
            <a:pPr>
              <a:lnSpc>
                <a:spcPct val="115000"/>
              </a:lnSpc>
            </a:pPr>
            <a:r>
              <a:rPr lang="en-US" sz="1200" b="1" dirty="0"/>
              <a:t>High Expectations &amp; Rigorous Learning  </a:t>
            </a:r>
            <a:r>
              <a:rPr lang="en-US" sz="1200" dirty="0"/>
              <a:t>(Medium)</a:t>
            </a:r>
          </a:p>
          <a:p>
            <a:pPr>
              <a:lnSpc>
                <a:spcPct val="115000"/>
              </a:lnSpc>
            </a:pPr>
            <a:r>
              <a:rPr lang="en-US" sz="1050" dirty="0"/>
              <a:t>Description of how High Expectations applies to this component</a:t>
            </a:r>
          </a:p>
          <a:p>
            <a:pPr>
              <a:lnSpc>
                <a:spcPct val="115000"/>
              </a:lnSpc>
            </a:pPr>
            <a:endParaRPr sz="1050" dirty="0"/>
          </a:p>
        </p:txBody>
      </p:sp>
      <p:grpSp>
        <p:nvGrpSpPr>
          <p:cNvPr id="25" name="Google Shape;21512;p354">
            <a:extLst>
              <a:ext uri="{FF2B5EF4-FFF2-40B4-BE49-F238E27FC236}">
                <a16:creationId xmlns:a16="http://schemas.microsoft.com/office/drawing/2014/main" id="{79C960D2-056D-3828-4735-94DAC51CA442}"/>
              </a:ext>
            </a:extLst>
          </p:cNvPr>
          <p:cNvGrpSpPr/>
          <p:nvPr/>
        </p:nvGrpSpPr>
        <p:grpSpPr>
          <a:xfrm>
            <a:off x="2229571" y="898661"/>
            <a:ext cx="2011437" cy="1354357"/>
            <a:chOff x="7996645" y="4997800"/>
            <a:chExt cx="1742072" cy="1489829"/>
          </a:xfrm>
        </p:grpSpPr>
        <p:sp>
          <p:nvSpPr>
            <p:cNvPr id="26" name="Google Shape;21513;p354">
              <a:extLst>
                <a:ext uri="{FF2B5EF4-FFF2-40B4-BE49-F238E27FC236}">
                  <a16:creationId xmlns:a16="http://schemas.microsoft.com/office/drawing/2014/main" id="{60A873BC-DB65-CF6B-73B1-636DA8067CFC}"/>
                </a:ext>
              </a:extLst>
            </p:cNvPr>
            <p:cNvSpPr txBox="1"/>
            <p:nvPr/>
          </p:nvSpPr>
          <p:spPr>
            <a:xfrm>
              <a:off x="7996645" y="5041112"/>
              <a:ext cx="1545903" cy="1446517"/>
            </a:xfrm>
            <a:prstGeom prst="rect">
              <a:avLst/>
            </a:prstGeom>
            <a:noFill/>
            <a:ln>
              <a:noFill/>
            </a:ln>
          </p:spPr>
          <p:txBody>
            <a:bodyPr spcFirstLastPara="1" wrap="square" lIns="83067" tIns="41533" rIns="83067" bIns="41533" anchor="t" anchorCtr="0">
              <a:spAutoFit/>
            </a:bodyPr>
            <a:lstStyle/>
            <a:p>
              <a:r>
                <a:rPr lang="en" sz="4000" dirty="0">
                  <a:solidFill>
                    <a:srgbClr val="000000"/>
                  </a:solidFill>
                  <a:latin typeface="Arial"/>
                  <a:ea typeface="Arial"/>
                  <a:cs typeface="Arial"/>
                  <a:sym typeface="Arial"/>
                </a:rPr>
                <a:t>• • • • •               </a:t>
              </a:r>
              <a:endParaRPr sz="2400" dirty="0"/>
            </a:p>
          </p:txBody>
        </p:sp>
        <p:sp>
          <p:nvSpPr>
            <p:cNvPr id="31" name="Google Shape;21514;p354">
              <a:extLst>
                <a:ext uri="{FF2B5EF4-FFF2-40B4-BE49-F238E27FC236}">
                  <a16:creationId xmlns:a16="http://schemas.microsoft.com/office/drawing/2014/main" id="{0EB23859-2449-D7FF-AFB6-2850BF8E2E83}"/>
                </a:ext>
              </a:extLst>
            </p:cNvPr>
            <p:cNvSpPr txBox="1"/>
            <p:nvPr/>
          </p:nvSpPr>
          <p:spPr>
            <a:xfrm>
              <a:off x="8849517" y="4997800"/>
              <a:ext cx="889200" cy="1175667"/>
            </a:xfrm>
            <a:prstGeom prst="rect">
              <a:avLst/>
            </a:prstGeom>
            <a:noFill/>
            <a:ln>
              <a:noFill/>
            </a:ln>
          </p:spPr>
          <p:txBody>
            <a:bodyPr spcFirstLastPara="1" wrap="square" lIns="83067" tIns="41533" rIns="83067" bIns="41533" anchor="t" anchorCtr="0">
              <a:spAutoFit/>
            </a:bodyPr>
            <a:lstStyle/>
            <a:p>
              <a:r>
                <a:rPr lang="en" sz="3600" dirty="0">
                  <a:solidFill>
                    <a:srgbClr val="000000"/>
                  </a:solidFill>
                  <a:latin typeface="Arial"/>
                  <a:ea typeface="Arial"/>
                  <a:cs typeface="Arial"/>
                  <a:sym typeface="Arial"/>
                </a:rPr>
                <a:t>   </a:t>
              </a:r>
              <a:r>
                <a:rPr lang="en" sz="1600" dirty="0">
                  <a:solidFill>
                    <a:srgbClr val="000000"/>
                  </a:solidFill>
                  <a:latin typeface="Arial"/>
                  <a:ea typeface="Arial"/>
                  <a:cs typeface="Arial"/>
                  <a:sym typeface="Arial"/>
                </a:rPr>
                <a:t>  </a:t>
              </a:r>
              <a:r>
                <a:rPr lang="en" sz="2800" dirty="0">
                  <a:solidFill>
                    <a:srgbClr val="000000"/>
                  </a:solidFill>
                  <a:latin typeface="Arial"/>
                  <a:ea typeface="Arial"/>
                  <a:cs typeface="Arial"/>
                  <a:sym typeface="Arial"/>
                </a:rPr>
                <a:t> ○</a:t>
              </a:r>
              <a:endParaRPr sz="3600" dirty="0"/>
            </a:p>
          </p:txBody>
        </p:sp>
      </p:grpSp>
      <p:sp>
        <p:nvSpPr>
          <p:cNvPr id="33" name="Google Shape;21506;p354">
            <a:extLst>
              <a:ext uri="{FF2B5EF4-FFF2-40B4-BE49-F238E27FC236}">
                <a16:creationId xmlns:a16="http://schemas.microsoft.com/office/drawing/2014/main" id="{452E417B-816D-7FD7-80C1-D6D1495AA560}"/>
              </a:ext>
            </a:extLst>
          </p:cNvPr>
          <p:cNvSpPr txBox="1"/>
          <p:nvPr/>
        </p:nvSpPr>
        <p:spPr>
          <a:xfrm>
            <a:off x="2656215" y="6268020"/>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pic>
        <p:nvPicPr>
          <p:cNvPr id="36" name="Google Shape;2017;p43">
            <a:extLst>
              <a:ext uri="{FF2B5EF4-FFF2-40B4-BE49-F238E27FC236}">
                <a16:creationId xmlns:a16="http://schemas.microsoft.com/office/drawing/2014/main" id="{80EE7C7D-7E8C-DB7B-1D26-C133F5130C80}"/>
              </a:ext>
            </a:extLst>
          </p:cNvPr>
          <p:cNvPicPr preferRelativeResize="0"/>
          <p:nvPr/>
        </p:nvPicPr>
        <p:blipFill rotWithShape="1">
          <a:blip r:embed="rId4">
            <a:alphaModFix/>
          </a:blip>
          <a:srcRect t="57094"/>
          <a:stretch/>
        </p:blipFill>
        <p:spPr>
          <a:xfrm rot="10800000">
            <a:off x="2157167" y="6188910"/>
            <a:ext cx="568466" cy="244066"/>
          </a:xfrm>
          <a:prstGeom prst="rect">
            <a:avLst/>
          </a:prstGeom>
          <a:noFill/>
          <a:ln>
            <a:noFill/>
          </a:ln>
        </p:spPr>
      </p:pic>
      <p:sp>
        <p:nvSpPr>
          <p:cNvPr id="39" name="Google Shape;2019;p43">
            <a:extLst>
              <a:ext uri="{FF2B5EF4-FFF2-40B4-BE49-F238E27FC236}">
                <a16:creationId xmlns:a16="http://schemas.microsoft.com/office/drawing/2014/main" id="{3748B7DC-5028-E1A6-0E87-FB01F05556FA}"/>
              </a:ext>
            </a:extLst>
          </p:cNvPr>
          <p:cNvSpPr/>
          <p:nvPr/>
        </p:nvSpPr>
        <p:spPr>
          <a:xfrm>
            <a:off x="2372635" y="6313995"/>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 name="Google Shape;21510;p354">
            <a:extLst>
              <a:ext uri="{FF2B5EF4-FFF2-40B4-BE49-F238E27FC236}">
                <a16:creationId xmlns:a16="http://schemas.microsoft.com/office/drawing/2014/main" id="{225C049B-CCB0-1DD3-0469-323D645C0AAD}"/>
              </a:ext>
            </a:extLst>
          </p:cNvPr>
          <p:cNvSpPr txBox="1"/>
          <p:nvPr/>
        </p:nvSpPr>
        <p:spPr>
          <a:xfrm>
            <a:off x="1673753" y="5238864"/>
            <a:ext cx="1500866"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Learning &amp; Advancement</a:t>
            </a:r>
            <a:endParaRPr sz="1400" dirty="0"/>
          </a:p>
        </p:txBody>
      </p:sp>
      <p:sp>
        <p:nvSpPr>
          <p:cNvPr id="41" name="Google Shape;21511;p354">
            <a:extLst>
              <a:ext uri="{FF2B5EF4-FFF2-40B4-BE49-F238E27FC236}">
                <a16:creationId xmlns:a16="http://schemas.microsoft.com/office/drawing/2014/main" id="{352DEF07-04ED-D53C-0222-97E7986DF523}"/>
              </a:ext>
            </a:extLst>
          </p:cNvPr>
          <p:cNvSpPr txBox="1"/>
          <p:nvPr/>
        </p:nvSpPr>
        <p:spPr>
          <a:xfrm>
            <a:off x="3307992" y="5228962"/>
            <a:ext cx="1364424"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Engagement </a:t>
            </a:r>
          </a:p>
          <a:p>
            <a:pPr algn="ctr"/>
            <a:r>
              <a:rPr lang="en" sz="1400" dirty="0"/>
              <a:t>&amp; Wellbeing</a:t>
            </a:r>
            <a:endParaRPr sz="1400" dirty="0"/>
          </a:p>
        </p:txBody>
      </p:sp>
      <p:sp>
        <p:nvSpPr>
          <p:cNvPr id="43" name="Google Shape;123;p25">
            <a:extLst>
              <a:ext uri="{FF2B5EF4-FFF2-40B4-BE49-F238E27FC236}">
                <a16:creationId xmlns:a16="http://schemas.microsoft.com/office/drawing/2014/main" id="{DA56BB39-77A5-957C-29ED-82B9333EDCFD}"/>
              </a:ext>
            </a:extLst>
          </p:cNvPr>
          <p:cNvSpPr/>
          <p:nvPr/>
        </p:nvSpPr>
        <p:spPr>
          <a:xfrm>
            <a:off x="1989798" y="5719937"/>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44" name="TextBox 43">
            <a:extLst>
              <a:ext uri="{FF2B5EF4-FFF2-40B4-BE49-F238E27FC236}">
                <a16:creationId xmlns:a16="http://schemas.microsoft.com/office/drawing/2014/main" id="{6A925969-AEBC-51D3-C98E-66542E92223B}"/>
              </a:ext>
            </a:extLst>
          </p:cNvPr>
          <p:cNvSpPr txBox="1"/>
          <p:nvPr/>
        </p:nvSpPr>
        <p:spPr>
          <a:xfrm>
            <a:off x="2811945" y="5749245"/>
            <a:ext cx="780303"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45" name="Google Shape;122;p25">
            <a:extLst>
              <a:ext uri="{FF2B5EF4-FFF2-40B4-BE49-F238E27FC236}">
                <a16:creationId xmlns:a16="http://schemas.microsoft.com/office/drawing/2014/main" id="{5B0C0D8F-725B-22B9-34A8-B84AAD7AEABD}"/>
              </a:ext>
            </a:extLst>
          </p:cNvPr>
          <p:cNvSpPr/>
          <p:nvPr/>
        </p:nvSpPr>
        <p:spPr>
          <a:xfrm>
            <a:off x="3558359" y="5714838"/>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cxnSp>
        <p:nvCxnSpPr>
          <p:cNvPr id="47" name="Straight Arrow Connector 46">
            <a:extLst>
              <a:ext uri="{FF2B5EF4-FFF2-40B4-BE49-F238E27FC236}">
                <a16:creationId xmlns:a16="http://schemas.microsoft.com/office/drawing/2014/main" id="{95A7799B-5217-E0F0-2187-92E1280D600C}"/>
              </a:ext>
            </a:extLst>
          </p:cNvPr>
          <p:cNvCxnSpPr>
            <a:cxnSpLocks/>
          </p:cNvCxnSpPr>
          <p:nvPr/>
        </p:nvCxnSpPr>
        <p:spPr>
          <a:xfrm flipH="1">
            <a:off x="2795248" y="5132188"/>
            <a:ext cx="344019"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987C89B7-5576-255A-3C6E-481BD92B4F53}"/>
              </a:ext>
            </a:extLst>
          </p:cNvPr>
          <p:cNvCxnSpPr>
            <a:cxnSpLocks/>
          </p:cNvCxnSpPr>
          <p:nvPr/>
        </p:nvCxnSpPr>
        <p:spPr>
          <a:xfrm>
            <a:off x="3139267" y="5132188"/>
            <a:ext cx="357548"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 name="Rounded Rectangle 3">
            <a:extLst>
              <a:ext uri="{FF2B5EF4-FFF2-40B4-BE49-F238E27FC236}">
                <a16:creationId xmlns:a16="http://schemas.microsoft.com/office/drawing/2014/main" id="{0136B019-2EB7-8391-6E47-133BD12951E7}"/>
              </a:ext>
            </a:extLst>
          </p:cNvPr>
          <p:cNvSpPr/>
          <p:nvPr/>
        </p:nvSpPr>
        <p:spPr>
          <a:xfrm>
            <a:off x="1335648" y="3332844"/>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6" name="Rounded Rectangle 5">
            <a:extLst>
              <a:ext uri="{FF2B5EF4-FFF2-40B4-BE49-F238E27FC236}">
                <a16:creationId xmlns:a16="http://schemas.microsoft.com/office/drawing/2014/main" id="{A75AB1D7-7710-035C-9B83-4ED1143FF51A}"/>
              </a:ext>
            </a:extLst>
          </p:cNvPr>
          <p:cNvSpPr/>
          <p:nvPr/>
        </p:nvSpPr>
        <p:spPr>
          <a:xfrm>
            <a:off x="2509477" y="3341158"/>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11" name="Rounded Rectangle 10">
            <a:extLst>
              <a:ext uri="{FF2B5EF4-FFF2-40B4-BE49-F238E27FC236}">
                <a16:creationId xmlns:a16="http://schemas.microsoft.com/office/drawing/2014/main" id="{1AA1F867-03C9-B661-FE48-7A33B684DA6C}"/>
              </a:ext>
            </a:extLst>
          </p:cNvPr>
          <p:cNvSpPr/>
          <p:nvPr/>
        </p:nvSpPr>
        <p:spPr>
          <a:xfrm>
            <a:off x="3683306" y="3338398"/>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12" name="Rounded Rectangle 11">
            <a:extLst>
              <a:ext uri="{FF2B5EF4-FFF2-40B4-BE49-F238E27FC236}">
                <a16:creationId xmlns:a16="http://schemas.microsoft.com/office/drawing/2014/main" id="{AA83E429-2298-4085-353F-84694B871329}"/>
              </a:ext>
            </a:extLst>
          </p:cNvPr>
          <p:cNvSpPr/>
          <p:nvPr/>
        </p:nvSpPr>
        <p:spPr>
          <a:xfrm>
            <a:off x="1335648" y="4128531"/>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13" name="Rounded Rectangle 12">
            <a:extLst>
              <a:ext uri="{FF2B5EF4-FFF2-40B4-BE49-F238E27FC236}">
                <a16:creationId xmlns:a16="http://schemas.microsoft.com/office/drawing/2014/main" id="{88301EB6-632F-8019-5E75-9E3487D4BC21}"/>
              </a:ext>
            </a:extLst>
          </p:cNvPr>
          <p:cNvSpPr/>
          <p:nvPr/>
        </p:nvSpPr>
        <p:spPr>
          <a:xfrm>
            <a:off x="2509477" y="4136845"/>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Tree>
    <p:extLst>
      <p:ext uri="{BB962C8B-B14F-4D97-AF65-F5344CB8AC3E}">
        <p14:creationId xmlns:p14="http://schemas.microsoft.com/office/powerpoint/2010/main" val="39496744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2BCBB-FAE6-C853-BFB5-28679D29DD0D}"/>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0CA7DD75-BF7D-E890-9213-69BE53ADA857}"/>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4EAD7252-4784-F0DA-9E4D-5CCE93E54CD7}"/>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7" name="Google Shape;21509;p354">
            <a:extLst>
              <a:ext uri="{FF2B5EF4-FFF2-40B4-BE49-F238E27FC236}">
                <a16:creationId xmlns:a16="http://schemas.microsoft.com/office/drawing/2014/main" id="{AA6C20BF-3E66-25C0-8913-F7214FD7BD83}"/>
              </a:ext>
            </a:extLst>
          </p:cNvPr>
          <p:cNvSpPr txBox="1"/>
          <p:nvPr/>
        </p:nvSpPr>
        <p:spPr>
          <a:xfrm>
            <a:off x="1760834"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35" name="TextBox 34">
            <a:extLst>
              <a:ext uri="{FF2B5EF4-FFF2-40B4-BE49-F238E27FC236}">
                <a16:creationId xmlns:a16="http://schemas.microsoft.com/office/drawing/2014/main" id="{3AF01E33-BD2A-914D-C30D-FABCB6DB83DB}"/>
              </a:ext>
            </a:extLst>
          </p:cNvPr>
          <p:cNvSpPr txBox="1"/>
          <p:nvPr/>
        </p:nvSpPr>
        <p:spPr>
          <a:xfrm>
            <a:off x="1403431"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sp>
        <p:nvSpPr>
          <p:cNvPr id="2" name="Rounded Rectangle 1">
            <a:extLst>
              <a:ext uri="{FF2B5EF4-FFF2-40B4-BE49-F238E27FC236}">
                <a16:creationId xmlns:a16="http://schemas.microsoft.com/office/drawing/2014/main" id="{D65E0E4A-7F9C-4D07-973F-77B991D9EF71}"/>
              </a:ext>
            </a:extLst>
          </p:cNvPr>
          <p:cNvSpPr/>
          <p:nvPr/>
        </p:nvSpPr>
        <p:spPr>
          <a:xfrm>
            <a:off x="916612" y="2662165"/>
            <a:ext cx="4568398" cy="2470023"/>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TextBox 41">
            <a:extLst>
              <a:ext uri="{FF2B5EF4-FFF2-40B4-BE49-F238E27FC236}">
                <a16:creationId xmlns:a16="http://schemas.microsoft.com/office/drawing/2014/main" id="{C009980C-782F-303B-61C7-0EDEEDB844BA}"/>
              </a:ext>
            </a:extLst>
          </p:cNvPr>
          <p:cNvSpPr txBox="1"/>
          <p:nvPr/>
        </p:nvSpPr>
        <p:spPr>
          <a:xfrm>
            <a:off x="5447939" y="3566847"/>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6" name="TextBox 45">
            <a:extLst>
              <a:ext uri="{FF2B5EF4-FFF2-40B4-BE49-F238E27FC236}">
                <a16:creationId xmlns:a16="http://schemas.microsoft.com/office/drawing/2014/main" id="{CEF2F41E-6542-ED89-3EBE-E6C66D32EFAF}"/>
              </a:ext>
            </a:extLst>
          </p:cNvPr>
          <p:cNvSpPr txBox="1"/>
          <p:nvPr/>
        </p:nvSpPr>
        <p:spPr>
          <a:xfrm rot="10800000">
            <a:off x="523685" y="3520460"/>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8" name="Rounded Rectangle 47">
            <a:extLst>
              <a:ext uri="{FF2B5EF4-FFF2-40B4-BE49-F238E27FC236}">
                <a16:creationId xmlns:a16="http://schemas.microsoft.com/office/drawing/2014/main" id="{B87CCB41-CB24-CE43-E425-2B031063673B}"/>
              </a:ext>
            </a:extLst>
          </p:cNvPr>
          <p:cNvSpPr/>
          <p:nvPr/>
        </p:nvSpPr>
        <p:spPr>
          <a:xfrm>
            <a:off x="1711064" y="2262249"/>
            <a:ext cx="2986003" cy="324066"/>
          </a:xfrm>
          <a:prstGeom prst="roundRect">
            <a:avLst/>
          </a:prstGeom>
          <a:solidFill>
            <a:srgbClr val="D9E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Practices &amp; Approaches⌄</a:t>
            </a:r>
          </a:p>
        </p:txBody>
      </p:sp>
      <p:cxnSp>
        <p:nvCxnSpPr>
          <p:cNvPr id="50" name="Straight Connector 49">
            <a:extLst>
              <a:ext uri="{FF2B5EF4-FFF2-40B4-BE49-F238E27FC236}">
                <a16:creationId xmlns:a16="http://schemas.microsoft.com/office/drawing/2014/main" id="{88CB6F9E-8951-0B51-6368-D9E5354D5D32}"/>
              </a:ext>
            </a:extLst>
          </p:cNvPr>
          <p:cNvCxnSpPr/>
          <p:nvPr/>
        </p:nvCxnSpPr>
        <p:spPr>
          <a:xfrm>
            <a:off x="1988092" y="2568553"/>
            <a:ext cx="2337833" cy="0"/>
          </a:xfrm>
          <a:prstGeom prst="line">
            <a:avLst/>
          </a:prstGeom>
          <a:ln>
            <a:solidFill>
              <a:srgbClr val="1A6A24"/>
            </a:solidFill>
          </a:ln>
        </p:spPr>
        <p:style>
          <a:lnRef idx="2">
            <a:schemeClr val="accent1"/>
          </a:lnRef>
          <a:fillRef idx="0">
            <a:schemeClr val="accent1"/>
          </a:fillRef>
          <a:effectRef idx="1">
            <a:schemeClr val="accent1"/>
          </a:effectRef>
          <a:fontRef idx="minor">
            <a:schemeClr val="tx1"/>
          </a:fontRef>
        </p:style>
      </p:cxnSp>
      <p:sp>
        <p:nvSpPr>
          <p:cNvPr id="3" name="Google Shape;21536;p354">
            <a:extLst>
              <a:ext uri="{FF2B5EF4-FFF2-40B4-BE49-F238E27FC236}">
                <a16:creationId xmlns:a16="http://schemas.microsoft.com/office/drawing/2014/main" id="{6FBCB5FB-C4AC-A793-CE25-3EEBD9C15BDA}"/>
              </a:ext>
            </a:extLst>
          </p:cNvPr>
          <p:cNvSpPr txBox="1"/>
          <p:nvPr/>
        </p:nvSpPr>
        <p:spPr>
          <a:xfrm>
            <a:off x="1211087" y="2820049"/>
            <a:ext cx="4233978" cy="1281443"/>
          </a:xfrm>
          <a:prstGeom prst="rect">
            <a:avLst/>
          </a:prstGeom>
          <a:noFill/>
          <a:ln>
            <a:noFill/>
          </a:ln>
        </p:spPr>
        <p:txBody>
          <a:bodyPr spcFirstLastPara="1" wrap="square" lIns="112400" tIns="56167" rIns="112400" bIns="56167" anchor="t" anchorCtr="0">
            <a:spAutoFit/>
          </a:bodyPr>
          <a:lstStyle/>
          <a:p>
            <a:pPr>
              <a:lnSpc>
                <a:spcPct val="115000"/>
              </a:lnSpc>
            </a:pPr>
            <a:r>
              <a:rPr lang="en-US" sz="1200" b="1" dirty="0"/>
              <a:t>Key Practice #1</a:t>
            </a:r>
          </a:p>
          <a:p>
            <a:pPr>
              <a:lnSpc>
                <a:spcPct val="115000"/>
              </a:lnSpc>
            </a:pPr>
            <a:r>
              <a:rPr lang="en-US" sz="1050" dirty="0"/>
              <a:t>Description of how Practice applies to this component</a:t>
            </a:r>
          </a:p>
          <a:p>
            <a:pPr marL="58738" indent="-58738">
              <a:lnSpc>
                <a:spcPct val="115000"/>
              </a:lnSpc>
              <a:buFont typeface="Arial" panose="020B0604020202020204" pitchFamily="34" charset="0"/>
              <a:buChar char="•"/>
            </a:pPr>
            <a:endParaRPr lang="en-US" sz="1050" dirty="0"/>
          </a:p>
          <a:p>
            <a:pPr marL="58738" indent="-58738">
              <a:lnSpc>
                <a:spcPct val="115000"/>
              </a:lnSpc>
              <a:buFont typeface="Arial" panose="020B0604020202020204" pitchFamily="34" charset="0"/>
              <a:buChar char="•"/>
            </a:pPr>
            <a:endParaRPr lang="en-US" sz="1050" dirty="0"/>
          </a:p>
          <a:p>
            <a:pPr>
              <a:lnSpc>
                <a:spcPct val="115000"/>
              </a:lnSpc>
            </a:pPr>
            <a:r>
              <a:rPr lang="en-US" sz="1200" b="1" dirty="0"/>
              <a:t>Key Practice #2</a:t>
            </a:r>
          </a:p>
          <a:p>
            <a:pPr>
              <a:lnSpc>
                <a:spcPct val="115000"/>
              </a:lnSpc>
            </a:pPr>
            <a:r>
              <a:rPr lang="en-US" sz="1050" dirty="0"/>
              <a:t>Description of how this practices applies to this component</a:t>
            </a:r>
          </a:p>
        </p:txBody>
      </p:sp>
      <p:sp>
        <p:nvSpPr>
          <p:cNvPr id="5" name="Rounded Rectangle 4">
            <a:extLst>
              <a:ext uri="{FF2B5EF4-FFF2-40B4-BE49-F238E27FC236}">
                <a16:creationId xmlns:a16="http://schemas.microsoft.com/office/drawing/2014/main" id="{3C64397B-1F9B-ED29-D00E-2D59D1F5583D}"/>
              </a:ext>
            </a:extLst>
          </p:cNvPr>
          <p:cNvSpPr/>
          <p:nvPr/>
        </p:nvSpPr>
        <p:spPr>
          <a:xfrm>
            <a:off x="1335648" y="3321555"/>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7" name="Rounded Rectangle 6">
            <a:extLst>
              <a:ext uri="{FF2B5EF4-FFF2-40B4-BE49-F238E27FC236}">
                <a16:creationId xmlns:a16="http://schemas.microsoft.com/office/drawing/2014/main" id="{B4ABAB4E-3E01-DC74-210A-4B472F1D732E}"/>
              </a:ext>
            </a:extLst>
          </p:cNvPr>
          <p:cNvSpPr/>
          <p:nvPr/>
        </p:nvSpPr>
        <p:spPr>
          <a:xfrm>
            <a:off x="2509477" y="3329869"/>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8" name="Rounded Rectangle 7">
            <a:extLst>
              <a:ext uri="{FF2B5EF4-FFF2-40B4-BE49-F238E27FC236}">
                <a16:creationId xmlns:a16="http://schemas.microsoft.com/office/drawing/2014/main" id="{EBBCB827-9268-A4FC-0A7B-DB5CDC935009}"/>
              </a:ext>
            </a:extLst>
          </p:cNvPr>
          <p:cNvSpPr/>
          <p:nvPr/>
        </p:nvSpPr>
        <p:spPr>
          <a:xfrm>
            <a:off x="3683306" y="3327109"/>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grpSp>
        <p:nvGrpSpPr>
          <p:cNvPr id="25" name="Google Shape;21512;p354">
            <a:extLst>
              <a:ext uri="{FF2B5EF4-FFF2-40B4-BE49-F238E27FC236}">
                <a16:creationId xmlns:a16="http://schemas.microsoft.com/office/drawing/2014/main" id="{C09292F7-9776-277B-F7E8-A99DC1A9504A}"/>
              </a:ext>
            </a:extLst>
          </p:cNvPr>
          <p:cNvGrpSpPr/>
          <p:nvPr/>
        </p:nvGrpSpPr>
        <p:grpSpPr>
          <a:xfrm>
            <a:off x="2229571" y="898661"/>
            <a:ext cx="2011437" cy="1354357"/>
            <a:chOff x="7996645" y="4997800"/>
            <a:chExt cx="1742072" cy="1489829"/>
          </a:xfrm>
        </p:grpSpPr>
        <p:sp>
          <p:nvSpPr>
            <p:cNvPr id="26" name="Google Shape;21513;p354">
              <a:extLst>
                <a:ext uri="{FF2B5EF4-FFF2-40B4-BE49-F238E27FC236}">
                  <a16:creationId xmlns:a16="http://schemas.microsoft.com/office/drawing/2014/main" id="{AADFB18D-F998-60C0-5B83-2D88418480C0}"/>
                </a:ext>
              </a:extLst>
            </p:cNvPr>
            <p:cNvSpPr txBox="1"/>
            <p:nvPr/>
          </p:nvSpPr>
          <p:spPr>
            <a:xfrm>
              <a:off x="7996645" y="5041112"/>
              <a:ext cx="1545903" cy="1446517"/>
            </a:xfrm>
            <a:prstGeom prst="rect">
              <a:avLst/>
            </a:prstGeom>
            <a:noFill/>
            <a:ln>
              <a:noFill/>
            </a:ln>
          </p:spPr>
          <p:txBody>
            <a:bodyPr spcFirstLastPara="1" wrap="square" lIns="83067" tIns="41533" rIns="83067" bIns="41533" anchor="t" anchorCtr="0">
              <a:spAutoFit/>
            </a:bodyPr>
            <a:lstStyle/>
            <a:p>
              <a:r>
                <a:rPr lang="en" sz="4000" dirty="0">
                  <a:solidFill>
                    <a:srgbClr val="000000"/>
                  </a:solidFill>
                  <a:latin typeface="Arial"/>
                  <a:ea typeface="Arial"/>
                  <a:cs typeface="Arial"/>
                  <a:sym typeface="Arial"/>
                </a:rPr>
                <a:t>• • • • •               </a:t>
              </a:r>
              <a:endParaRPr sz="2400" dirty="0"/>
            </a:p>
          </p:txBody>
        </p:sp>
        <p:sp>
          <p:nvSpPr>
            <p:cNvPr id="31" name="Google Shape;21514;p354">
              <a:extLst>
                <a:ext uri="{FF2B5EF4-FFF2-40B4-BE49-F238E27FC236}">
                  <a16:creationId xmlns:a16="http://schemas.microsoft.com/office/drawing/2014/main" id="{A0C20B90-56FE-09C9-FD25-6B3B1FAC421F}"/>
                </a:ext>
              </a:extLst>
            </p:cNvPr>
            <p:cNvSpPr txBox="1"/>
            <p:nvPr/>
          </p:nvSpPr>
          <p:spPr>
            <a:xfrm>
              <a:off x="8849517" y="4997800"/>
              <a:ext cx="889200" cy="1175667"/>
            </a:xfrm>
            <a:prstGeom prst="rect">
              <a:avLst/>
            </a:prstGeom>
            <a:noFill/>
            <a:ln>
              <a:noFill/>
            </a:ln>
          </p:spPr>
          <p:txBody>
            <a:bodyPr spcFirstLastPara="1" wrap="square" lIns="83067" tIns="41533" rIns="83067" bIns="41533" anchor="t" anchorCtr="0">
              <a:spAutoFit/>
            </a:bodyPr>
            <a:lstStyle/>
            <a:p>
              <a:r>
                <a:rPr lang="en" sz="3600" dirty="0">
                  <a:solidFill>
                    <a:srgbClr val="000000"/>
                  </a:solidFill>
                  <a:latin typeface="Arial"/>
                  <a:ea typeface="Arial"/>
                  <a:cs typeface="Arial"/>
                  <a:sym typeface="Arial"/>
                </a:rPr>
                <a:t>   </a:t>
              </a:r>
              <a:r>
                <a:rPr lang="en" sz="1600" dirty="0">
                  <a:solidFill>
                    <a:srgbClr val="000000"/>
                  </a:solidFill>
                  <a:latin typeface="Arial"/>
                  <a:ea typeface="Arial"/>
                  <a:cs typeface="Arial"/>
                  <a:sym typeface="Arial"/>
                </a:rPr>
                <a:t>  </a:t>
              </a:r>
              <a:r>
                <a:rPr lang="en" sz="2800" dirty="0">
                  <a:solidFill>
                    <a:srgbClr val="000000"/>
                  </a:solidFill>
                  <a:latin typeface="Arial"/>
                  <a:ea typeface="Arial"/>
                  <a:cs typeface="Arial"/>
                  <a:sym typeface="Arial"/>
                </a:rPr>
                <a:t> ○</a:t>
              </a:r>
              <a:endParaRPr sz="3600" dirty="0"/>
            </a:p>
          </p:txBody>
        </p:sp>
      </p:grpSp>
      <p:sp>
        <p:nvSpPr>
          <p:cNvPr id="51" name="Google Shape;21506;p354">
            <a:extLst>
              <a:ext uri="{FF2B5EF4-FFF2-40B4-BE49-F238E27FC236}">
                <a16:creationId xmlns:a16="http://schemas.microsoft.com/office/drawing/2014/main" id="{CC0A3AD6-5ED9-779F-E2FA-5DA8CAB0B6F9}"/>
              </a:ext>
            </a:extLst>
          </p:cNvPr>
          <p:cNvSpPr txBox="1"/>
          <p:nvPr/>
        </p:nvSpPr>
        <p:spPr>
          <a:xfrm>
            <a:off x="2656215" y="6268020"/>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pic>
        <p:nvPicPr>
          <p:cNvPr id="52" name="Google Shape;2017;p43">
            <a:extLst>
              <a:ext uri="{FF2B5EF4-FFF2-40B4-BE49-F238E27FC236}">
                <a16:creationId xmlns:a16="http://schemas.microsoft.com/office/drawing/2014/main" id="{813CCA7B-386D-8985-2F6A-73A0601FBE58}"/>
              </a:ext>
            </a:extLst>
          </p:cNvPr>
          <p:cNvPicPr preferRelativeResize="0"/>
          <p:nvPr/>
        </p:nvPicPr>
        <p:blipFill rotWithShape="1">
          <a:blip r:embed="rId4">
            <a:alphaModFix/>
          </a:blip>
          <a:srcRect t="57094"/>
          <a:stretch/>
        </p:blipFill>
        <p:spPr>
          <a:xfrm rot="10800000">
            <a:off x="2157167" y="6188910"/>
            <a:ext cx="568466" cy="244066"/>
          </a:xfrm>
          <a:prstGeom prst="rect">
            <a:avLst/>
          </a:prstGeom>
          <a:noFill/>
          <a:ln>
            <a:noFill/>
          </a:ln>
        </p:spPr>
      </p:pic>
      <p:sp>
        <p:nvSpPr>
          <p:cNvPr id="53" name="Google Shape;2019;p43">
            <a:extLst>
              <a:ext uri="{FF2B5EF4-FFF2-40B4-BE49-F238E27FC236}">
                <a16:creationId xmlns:a16="http://schemas.microsoft.com/office/drawing/2014/main" id="{5E61205A-E755-361F-B15E-BA83A3CFA697}"/>
              </a:ext>
            </a:extLst>
          </p:cNvPr>
          <p:cNvSpPr/>
          <p:nvPr/>
        </p:nvSpPr>
        <p:spPr>
          <a:xfrm>
            <a:off x="2372635" y="6313995"/>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 name="Google Shape;21510;p354">
            <a:extLst>
              <a:ext uri="{FF2B5EF4-FFF2-40B4-BE49-F238E27FC236}">
                <a16:creationId xmlns:a16="http://schemas.microsoft.com/office/drawing/2014/main" id="{C3B4C208-7AAF-F94E-FF4D-C83D4429CCFB}"/>
              </a:ext>
            </a:extLst>
          </p:cNvPr>
          <p:cNvSpPr txBox="1"/>
          <p:nvPr/>
        </p:nvSpPr>
        <p:spPr>
          <a:xfrm>
            <a:off x="1673753" y="5238864"/>
            <a:ext cx="1500866"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Learning &amp; Advancement</a:t>
            </a:r>
            <a:endParaRPr sz="1400" dirty="0"/>
          </a:p>
        </p:txBody>
      </p:sp>
      <p:sp>
        <p:nvSpPr>
          <p:cNvPr id="56" name="Google Shape;21511;p354">
            <a:extLst>
              <a:ext uri="{FF2B5EF4-FFF2-40B4-BE49-F238E27FC236}">
                <a16:creationId xmlns:a16="http://schemas.microsoft.com/office/drawing/2014/main" id="{7D270240-CCA9-6016-CE1D-5661696A3B9F}"/>
              </a:ext>
            </a:extLst>
          </p:cNvPr>
          <p:cNvSpPr txBox="1"/>
          <p:nvPr/>
        </p:nvSpPr>
        <p:spPr>
          <a:xfrm>
            <a:off x="3307992" y="5228962"/>
            <a:ext cx="1364424"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Engagement </a:t>
            </a:r>
          </a:p>
          <a:p>
            <a:pPr algn="ctr"/>
            <a:r>
              <a:rPr lang="en" sz="1400" dirty="0"/>
              <a:t>&amp; Wellbeing</a:t>
            </a:r>
            <a:endParaRPr sz="1400" dirty="0"/>
          </a:p>
        </p:txBody>
      </p:sp>
      <p:sp>
        <p:nvSpPr>
          <p:cNvPr id="57" name="Google Shape;123;p25">
            <a:extLst>
              <a:ext uri="{FF2B5EF4-FFF2-40B4-BE49-F238E27FC236}">
                <a16:creationId xmlns:a16="http://schemas.microsoft.com/office/drawing/2014/main" id="{6DE26BCB-912E-11F4-D77F-6A66DB3B4A97}"/>
              </a:ext>
            </a:extLst>
          </p:cNvPr>
          <p:cNvSpPr/>
          <p:nvPr/>
        </p:nvSpPr>
        <p:spPr>
          <a:xfrm>
            <a:off x="1989798" y="5719937"/>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58" name="TextBox 57">
            <a:extLst>
              <a:ext uri="{FF2B5EF4-FFF2-40B4-BE49-F238E27FC236}">
                <a16:creationId xmlns:a16="http://schemas.microsoft.com/office/drawing/2014/main" id="{0446FC74-6D56-21E6-B8E1-B3819F434741}"/>
              </a:ext>
            </a:extLst>
          </p:cNvPr>
          <p:cNvSpPr txBox="1"/>
          <p:nvPr/>
        </p:nvSpPr>
        <p:spPr>
          <a:xfrm>
            <a:off x="2811945" y="5749245"/>
            <a:ext cx="780303"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59" name="Google Shape;122;p25">
            <a:extLst>
              <a:ext uri="{FF2B5EF4-FFF2-40B4-BE49-F238E27FC236}">
                <a16:creationId xmlns:a16="http://schemas.microsoft.com/office/drawing/2014/main" id="{4436F64D-373F-5BC1-BBB4-255A389091C4}"/>
              </a:ext>
            </a:extLst>
          </p:cNvPr>
          <p:cNvSpPr/>
          <p:nvPr/>
        </p:nvSpPr>
        <p:spPr>
          <a:xfrm>
            <a:off x="3558359" y="5714838"/>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cxnSp>
        <p:nvCxnSpPr>
          <p:cNvPr id="60" name="Straight Arrow Connector 59">
            <a:extLst>
              <a:ext uri="{FF2B5EF4-FFF2-40B4-BE49-F238E27FC236}">
                <a16:creationId xmlns:a16="http://schemas.microsoft.com/office/drawing/2014/main" id="{661F175B-FC18-5A79-D20A-518A239101D0}"/>
              </a:ext>
            </a:extLst>
          </p:cNvPr>
          <p:cNvCxnSpPr>
            <a:cxnSpLocks/>
          </p:cNvCxnSpPr>
          <p:nvPr/>
        </p:nvCxnSpPr>
        <p:spPr>
          <a:xfrm flipH="1">
            <a:off x="2795248" y="5132188"/>
            <a:ext cx="344019"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E66CD4F9-C726-9F52-68AC-9E2DBA4CC411}"/>
              </a:ext>
            </a:extLst>
          </p:cNvPr>
          <p:cNvCxnSpPr>
            <a:cxnSpLocks/>
          </p:cNvCxnSpPr>
          <p:nvPr/>
        </p:nvCxnSpPr>
        <p:spPr>
          <a:xfrm>
            <a:off x="3139267" y="5132188"/>
            <a:ext cx="357548"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 name="Rounded Rectangle 3">
            <a:extLst>
              <a:ext uri="{FF2B5EF4-FFF2-40B4-BE49-F238E27FC236}">
                <a16:creationId xmlns:a16="http://schemas.microsoft.com/office/drawing/2014/main" id="{737B0F07-7990-5DEA-C3DC-1981A2AAE93D}"/>
              </a:ext>
            </a:extLst>
          </p:cNvPr>
          <p:cNvSpPr/>
          <p:nvPr/>
        </p:nvSpPr>
        <p:spPr>
          <a:xfrm>
            <a:off x="1357042" y="4117922"/>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6" name="Rounded Rectangle 5">
            <a:extLst>
              <a:ext uri="{FF2B5EF4-FFF2-40B4-BE49-F238E27FC236}">
                <a16:creationId xmlns:a16="http://schemas.microsoft.com/office/drawing/2014/main" id="{5E24374B-270C-1F2C-B18A-A28F5C07C791}"/>
              </a:ext>
            </a:extLst>
          </p:cNvPr>
          <p:cNvSpPr/>
          <p:nvPr/>
        </p:nvSpPr>
        <p:spPr>
          <a:xfrm>
            <a:off x="2530871" y="4126236"/>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11" name="Rounded Rectangle 10">
            <a:extLst>
              <a:ext uri="{FF2B5EF4-FFF2-40B4-BE49-F238E27FC236}">
                <a16:creationId xmlns:a16="http://schemas.microsoft.com/office/drawing/2014/main" id="{27E04485-41A4-25C4-9346-8701DB0A8CCF}"/>
              </a:ext>
            </a:extLst>
          </p:cNvPr>
          <p:cNvSpPr/>
          <p:nvPr/>
        </p:nvSpPr>
        <p:spPr>
          <a:xfrm>
            <a:off x="3704700" y="4123476"/>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Tree>
    <p:extLst>
      <p:ext uri="{BB962C8B-B14F-4D97-AF65-F5344CB8AC3E}">
        <p14:creationId xmlns:p14="http://schemas.microsoft.com/office/powerpoint/2010/main" val="4782881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F9FF7-D0B6-B4D2-16C0-13CFF9F05922}"/>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FAF7D53C-A9B2-4FE9-E1FF-C796EA30725E}"/>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DE9002E6-C181-E1C1-8A13-1F5EE8F3BF47}"/>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7" name="Google Shape;21509;p354">
            <a:extLst>
              <a:ext uri="{FF2B5EF4-FFF2-40B4-BE49-F238E27FC236}">
                <a16:creationId xmlns:a16="http://schemas.microsoft.com/office/drawing/2014/main" id="{6F569B2F-683D-2A76-BFEC-1EE73D3F6C35}"/>
              </a:ext>
            </a:extLst>
          </p:cNvPr>
          <p:cNvSpPr txBox="1"/>
          <p:nvPr/>
        </p:nvSpPr>
        <p:spPr>
          <a:xfrm>
            <a:off x="1760834"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35" name="TextBox 34">
            <a:extLst>
              <a:ext uri="{FF2B5EF4-FFF2-40B4-BE49-F238E27FC236}">
                <a16:creationId xmlns:a16="http://schemas.microsoft.com/office/drawing/2014/main" id="{9386D272-C703-200F-5075-B1AC91759A73}"/>
              </a:ext>
            </a:extLst>
          </p:cNvPr>
          <p:cNvSpPr txBox="1"/>
          <p:nvPr/>
        </p:nvSpPr>
        <p:spPr>
          <a:xfrm>
            <a:off x="1403431"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sp>
        <p:nvSpPr>
          <p:cNvPr id="2" name="Rounded Rectangle 1">
            <a:extLst>
              <a:ext uri="{FF2B5EF4-FFF2-40B4-BE49-F238E27FC236}">
                <a16:creationId xmlns:a16="http://schemas.microsoft.com/office/drawing/2014/main" id="{DE7C9C08-BA1A-A82F-9084-8FF1724C1EFE}"/>
              </a:ext>
            </a:extLst>
          </p:cNvPr>
          <p:cNvSpPr/>
          <p:nvPr/>
        </p:nvSpPr>
        <p:spPr>
          <a:xfrm>
            <a:off x="916612" y="2662165"/>
            <a:ext cx="4568398" cy="2470023"/>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TextBox 41">
            <a:extLst>
              <a:ext uri="{FF2B5EF4-FFF2-40B4-BE49-F238E27FC236}">
                <a16:creationId xmlns:a16="http://schemas.microsoft.com/office/drawing/2014/main" id="{650884A1-E7CB-3DA9-6561-8BB7C185C2FE}"/>
              </a:ext>
            </a:extLst>
          </p:cNvPr>
          <p:cNvSpPr txBox="1"/>
          <p:nvPr/>
        </p:nvSpPr>
        <p:spPr>
          <a:xfrm>
            <a:off x="5447939" y="3566847"/>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6" name="TextBox 45">
            <a:extLst>
              <a:ext uri="{FF2B5EF4-FFF2-40B4-BE49-F238E27FC236}">
                <a16:creationId xmlns:a16="http://schemas.microsoft.com/office/drawing/2014/main" id="{8AB986E7-85E8-0294-7C63-8BFF289C9900}"/>
              </a:ext>
            </a:extLst>
          </p:cNvPr>
          <p:cNvSpPr txBox="1"/>
          <p:nvPr/>
        </p:nvSpPr>
        <p:spPr>
          <a:xfrm rot="10800000">
            <a:off x="523685" y="3520460"/>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8" name="Rounded Rectangle 47">
            <a:extLst>
              <a:ext uri="{FF2B5EF4-FFF2-40B4-BE49-F238E27FC236}">
                <a16:creationId xmlns:a16="http://schemas.microsoft.com/office/drawing/2014/main" id="{B5EE7E95-4032-1CD1-C4B6-B39056B48DE9}"/>
              </a:ext>
            </a:extLst>
          </p:cNvPr>
          <p:cNvSpPr/>
          <p:nvPr/>
        </p:nvSpPr>
        <p:spPr>
          <a:xfrm>
            <a:off x="1711064" y="2262249"/>
            <a:ext cx="2986003" cy="324066"/>
          </a:xfrm>
          <a:prstGeom prst="roundRect">
            <a:avLst/>
          </a:prstGeom>
          <a:solidFill>
            <a:srgbClr val="D9E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Tools &amp; Resources ⌄</a:t>
            </a:r>
          </a:p>
        </p:txBody>
      </p:sp>
      <p:cxnSp>
        <p:nvCxnSpPr>
          <p:cNvPr id="50" name="Straight Connector 49">
            <a:extLst>
              <a:ext uri="{FF2B5EF4-FFF2-40B4-BE49-F238E27FC236}">
                <a16:creationId xmlns:a16="http://schemas.microsoft.com/office/drawing/2014/main" id="{FD999595-1F8C-5A19-2BF3-7ED622462F57}"/>
              </a:ext>
            </a:extLst>
          </p:cNvPr>
          <p:cNvCxnSpPr/>
          <p:nvPr/>
        </p:nvCxnSpPr>
        <p:spPr>
          <a:xfrm>
            <a:off x="1988092" y="2568553"/>
            <a:ext cx="2337833" cy="0"/>
          </a:xfrm>
          <a:prstGeom prst="line">
            <a:avLst/>
          </a:prstGeom>
          <a:ln>
            <a:solidFill>
              <a:srgbClr val="1A6A24"/>
            </a:solidFill>
          </a:ln>
        </p:spPr>
        <p:style>
          <a:lnRef idx="2">
            <a:schemeClr val="accent1"/>
          </a:lnRef>
          <a:fillRef idx="0">
            <a:schemeClr val="accent1"/>
          </a:fillRef>
          <a:effectRef idx="1">
            <a:schemeClr val="accent1"/>
          </a:effectRef>
          <a:fontRef idx="minor">
            <a:schemeClr val="tx1"/>
          </a:fontRef>
        </p:style>
      </p:cxnSp>
      <p:sp>
        <p:nvSpPr>
          <p:cNvPr id="3" name="Google Shape;21536;p354">
            <a:extLst>
              <a:ext uri="{FF2B5EF4-FFF2-40B4-BE49-F238E27FC236}">
                <a16:creationId xmlns:a16="http://schemas.microsoft.com/office/drawing/2014/main" id="{07E0912C-D1C2-9D37-DF5F-E2149BA6C89D}"/>
              </a:ext>
            </a:extLst>
          </p:cNvPr>
          <p:cNvSpPr txBox="1"/>
          <p:nvPr/>
        </p:nvSpPr>
        <p:spPr>
          <a:xfrm>
            <a:off x="1211087" y="2820049"/>
            <a:ext cx="4233978" cy="1281443"/>
          </a:xfrm>
          <a:prstGeom prst="rect">
            <a:avLst/>
          </a:prstGeom>
          <a:noFill/>
          <a:ln>
            <a:noFill/>
          </a:ln>
        </p:spPr>
        <p:txBody>
          <a:bodyPr spcFirstLastPara="1" wrap="square" lIns="112400" tIns="56167" rIns="112400" bIns="56167" anchor="t" anchorCtr="0">
            <a:spAutoFit/>
          </a:bodyPr>
          <a:lstStyle/>
          <a:p>
            <a:pPr>
              <a:lnSpc>
                <a:spcPct val="115000"/>
              </a:lnSpc>
            </a:pPr>
            <a:r>
              <a:rPr lang="en-US" sz="1200" b="1" dirty="0"/>
              <a:t>Key Tool / Resource #1</a:t>
            </a:r>
          </a:p>
          <a:p>
            <a:pPr>
              <a:lnSpc>
                <a:spcPct val="115000"/>
              </a:lnSpc>
            </a:pPr>
            <a:r>
              <a:rPr lang="en-US" sz="1050" dirty="0"/>
              <a:t>Description of how Tool/Resource applies to this component</a:t>
            </a:r>
          </a:p>
          <a:p>
            <a:pPr marL="58738" indent="-58738">
              <a:lnSpc>
                <a:spcPct val="115000"/>
              </a:lnSpc>
              <a:buFont typeface="Arial" panose="020B0604020202020204" pitchFamily="34" charset="0"/>
              <a:buChar char="•"/>
            </a:pPr>
            <a:endParaRPr lang="en-US" sz="1050" dirty="0"/>
          </a:p>
          <a:p>
            <a:pPr marL="58738" indent="-58738">
              <a:lnSpc>
                <a:spcPct val="115000"/>
              </a:lnSpc>
              <a:buFont typeface="Arial" panose="020B0604020202020204" pitchFamily="34" charset="0"/>
              <a:buChar char="•"/>
            </a:pPr>
            <a:endParaRPr lang="en-US" sz="1050" dirty="0"/>
          </a:p>
          <a:p>
            <a:pPr>
              <a:lnSpc>
                <a:spcPct val="115000"/>
              </a:lnSpc>
            </a:pPr>
            <a:r>
              <a:rPr lang="en-US" sz="1200" b="1" dirty="0"/>
              <a:t>Key Tool / Resource #2</a:t>
            </a:r>
          </a:p>
          <a:p>
            <a:pPr>
              <a:lnSpc>
                <a:spcPct val="115000"/>
              </a:lnSpc>
            </a:pPr>
            <a:r>
              <a:rPr lang="en-US" sz="1050" dirty="0"/>
              <a:t>Description of how this tool / </a:t>
            </a:r>
            <a:r>
              <a:rPr lang="en-US" sz="1050" dirty="0" err="1"/>
              <a:t>resrouces</a:t>
            </a:r>
            <a:r>
              <a:rPr lang="en-US" sz="1050" dirty="0"/>
              <a:t> applies to this component</a:t>
            </a:r>
          </a:p>
        </p:txBody>
      </p:sp>
      <p:sp>
        <p:nvSpPr>
          <p:cNvPr id="5" name="Rounded Rectangle 4">
            <a:extLst>
              <a:ext uri="{FF2B5EF4-FFF2-40B4-BE49-F238E27FC236}">
                <a16:creationId xmlns:a16="http://schemas.microsoft.com/office/drawing/2014/main" id="{BE8DEE0D-F903-3D55-0CA6-C094D56AC7DE}"/>
              </a:ext>
            </a:extLst>
          </p:cNvPr>
          <p:cNvSpPr/>
          <p:nvPr/>
        </p:nvSpPr>
        <p:spPr>
          <a:xfrm>
            <a:off x="1335648" y="3321555"/>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7" name="Rounded Rectangle 6">
            <a:extLst>
              <a:ext uri="{FF2B5EF4-FFF2-40B4-BE49-F238E27FC236}">
                <a16:creationId xmlns:a16="http://schemas.microsoft.com/office/drawing/2014/main" id="{D41DF200-16F3-6F91-7F4A-0A9AFA63641C}"/>
              </a:ext>
            </a:extLst>
          </p:cNvPr>
          <p:cNvSpPr/>
          <p:nvPr/>
        </p:nvSpPr>
        <p:spPr>
          <a:xfrm>
            <a:off x="2509477" y="3329869"/>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8" name="Rounded Rectangle 7">
            <a:extLst>
              <a:ext uri="{FF2B5EF4-FFF2-40B4-BE49-F238E27FC236}">
                <a16:creationId xmlns:a16="http://schemas.microsoft.com/office/drawing/2014/main" id="{BC890F98-FEAB-6863-1C83-9724AC595476}"/>
              </a:ext>
            </a:extLst>
          </p:cNvPr>
          <p:cNvSpPr/>
          <p:nvPr/>
        </p:nvSpPr>
        <p:spPr>
          <a:xfrm>
            <a:off x="3683306" y="3327109"/>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grpSp>
        <p:nvGrpSpPr>
          <p:cNvPr id="25" name="Google Shape;21512;p354">
            <a:extLst>
              <a:ext uri="{FF2B5EF4-FFF2-40B4-BE49-F238E27FC236}">
                <a16:creationId xmlns:a16="http://schemas.microsoft.com/office/drawing/2014/main" id="{1220A9EB-A600-1F95-145C-B1FC00D56163}"/>
              </a:ext>
            </a:extLst>
          </p:cNvPr>
          <p:cNvGrpSpPr/>
          <p:nvPr/>
        </p:nvGrpSpPr>
        <p:grpSpPr>
          <a:xfrm>
            <a:off x="2229571" y="898661"/>
            <a:ext cx="2011437" cy="1354357"/>
            <a:chOff x="7996645" y="4997800"/>
            <a:chExt cx="1742072" cy="1489829"/>
          </a:xfrm>
        </p:grpSpPr>
        <p:sp>
          <p:nvSpPr>
            <p:cNvPr id="26" name="Google Shape;21513;p354">
              <a:extLst>
                <a:ext uri="{FF2B5EF4-FFF2-40B4-BE49-F238E27FC236}">
                  <a16:creationId xmlns:a16="http://schemas.microsoft.com/office/drawing/2014/main" id="{5642A1F9-5D2C-42C1-E787-1CAD0455E43E}"/>
                </a:ext>
              </a:extLst>
            </p:cNvPr>
            <p:cNvSpPr txBox="1"/>
            <p:nvPr/>
          </p:nvSpPr>
          <p:spPr>
            <a:xfrm>
              <a:off x="7996645" y="5041112"/>
              <a:ext cx="1545903" cy="1446517"/>
            </a:xfrm>
            <a:prstGeom prst="rect">
              <a:avLst/>
            </a:prstGeom>
            <a:noFill/>
            <a:ln>
              <a:noFill/>
            </a:ln>
          </p:spPr>
          <p:txBody>
            <a:bodyPr spcFirstLastPara="1" wrap="square" lIns="83067" tIns="41533" rIns="83067" bIns="41533" anchor="t" anchorCtr="0">
              <a:spAutoFit/>
            </a:bodyPr>
            <a:lstStyle/>
            <a:p>
              <a:r>
                <a:rPr lang="en" sz="4000" dirty="0">
                  <a:solidFill>
                    <a:srgbClr val="000000"/>
                  </a:solidFill>
                  <a:latin typeface="Arial"/>
                  <a:ea typeface="Arial"/>
                  <a:cs typeface="Arial"/>
                  <a:sym typeface="Arial"/>
                </a:rPr>
                <a:t>• • • • •               </a:t>
              </a:r>
              <a:endParaRPr sz="2400" dirty="0"/>
            </a:p>
          </p:txBody>
        </p:sp>
        <p:sp>
          <p:nvSpPr>
            <p:cNvPr id="31" name="Google Shape;21514;p354">
              <a:extLst>
                <a:ext uri="{FF2B5EF4-FFF2-40B4-BE49-F238E27FC236}">
                  <a16:creationId xmlns:a16="http://schemas.microsoft.com/office/drawing/2014/main" id="{6FBD79C1-C476-B6F7-E6C1-C07780CC7C7A}"/>
                </a:ext>
              </a:extLst>
            </p:cNvPr>
            <p:cNvSpPr txBox="1"/>
            <p:nvPr/>
          </p:nvSpPr>
          <p:spPr>
            <a:xfrm>
              <a:off x="8849517" y="4997800"/>
              <a:ext cx="889200" cy="1175667"/>
            </a:xfrm>
            <a:prstGeom prst="rect">
              <a:avLst/>
            </a:prstGeom>
            <a:noFill/>
            <a:ln>
              <a:noFill/>
            </a:ln>
          </p:spPr>
          <p:txBody>
            <a:bodyPr spcFirstLastPara="1" wrap="square" lIns="83067" tIns="41533" rIns="83067" bIns="41533" anchor="t" anchorCtr="0">
              <a:spAutoFit/>
            </a:bodyPr>
            <a:lstStyle/>
            <a:p>
              <a:r>
                <a:rPr lang="en" sz="3600" dirty="0">
                  <a:solidFill>
                    <a:srgbClr val="000000"/>
                  </a:solidFill>
                  <a:latin typeface="Arial"/>
                  <a:ea typeface="Arial"/>
                  <a:cs typeface="Arial"/>
                  <a:sym typeface="Arial"/>
                </a:rPr>
                <a:t>   </a:t>
              </a:r>
              <a:r>
                <a:rPr lang="en" sz="1600" dirty="0">
                  <a:solidFill>
                    <a:srgbClr val="000000"/>
                  </a:solidFill>
                  <a:latin typeface="Arial"/>
                  <a:ea typeface="Arial"/>
                  <a:cs typeface="Arial"/>
                  <a:sym typeface="Arial"/>
                </a:rPr>
                <a:t>  </a:t>
              </a:r>
              <a:r>
                <a:rPr lang="en" sz="2800" dirty="0">
                  <a:solidFill>
                    <a:srgbClr val="000000"/>
                  </a:solidFill>
                  <a:latin typeface="Arial"/>
                  <a:ea typeface="Arial"/>
                  <a:cs typeface="Arial"/>
                  <a:sym typeface="Arial"/>
                </a:rPr>
                <a:t> ○</a:t>
              </a:r>
              <a:endParaRPr sz="3600" dirty="0"/>
            </a:p>
          </p:txBody>
        </p:sp>
      </p:grpSp>
      <p:sp>
        <p:nvSpPr>
          <p:cNvPr id="51" name="Google Shape;21506;p354">
            <a:extLst>
              <a:ext uri="{FF2B5EF4-FFF2-40B4-BE49-F238E27FC236}">
                <a16:creationId xmlns:a16="http://schemas.microsoft.com/office/drawing/2014/main" id="{F9A54553-274A-38DF-F3F9-FFE29E6FC72E}"/>
              </a:ext>
            </a:extLst>
          </p:cNvPr>
          <p:cNvSpPr txBox="1"/>
          <p:nvPr/>
        </p:nvSpPr>
        <p:spPr>
          <a:xfrm>
            <a:off x="2656215" y="6268020"/>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pic>
        <p:nvPicPr>
          <p:cNvPr id="52" name="Google Shape;2017;p43">
            <a:extLst>
              <a:ext uri="{FF2B5EF4-FFF2-40B4-BE49-F238E27FC236}">
                <a16:creationId xmlns:a16="http://schemas.microsoft.com/office/drawing/2014/main" id="{361637E6-E1AB-F5EC-8D3A-51754778ACB0}"/>
              </a:ext>
            </a:extLst>
          </p:cNvPr>
          <p:cNvPicPr preferRelativeResize="0"/>
          <p:nvPr/>
        </p:nvPicPr>
        <p:blipFill rotWithShape="1">
          <a:blip r:embed="rId4">
            <a:alphaModFix/>
          </a:blip>
          <a:srcRect t="57094"/>
          <a:stretch/>
        </p:blipFill>
        <p:spPr>
          <a:xfrm rot="10800000">
            <a:off x="2157167" y="6188910"/>
            <a:ext cx="568466" cy="244066"/>
          </a:xfrm>
          <a:prstGeom prst="rect">
            <a:avLst/>
          </a:prstGeom>
          <a:noFill/>
          <a:ln>
            <a:noFill/>
          </a:ln>
        </p:spPr>
      </p:pic>
      <p:sp>
        <p:nvSpPr>
          <p:cNvPr id="53" name="Google Shape;2019;p43">
            <a:extLst>
              <a:ext uri="{FF2B5EF4-FFF2-40B4-BE49-F238E27FC236}">
                <a16:creationId xmlns:a16="http://schemas.microsoft.com/office/drawing/2014/main" id="{A1F8975C-9AFF-A6DA-E5BB-A61BA4BC8853}"/>
              </a:ext>
            </a:extLst>
          </p:cNvPr>
          <p:cNvSpPr/>
          <p:nvPr/>
        </p:nvSpPr>
        <p:spPr>
          <a:xfrm>
            <a:off x="2372635" y="6313995"/>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 name="Google Shape;21510;p354">
            <a:extLst>
              <a:ext uri="{FF2B5EF4-FFF2-40B4-BE49-F238E27FC236}">
                <a16:creationId xmlns:a16="http://schemas.microsoft.com/office/drawing/2014/main" id="{737188BB-C038-BC28-0AE1-34E26A1B510F}"/>
              </a:ext>
            </a:extLst>
          </p:cNvPr>
          <p:cNvSpPr txBox="1"/>
          <p:nvPr/>
        </p:nvSpPr>
        <p:spPr>
          <a:xfrm>
            <a:off x="1673753" y="5238864"/>
            <a:ext cx="1500866"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Learning &amp; Advancement</a:t>
            </a:r>
            <a:endParaRPr sz="1400" dirty="0"/>
          </a:p>
        </p:txBody>
      </p:sp>
      <p:sp>
        <p:nvSpPr>
          <p:cNvPr id="56" name="Google Shape;21511;p354">
            <a:extLst>
              <a:ext uri="{FF2B5EF4-FFF2-40B4-BE49-F238E27FC236}">
                <a16:creationId xmlns:a16="http://schemas.microsoft.com/office/drawing/2014/main" id="{3EC88D76-3B3F-E0B4-EC30-B1A40C2D19EC}"/>
              </a:ext>
            </a:extLst>
          </p:cNvPr>
          <p:cNvSpPr txBox="1"/>
          <p:nvPr/>
        </p:nvSpPr>
        <p:spPr>
          <a:xfrm>
            <a:off x="3307992" y="5228962"/>
            <a:ext cx="1364424"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Engagement </a:t>
            </a:r>
          </a:p>
          <a:p>
            <a:pPr algn="ctr"/>
            <a:r>
              <a:rPr lang="en" sz="1400" dirty="0"/>
              <a:t>&amp; Wellbeing</a:t>
            </a:r>
            <a:endParaRPr sz="1400" dirty="0"/>
          </a:p>
        </p:txBody>
      </p:sp>
      <p:sp>
        <p:nvSpPr>
          <p:cNvPr id="57" name="Google Shape;123;p25">
            <a:extLst>
              <a:ext uri="{FF2B5EF4-FFF2-40B4-BE49-F238E27FC236}">
                <a16:creationId xmlns:a16="http://schemas.microsoft.com/office/drawing/2014/main" id="{FAB2C906-6A64-0284-DEEA-468DAE6E03FD}"/>
              </a:ext>
            </a:extLst>
          </p:cNvPr>
          <p:cNvSpPr/>
          <p:nvPr/>
        </p:nvSpPr>
        <p:spPr>
          <a:xfrm>
            <a:off x="1989798" y="5719937"/>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58" name="TextBox 57">
            <a:extLst>
              <a:ext uri="{FF2B5EF4-FFF2-40B4-BE49-F238E27FC236}">
                <a16:creationId xmlns:a16="http://schemas.microsoft.com/office/drawing/2014/main" id="{3D499E54-88FE-BCE9-7B6E-948102A0291E}"/>
              </a:ext>
            </a:extLst>
          </p:cNvPr>
          <p:cNvSpPr txBox="1"/>
          <p:nvPr/>
        </p:nvSpPr>
        <p:spPr>
          <a:xfrm>
            <a:off x="2811945" y="5749245"/>
            <a:ext cx="780303"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59" name="Google Shape;122;p25">
            <a:extLst>
              <a:ext uri="{FF2B5EF4-FFF2-40B4-BE49-F238E27FC236}">
                <a16:creationId xmlns:a16="http://schemas.microsoft.com/office/drawing/2014/main" id="{F49932C2-7B91-0C26-2488-D1203144A7E2}"/>
              </a:ext>
            </a:extLst>
          </p:cNvPr>
          <p:cNvSpPr/>
          <p:nvPr/>
        </p:nvSpPr>
        <p:spPr>
          <a:xfrm>
            <a:off x="3558359" y="5714838"/>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cxnSp>
        <p:nvCxnSpPr>
          <p:cNvPr id="60" name="Straight Arrow Connector 59">
            <a:extLst>
              <a:ext uri="{FF2B5EF4-FFF2-40B4-BE49-F238E27FC236}">
                <a16:creationId xmlns:a16="http://schemas.microsoft.com/office/drawing/2014/main" id="{AD9B9138-8C70-26E9-B1B6-736E1D64082D}"/>
              </a:ext>
            </a:extLst>
          </p:cNvPr>
          <p:cNvCxnSpPr>
            <a:cxnSpLocks/>
          </p:cNvCxnSpPr>
          <p:nvPr/>
        </p:nvCxnSpPr>
        <p:spPr>
          <a:xfrm flipH="1">
            <a:off x="2795248" y="5132188"/>
            <a:ext cx="344019"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D423F222-B791-60F9-F8B4-7EDF6C24E78F}"/>
              </a:ext>
            </a:extLst>
          </p:cNvPr>
          <p:cNvCxnSpPr>
            <a:cxnSpLocks/>
          </p:cNvCxnSpPr>
          <p:nvPr/>
        </p:nvCxnSpPr>
        <p:spPr>
          <a:xfrm>
            <a:off x="3139267" y="5132188"/>
            <a:ext cx="357548"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 name="Rounded Rectangle 3">
            <a:extLst>
              <a:ext uri="{FF2B5EF4-FFF2-40B4-BE49-F238E27FC236}">
                <a16:creationId xmlns:a16="http://schemas.microsoft.com/office/drawing/2014/main" id="{EFA33E51-F947-9458-68DB-FCD020BEB7A0}"/>
              </a:ext>
            </a:extLst>
          </p:cNvPr>
          <p:cNvSpPr/>
          <p:nvPr/>
        </p:nvSpPr>
        <p:spPr>
          <a:xfrm>
            <a:off x="1357042" y="4117922"/>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6" name="Rounded Rectangle 5">
            <a:extLst>
              <a:ext uri="{FF2B5EF4-FFF2-40B4-BE49-F238E27FC236}">
                <a16:creationId xmlns:a16="http://schemas.microsoft.com/office/drawing/2014/main" id="{A41090D5-E881-E8B2-6631-B3969810019F}"/>
              </a:ext>
            </a:extLst>
          </p:cNvPr>
          <p:cNvSpPr/>
          <p:nvPr/>
        </p:nvSpPr>
        <p:spPr>
          <a:xfrm>
            <a:off x="2530871" y="4126236"/>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11" name="Rounded Rectangle 10">
            <a:extLst>
              <a:ext uri="{FF2B5EF4-FFF2-40B4-BE49-F238E27FC236}">
                <a16:creationId xmlns:a16="http://schemas.microsoft.com/office/drawing/2014/main" id="{2B33BB5E-9A10-07E6-30D0-6807DD60D087}"/>
              </a:ext>
            </a:extLst>
          </p:cNvPr>
          <p:cNvSpPr/>
          <p:nvPr/>
        </p:nvSpPr>
        <p:spPr>
          <a:xfrm>
            <a:off x="3704700" y="4123476"/>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Tree>
    <p:extLst>
      <p:ext uri="{BB962C8B-B14F-4D97-AF65-F5344CB8AC3E}">
        <p14:creationId xmlns:p14="http://schemas.microsoft.com/office/powerpoint/2010/main" val="8888326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02BD3-199B-9F4A-29A8-BC0374A3192D}"/>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4FAD6D71-101E-B77E-954F-74B7526E13EF}"/>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839805E4-493A-AAC7-1DDD-AEB98D1518B0}"/>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7" name="Google Shape;21509;p354">
            <a:extLst>
              <a:ext uri="{FF2B5EF4-FFF2-40B4-BE49-F238E27FC236}">
                <a16:creationId xmlns:a16="http://schemas.microsoft.com/office/drawing/2014/main" id="{89B0E17B-B103-9F23-012C-2FD2DCB07E62}"/>
              </a:ext>
            </a:extLst>
          </p:cNvPr>
          <p:cNvSpPr txBox="1"/>
          <p:nvPr/>
        </p:nvSpPr>
        <p:spPr>
          <a:xfrm>
            <a:off x="1760834"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35" name="TextBox 34">
            <a:extLst>
              <a:ext uri="{FF2B5EF4-FFF2-40B4-BE49-F238E27FC236}">
                <a16:creationId xmlns:a16="http://schemas.microsoft.com/office/drawing/2014/main" id="{A2F45EDA-E13C-67DA-949A-9B2C399FE57A}"/>
              </a:ext>
            </a:extLst>
          </p:cNvPr>
          <p:cNvSpPr txBox="1"/>
          <p:nvPr/>
        </p:nvSpPr>
        <p:spPr>
          <a:xfrm>
            <a:off x="1403431"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sp>
        <p:nvSpPr>
          <p:cNvPr id="2" name="Rounded Rectangle 1">
            <a:extLst>
              <a:ext uri="{FF2B5EF4-FFF2-40B4-BE49-F238E27FC236}">
                <a16:creationId xmlns:a16="http://schemas.microsoft.com/office/drawing/2014/main" id="{B41BBCEA-A150-5169-F95E-9BF8A92BAAB4}"/>
              </a:ext>
            </a:extLst>
          </p:cNvPr>
          <p:cNvSpPr/>
          <p:nvPr/>
        </p:nvSpPr>
        <p:spPr>
          <a:xfrm>
            <a:off x="916612" y="2662165"/>
            <a:ext cx="4568398" cy="2470023"/>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TextBox 41">
            <a:extLst>
              <a:ext uri="{FF2B5EF4-FFF2-40B4-BE49-F238E27FC236}">
                <a16:creationId xmlns:a16="http://schemas.microsoft.com/office/drawing/2014/main" id="{79650F13-E518-C71A-B5D3-D4DB0C82B9F0}"/>
              </a:ext>
            </a:extLst>
          </p:cNvPr>
          <p:cNvSpPr txBox="1"/>
          <p:nvPr/>
        </p:nvSpPr>
        <p:spPr>
          <a:xfrm>
            <a:off x="5447939" y="3566847"/>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6" name="TextBox 45">
            <a:extLst>
              <a:ext uri="{FF2B5EF4-FFF2-40B4-BE49-F238E27FC236}">
                <a16:creationId xmlns:a16="http://schemas.microsoft.com/office/drawing/2014/main" id="{B7BF7FC8-8DC5-2AB6-A75C-D67ED7005911}"/>
              </a:ext>
            </a:extLst>
          </p:cNvPr>
          <p:cNvSpPr txBox="1"/>
          <p:nvPr/>
        </p:nvSpPr>
        <p:spPr>
          <a:xfrm rot="10800000">
            <a:off x="523685" y="3520460"/>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8" name="Rounded Rectangle 47">
            <a:extLst>
              <a:ext uri="{FF2B5EF4-FFF2-40B4-BE49-F238E27FC236}">
                <a16:creationId xmlns:a16="http://schemas.microsoft.com/office/drawing/2014/main" id="{090928BC-53DE-E0BC-4223-A63A25865BCD}"/>
              </a:ext>
            </a:extLst>
          </p:cNvPr>
          <p:cNvSpPr/>
          <p:nvPr/>
        </p:nvSpPr>
        <p:spPr>
          <a:xfrm>
            <a:off x="1970180" y="2273538"/>
            <a:ext cx="2467771" cy="324066"/>
          </a:xfrm>
          <a:prstGeom prst="roundRect">
            <a:avLst/>
          </a:prstGeom>
          <a:solidFill>
            <a:srgbClr val="D9E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Snapshot⌄</a:t>
            </a:r>
          </a:p>
        </p:txBody>
      </p:sp>
      <p:cxnSp>
        <p:nvCxnSpPr>
          <p:cNvPr id="50" name="Straight Connector 49">
            <a:extLst>
              <a:ext uri="{FF2B5EF4-FFF2-40B4-BE49-F238E27FC236}">
                <a16:creationId xmlns:a16="http://schemas.microsoft.com/office/drawing/2014/main" id="{8200B6F5-C507-1CA8-C187-E9987C3BF4D6}"/>
              </a:ext>
            </a:extLst>
          </p:cNvPr>
          <p:cNvCxnSpPr/>
          <p:nvPr/>
        </p:nvCxnSpPr>
        <p:spPr>
          <a:xfrm>
            <a:off x="2358622" y="2568553"/>
            <a:ext cx="1596772" cy="0"/>
          </a:xfrm>
          <a:prstGeom prst="line">
            <a:avLst/>
          </a:prstGeom>
          <a:ln>
            <a:solidFill>
              <a:srgbClr val="1A6A24"/>
            </a:solidFill>
          </a:ln>
        </p:spPr>
        <p:style>
          <a:lnRef idx="2">
            <a:schemeClr val="accent1"/>
          </a:lnRef>
          <a:fillRef idx="0">
            <a:schemeClr val="accent1"/>
          </a:fillRef>
          <a:effectRef idx="1">
            <a:schemeClr val="accent1"/>
          </a:effectRef>
          <a:fontRef idx="minor">
            <a:schemeClr val="tx1"/>
          </a:fontRef>
        </p:style>
      </p:cxnSp>
      <p:grpSp>
        <p:nvGrpSpPr>
          <p:cNvPr id="25" name="Google Shape;21512;p354">
            <a:extLst>
              <a:ext uri="{FF2B5EF4-FFF2-40B4-BE49-F238E27FC236}">
                <a16:creationId xmlns:a16="http://schemas.microsoft.com/office/drawing/2014/main" id="{67F296F4-1D81-9AB3-FED0-71FF39AC4A24}"/>
              </a:ext>
            </a:extLst>
          </p:cNvPr>
          <p:cNvGrpSpPr/>
          <p:nvPr/>
        </p:nvGrpSpPr>
        <p:grpSpPr>
          <a:xfrm>
            <a:off x="2229571" y="898661"/>
            <a:ext cx="2011437" cy="1354357"/>
            <a:chOff x="7996645" y="4997800"/>
            <a:chExt cx="1742072" cy="1489829"/>
          </a:xfrm>
        </p:grpSpPr>
        <p:sp>
          <p:nvSpPr>
            <p:cNvPr id="26" name="Google Shape;21513;p354">
              <a:extLst>
                <a:ext uri="{FF2B5EF4-FFF2-40B4-BE49-F238E27FC236}">
                  <a16:creationId xmlns:a16="http://schemas.microsoft.com/office/drawing/2014/main" id="{59928CF1-9C1A-B7F3-C843-F0E64F72DB6F}"/>
                </a:ext>
              </a:extLst>
            </p:cNvPr>
            <p:cNvSpPr txBox="1"/>
            <p:nvPr/>
          </p:nvSpPr>
          <p:spPr>
            <a:xfrm>
              <a:off x="7996645" y="5041112"/>
              <a:ext cx="1545903" cy="1446517"/>
            </a:xfrm>
            <a:prstGeom prst="rect">
              <a:avLst/>
            </a:prstGeom>
            <a:noFill/>
            <a:ln>
              <a:noFill/>
            </a:ln>
          </p:spPr>
          <p:txBody>
            <a:bodyPr spcFirstLastPara="1" wrap="square" lIns="83067" tIns="41533" rIns="83067" bIns="41533" anchor="t" anchorCtr="0">
              <a:spAutoFit/>
            </a:bodyPr>
            <a:lstStyle/>
            <a:p>
              <a:r>
                <a:rPr lang="en" sz="4000" dirty="0">
                  <a:solidFill>
                    <a:srgbClr val="000000"/>
                  </a:solidFill>
                  <a:latin typeface="Arial"/>
                  <a:ea typeface="Arial"/>
                  <a:cs typeface="Arial"/>
                  <a:sym typeface="Arial"/>
                </a:rPr>
                <a:t>• • • • •               </a:t>
              </a:r>
              <a:endParaRPr sz="2400" dirty="0"/>
            </a:p>
          </p:txBody>
        </p:sp>
        <p:sp>
          <p:nvSpPr>
            <p:cNvPr id="31" name="Google Shape;21514;p354">
              <a:extLst>
                <a:ext uri="{FF2B5EF4-FFF2-40B4-BE49-F238E27FC236}">
                  <a16:creationId xmlns:a16="http://schemas.microsoft.com/office/drawing/2014/main" id="{9C7EDFAA-D161-5754-9EDD-1A6A776A704D}"/>
                </a:ext>
              </a:extLst>
            </p:cNvPr>
            <p:cNvSpPr txBox="1"/>
            <p:nvPr/>
          </p:nvSpPr>
          <p:spPr>
            <a:xfrm>
              <a:off x="8849517" y="4997800"/>
              <a:ext cx="889200" cy="1175667"/>
            </a:xfrm>
            <a:prstGeom prst="rect">
              <a:avLst/>
            </a:prstGeom>
            <a:noFill/>
            <a:ln>
              <a:noFill/>
            </a:ln>
          </p:spPr>
          <p:txBody>
            <a:bodyPr spcFirstLastPara="1" wrap="square" lIns="83067" tIns="41533" rIns="83067" bIns="41533" anchor="t" anchorCtr="0">
              <a:spAutoFit/>
            </a:bodyPr>
            <a:lstStyle/>
            <a:p>
              <a:r>
                <a:rPr lang="en" sz="3600" dirty="0">
                  <a:solidFill>
                    <a:srgbClr val="000000"/>
                  </a:solidFill>
                  <a:latin typeface="Arial"/>
                  <a:ea typeface="Arial"/>
                  <a:cs typeface="Arial"/>
                  <a:sym typeface="Arial"/>
                </a:rPr>
                <a:t>   </a:t>
              </a:r>
              <a:r>
                <a:rPr lang="en" sz="1600" dirty="0">
                  <a:solidFill>
                    <a:srgbClr val="000000"/>
                  </a:solidFill>
                  <a:latin typeface="Arial"/>
                  <a:ea typeface="Arial"/>
                  <a:cs typeface="Arial"/>
                  <a:sym typeface="Arial"/>
                </a:rPr>
                <a:t>  </a:t>
              </a:r>
              <a:r>
                <a:rPr lang="en" sz="2800" dirty="0">
                  <a:solidFill>
                    <a:srgbClr val="000000"/>
                  </a:solidFill>
                  <a:latin typeface="Arial"/>
                  <a:ea typeface="Arial"/>
                  <a:cs typeface="Arial"/>
                  <a:sym typeface="Arial"/>
                </a:rPr>
                <a:t> ○</a:t>
              </a:r>
              <a:endParaRPr sz="3600" dirty="0"/>
            </a:p>
          </p:txBody>
        </p:sp>
      </p:grpSp>
      <p:sp>
        <p:nvSpPr>
          <p:cNvPr id="33" name="Google Shape;21506;p354">
            <a:extLst>
              <a:ext uri="{FF2B5EF4-FFF2-40B4-BE49-F238E27FC236}">
                <a16:creationId xmlns:a16="http://schemas.microsoft.com/office/drawing/2014/main" id="{10F61746-2B13-34A3-06CE-35D956903F47}"/>
              </a:ext>
            </a:extLst>
          </p:cNvPr>
          <p:cNvSpPr txBox="1"/>
          <p:nvPr/>
        </p:nvSpPr>
        <p:spPr>
          <a:xfrm>
            <a:off x="2656215" y="6268020"/>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pic>
        <p:nvPicPr>
          <p:cNvPr id="36" name="Google Shape;2017;p43">
            <a:extLst>
              <a:ext uri="{FF2B5EF4-FFF2-40B4-BE49-F238E27FC236}">
                <a16:creationId xmlns:a16="http://schemas.microsoft.com/office/drawing/2014/main" id="{E271BB28-02A8-5147-6AB3-C11A57EB121B}"/>
              </a:ext>
            </a:extLst>
          </p:cNvPr>
          <p:cNvPicPr preferRelativeResize="0"/>
          <p:nvPr/>
        </p:nvPicPr>
        <p:blipFill rotWithShape="1">
          <a:blip r:embed="rId4">
            <a:alphaModFix/>
          </a:blip>
          <a:srcRect t="57094"/>
          <a:stretch/>
        </p:blipFill>
        <p:spPr>
          <a:xfrm rot="10800000">
            <a:off x="2157167" y="6188910"/>
            <a:ext cx="568466" cy="244066"/>
          </a:xfrm>
          <a:prstGeom prst="rect">
            <a:avLst/>
          </a:prstGeom>
          <a:noFill/>
          <a:ln>
            <a:noFill/>
          </a:ln>
        </p:spPr>
      </p:pic>
      <p:sp>
        <p:nvSpPr>
          <p:cNvPr id="39" name="Google Shape;2019;p43">
            <a:extLst>
              <a:ext uri="{FF2B5EF4-FFF2-40B4-BE49-F238E27FC236}">
                <a16:creationId xmlns:a16="http://schemas.microsoft.com/office/drawing/2014/main" id="{F16673B8-802B-A10F-1600-036B185446F4}"/>
              </a:ext>
            </a:extLst>
          </p:cNvPr>
          <p:cNvSpPr/>
          <p:nvPr/>
        </p:nvSpPr>
        <p:spPr>
          <a:xfrm>
            <a:off x="2372635" y="6313995"/>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 name="Google Shape;21510;p354">
            <a:extLst>
              <a:ext uri="{FF2B5EF4-FFF2-40B4-BE49-F238E27FC236}">
                <a16:creationId xmlns:a16="http://schemas.microsoft.com/office/drawing/2014/main" id="{1FEE7133-C3F8-1B5D-E948-ED9BEEF2CD02}"/>
              </a:ext>
            </a:extLst>
          </p:cNvPr>
          <p:cNvSpPr txBox="1"/>
          <p:nvPr/>
        </p:nvSpPr>
        <p:spPr>
          <a:xfrm>
            <a:off x="1673753" y="5238864"/>
            <a:ext cx="1500866"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Learning &amp; Advancement</a:t>
            </a:r>
            <a:endParaRPr sz="1400" dirty="0"/>
          </a:p>
        </p:txBody>
      </p:sp>
      <p:sp>
        <p:nvSpPr>
          <p:cNvPr id="41" name="Google Shape;21511;p354">
            <a:extLst>
              <a:ext uri="{FF2B5EF4-FFF2-40B4-BE49-F238E27FC236}">
                <a16:creationId xmlns:a16="http://schemas.microsoft.com/office/drawing/2014/main" id="{2F719A71-E5CC-0C7E-9FE6-53710C1DEAF9}"/>
              </a:ext>
            </a:extLst>
          </p:cNvPr>
          <p:cNvSpPr txBox="1"/>
          <p:nvPr/>
        </p:nvSpPr>
        <p:spPr>
          <a:xfrm>
            <a:off x="3307992" y="5228962"/>
            <a:ext cx="1364424"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Engagement </a:t>
            </a:r>
          </a:p>
          <a:p>
            <a:pPr algn="ctr"/>
            <a:r>
              <a:rPr lang="en" sz="1400" dirty="0"/>
              <a:t>&amp; Wellbeing</a:t>
            </a:r>
            <a:endParaRPr sz="1400" dirty="0"/>
          </a:p>
        </p:txBody>
      </p:sp>
      <p:sp>
        <p:nvSpPr>
          <p:cNvPr id="43" name="Google Shape;123;p25">
            <a:extLst>
              <a:ext uri="{FF2B5EF4-FFF2-40B4-BE49-F238E27FC236}">
                <a16:creationId xmlns:a16="http://schemas.microsoft.com/office/drawing/2014/main" id="{83CFCBA1-AED2-8095-A9B8-F5527ECF198F}"/>
              </a:ext>
            </a:extLst>
          </p:cNvPr>
          <p:cNvSpPr/>
          <p:nvPr/>
        </p:nvSpPr>
        <p:spPr>
          <a:xfrm>
            <a:off x="1989798" y="5719937"/>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44" name="TextBox 43">
            <a:extLst>
              <a:ext uri="{FF2B5EF4-FFF2-40B4-BE49-F238E27FC236}">
                <a16:creationId xmlns:a16="http://schemas.microsoft.com/office/drawing/2014/main" id="{D0DD784B-387F-F31A-A736-96FB39780FFA}"/>
              </a:ext>
            </a:extLst>
          </p:cNvPr>
          <p:cNvSpPr txBox="1"/>
          <p:nvPr/>
        </p:nvSpPr>
        <p:spPr>
          <a:xfrm>
            <a:off x="2811945" y="5749245"/>
            <a:ext cx="780303"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45" name="Google Shape;122;p25">
            <a:extLst>
              <a:ext uri="{FF2B5EF4-FFF2-40B4-BE49-F238E27FC236}">
                <a16:creationId xmlns:a16="http://schemas.microsoft.com/office/drawing/2014/main" id="{292694CB-8492-8308-AB57-4EC3A49249F9}"/>
              </a:ext>
            </a:extLst>
          </p:cNvPr>
          <p:cNvSpPr/>
          <p:nvPr/>
        </p:nvSpPr>
        <p:spPr>
          <a:xfrm>
            <a:off x="3558359" y="5714838"/>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cxnSp>
        <p:nvCxnSpPr>
          <p:cNvPr id="47" name="Straight Arrow Connector 46">
            <a:extLst>
              <a:ext uri="{FF2B5EF4-FFF2-40B4-BE49-F238E27FC236}">
                <a16:creationId xmlns:a16="http://schemas.microsoft.com/office/drawing/2014/main" id="{3C703D69-3DB6-579C-021E-E3644972F36A}"/>
              </a:ext>
            </a:extLst>
          </p:cNvPr>
          <p:cNvCxnSpPr>
            <a:cxnSpLocks/>
          </p:cNvCxnSpPr>
          <p:nvPr/>
        </p:nvCxnSpPr>
        <p:spPr>
          <a:xfrm flipH="1">
            <a:off x="2795248" y="5132188"/>
            <a:ext cx="344019"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9FD3364D-D3B0-CEC6-49B0-96E9B71E754F}"/>
              </a:ext>
            </a:extLst>
          </p:cNvPr>
          <p:cNvCxnSpPr>
            <a:cxnSpLocks/>
          </p:cNvCxnSpPr>
          <p:nvPr/>
        </p:nvCxnSpPr>
        <p:spPr>
          <a:xfrm>
            <a:off x="3139267" y="5132188"/>
            <a:ext cx="357548"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 name="Google Shape;21537;p354">
            <a:extLst>
              <a:ext uri="{FF2B5EF4-FFF2-40B4-BE49-F238E27FC236}">
                <a16:creationId xmlns:a16="http://schemas.microsoft.com/office/drawing/2014/main" id="{09A9DAC9-6520-010C-9758-A8DB98838625}"/>
              </a:ext>
            </a:extLst>
          </p:cNvPr>
          <p:cNvSpPr txBox="1"/>
          <p:nvPr/>
        </p:nvSpPr>
        <p:spPr>
          <a:xfrm>
            <a:off x="1222674" y="2863569"/>
            <a:ext cx="3970075" cy="1175260"/>
          </a:xfrm>
          <a:prstGeom prst="rect">
            <a:avLst/>
          </a:prstGeom>
          <a:noFill/>
          <a:ln>
            <a:noFill/>
          </a:ln>
        </p:spPr>
        <p:txBody>
          <a:bodyPr spcFirstLastPara="1" wrap="square" lIns="112400" tIns="56167" rIns="112400" bIns="56167" anchor="t" anchorCtr="0">
            <a:spAutoFit/>
          </a:bodyPr>
          <a:lstStyle/>
          <a:p>
            <a:pPr marL="171450" indent="-171450">
              <a:lnSpc>
                <a:spcPct val="115000"/>
              </a:lnSpc>
              <a:buFont typeface="Arial" panose="020B0604020202020204" pitchFamily="34" charset="0"/>
              <a:buChar char="•"/>
            </a:pPr>
            <a:r>
              <a:rPr lang="en-US" sz="1200" dirty="0"/>
              <a:t>Algebra &amp; Critical thinking</a:t>
            </a:r>
          </a:p>
          <a:p>
            <a:pPr marL="171450" indent="-171450">
              <a:lnSpc>
                <a:spcPct val="115000"/>
              </a:lnSpc>
              <a:buFont typeface="Arial" panose="020B0604020202020204" pitchFamily="34" charset="0"/>
              <a:buChar char="•"/>
            </a:pPr>
            <a:r>
              <a:rPr lang="en-US" sz="1200" dirty="0"/>
              <a:t>Educators (Name 1, Name)</a:t>
            </a:r>
          </a:p>
          <a:p>
            <a:pPr marL="171450" indent="-171450">
              <a:lnSpc>
                <a:spcPct val="115000"/>
              </a:lnSpc>
              <a:buFont typeface="Arial" panose="020B0604020202020204" pitchFamily="34" charset="0"/>
              <a:buChar char="•"/>
            </a:pPr>
            <a:r>
              <a:rPr lang="en-US" sz="1200" dirty="0"/>
              <a:t>9</a:t>
            </a:r>
            <a:r>
              <a:rPr lang="en-US" sz="1200" baseline="30000" dirty="0"/>
              <a:t>th</a:t>
            </a:r>
            <a:r>
              <a:rPr lang="en-US" sz="1200" dirty="0"/>
              <a:t> &amp; 10</a:t>
            </a:r>
            <a:r>
              <a:rPr lang="en-US" sz="1200" baseline="30000" dirty="0"/>
              <a:t>th</a:t>
            </a:r>
            <a:r>
              <a:rPr lang="en-US" sz="1200" dirty="0"/>
              <a:t> Graders</a:t>
            </a:r>
          </a:p>
          <a:p>
            <a:pPr marL="171450" indent="-171450">
              <a:lnSpc>
                <a:spcPct val="115000"/>
              </a:lnSpc>
              <a:buFont typeface="Arial" panose="020B0604020202020204" pitchFamily="34" charset="0"/>
              <a:buChar char="•"/>
            </a:pPr>
            <a:r>
              <a:rPr lang="en-US" sz="1200" dirty="0"/>
              <a:t>100 students across 10 class</a:t>
            </a:r>
          </a:p>
          <a:p>
            <a:pPr marL="171450" indent="-171450">
              <a:lnSpc>
                <a:spcPct val="115000"/>
              </a:lnSpc>
              <a:buFont typeface="Arial" panose="020B0604020202020204" pitchFamily="34" charset="0"/>
              <a:buChar char="•"/>
            </a:pPr>
            <a:r>
              <a:rPr lang="en-US" sz="1200" dirty="0"/>
              <a:t>5x per week for 50 mins</a:t>
            </a:r>
            <a:endParaRPr lang="en" sz="1200" dirty="0"/>
          </a:p>
        </p:txBody>
      </p:sp>
    </p:spTree>
    <p:extLst>
      <p:ext uri="{BB962C8B-B14F-4D97-AF65-F5344CB8AC3E}">
        <p14:creationId xmlns:p14="http://schemas.microsoft.com/office/powerpoint/2010/main" val="37185160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E9657-107C-527F-4CD7-6593245DADF5}"/>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41E6BDEC-AA53-BD80-01D6-A50F77BD4258}"/>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FFFA1917-BF17-7064-9141-804CF3B5F526}"/>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7" name="Google Shape;21509;p354">
            <a:extLst>
              <a:ext uri="{FF2B5EF4-FFF2-40B4-BE49-F238E27FC236}">
                <a16:creationId xmlns:a16="http://schemas.microsoft.com/office/drawing/2014/main" id="{738DCE58-58A4-D948-904B-62D2376E11CF}"/>
              </a:ext>
            </a:extLst>
          </p:cNvPr>
          <p:cNvSpPr txBox="1"/>
          <p:nvPr/>
        </p:nvSpPr>
        <p:spPr>
          <a:xfrm>
            <a:off x="1760834"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35" name="TextBox 34">
            <a:extLst>
              <a:ext uri="{FF2B5EF4-FFF2-40B4-BE49-F238E27FC236}">
                <a16:creationId xmlns:a16="http://schemas.microsoft.com/office/drawing/2014/main" id="{3D5082C2-290D-A2C6-F669-3C0A9911249F}"/>
              </a:ext>
            </a:extLst>
          </p:cNvPr>
          <p:cNvSpPr txBox="1"/>
          <p:nvPr/>
        </p:nvSpPr>
        <p:spPr>
          <a:xfrm>
            <a:off x="1403431"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sp>
        <p:nvSpPr>
          <p:cNvPr id="2" name="Rounded Rectangle 1">
            <a:extLst>
              <a:ext uri="{FF2B5EF4-FFF2-40B4-BE49-F238E27FC236}">
                <a16:creationId xmlns:a16="http://schemas.microsoft.com/office/drawing/2014/main" id="{08213E32-7595-8CD6-8FDA-3B93ED82367B}"/>
              </a:ext>
            </a:extLst>
          </p:cNvPr>
          <p:cNvSpPr/>
          <p:nvPr/>
        </p:nvSpPr>
        <p:spPr>
          <a:xfrm>
            <a:off x="916612" y="2662165"/>
            <a:ext cx="4568398" cy="2470023"/>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TextBox 41">
            <a:extLst>
              <a:ext uri="{FF2B5EF4-FFF2-40B4-BE49-F238E27FC236}">
                <a16:creationId xmlns:a16="http://schemas.microsoft.com/office/drawing/2014/main" id="{4062450B-B4C4-4C11-E1DA-0EEA9DBAB001}"/>
              </a:ext>
            </a:extLst>
          </p:cNvPr>
          <p:cNvSpPr txBox="1"/>
          <p:nvPr/>
        </p:nvSpPr>
        <p:spPr>
          <a:xfrm>
            <a:off x="5447939" y="3566847"/>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6" name="TextBox 45">
            <a:extLst>
              <a:ext uri="{FF2B5EF4-FFF2-40B4-BE49-F238E27FC236}">
                <a16:creationId xmlns:a16="http://schemas.microsoft.com/office/drawing/2014/main" id="{66B52DBC-68E0-6F20-FAD1-7ECB5F91D1C0}"/>
              </a:ext>
            </a:extLst>
          </p:cNvPr>
          <p:cNvSpPr txBox="1"/>
          <p:nvPr/>
        </p:nvSpPr>
        <p:spPr>
          <a:xfrm rot="10800000">
            <a:off x="523685" y="3520460"/>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8" name="Rounded Rectangle 47">
            <a:extLst>
              <a:ext uri="{FF2B5EF4-FFF2-40B4-BE49-F238E27FC236}">
                <a16:creationId xmlns:a16="http://schemas.microsoft.com/office/drawing/2014/main" id="{599BD6CD-B508-5787-3F55-FC115119F264}"/>
              </a:ext>
            </a:extLst>
          </p:cNvPr>
          <p:cNvSpPr/>
          <p:nvPr/>
        </p:nvSpPr>
        <p:spPr>
          <a:xfrm>
            <a:off x="1970180" y="2273538"/>
            <a:ext cx="2467771" cy="324066"/>
          </a:xfrm>
          <a:prstGeom prst="roundRect">
            <a:avLst/>
          </a:prstGeom>
          <a:solidFill>
            <a:srgbClr val="D9E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Embedded Locations⌄</a:t>
            </a:r>
          </a:p>
        </p:txBody>
      </p:sp>
      <p:cxnSp>
        <p:nvCxnSpPr>
          <p:cNvPr id="50" name="Straight Connector 49">
            <a:extLst>
              <a:ext uri="{FF2B5EF4-FFF2-40B4-BE49-F238E27FC236}">
                <a16:creationId xmlns:a16="http://schemas.microsoft.com/office/drawing/2014/main" id="{0F7192A2-FA7C-576B-1248-3B59487F1CC9}"/>
              </a:ext>
            </a:extLst>
          </p:cNvPr>
          <p:cNvCxnSpPr/>
          <p:nvPr/>
        </p:nvCxnSpPr>
        <p:spPr>
          <a:xfrm>
            <a:off x="2190961" y="2568553"/>
            <a:ext cx="1932094" cy="0"/>
          </a:xfrm>
          <a:prstGeom prst="line">
            <a:avLst/>
          </a:prstGeom>
          <a:ln>
            <a:solidFill>
              <a:srgbClr val="1A6A24"/>
            </a:solidFill>
          </a:ln>
        </p:spPr>
        <p:style>
          <a:lnRef idx="2">
            <a:schemeClr val="accent1"/>
          </a:lnRef>
          <a:fillRef idx="0">
            <a:schemeClr val="accent1"/>
          </a:fillRef>
          <a:effectRef idx="1">
            <a:schemeClr val="accent1"/>
          </a:effectRef>
          <a:fontRef idx="minor">
            <a:schemeClr val="tx1"/>
          </a:fontRef>
        </p:style>
      </p:cxnSp>
      <p:grpSp>
        <p:nvGrpSpPr>
          <p:cNvPr id="18" name="Google Shape;21512;p354">
            <a:extLst>
              <a:ext uri="{FF2B5EF4-FFF2-40B4-BE49-F238E27FC236}">
                <a16:creationId xmlns:a16="http://schemas.microsoft.com/office/drawing/2014/main" id="{27F7FBDC-BE60-24D0-D36A-F2C0EA4261E5}"/>
              </a:ext>
            </a:extLst>
          </p:cNvPr>
          <p:cNvGrpSpPr/>
          <p:nvPr/>
        </p:nvGrpSpPr>
        <p:grpSpPr>
          <a:xfrm>
            <a:off x="2229571" y="898661"/>
            <a:ext cx="2011437" cy="1354357"/>
            <a:chOff x="7996645" y="4997800"/>
            <a:chExt cx="1742072" cy="1489829"/>
          </a:xfrm>
        </p:grpSpPr>
        <p:sp>
          <p:nvSpPr>
            <p:cNvPr id="19" name="Google Shape;21513;p354">
              <a:extLst>
                <a:ext uri="{FF2B5EF4-FFF2-40B4-BE49-F238E27FC236}">
                  <a16:creationId xmlns:a16="http://schemas.microsoft.com/office/drawing/2014/main" id="{8906CB34-73E0-4226-79EE-BED44DACDA0A}"/>
                </a:ext>
              </a:extLst>
            </p:cNvPr>
            <p:cNvSpPr txBox="1"/>
            <p:nvPr/>
          </p:nvSpPr>
          <p:spPr>
            <a:xfrm>
              <a:off x="7996645" y="5041112"/>
              <a:ext cx="1545903" cy="1446517"/>
            </a:xfrm>
            <a:prstGeom prst="rect">
              <a:avLst/>
            </a:prstGeom>
            <a:noFill/>
            <a:ln>
              <a:noFill/>
            </a:ln>
          </p:spPr>
          <p:txBody>
            <a:bodyPr spcFirstLastPara="1" wrap="square" lIns="83067" tIns="41533" rIns="83067" bIns="41533" anchor="t" anchorCtr="0">
              <a:spAutoFit/>
            </a:bodyPr>
            <a:lstStyle/>
            <a:p>
              <a:r>
                <a:rPr lang="en" sz="4000" dirty="0">
                  <a:solidFill>
                    <a:srgbClr val="000000"/>
                  </a:solidFill>
                  <a:latin typeface="Arial"/>
                  <a:ea typeface="Arial"/>
                  <a:cs typeface="Arial"/>
                  <a:sym typeface="Arial"/>
                </a:rPr>
                <a:t>• • • • •               </a:t>
              </a:r>
              <a:endParaRPr sz="2400" dirty="0"/>
            </a:p>
          </p:txBody>
        </p:sp>
        <p:sp>
          <p:nvSpPr>
            <p:cNvPr id="20" name="Google Shape;21514;p354">
              <a:extLst>
                <a:ext uri="{FF2B5EF4-FFF2-40B4-BE49-F238E27FC236}">
                  <a16:creationId xmlns:a16="http://schemas.microsoft.com/office/drawing/2014/main" id="{E7C86E02-4DB4-149D-31CF-C03519636C89}"/>
                </a:ext>
              </a:extLst>
            </p:cNvPr>
            <p:cNvSpPr txBox="1"/>
            <p:nvPr/>
          </p:nvSpPr>
          <p:spPr>
            <a:xfrm>
              <a:off x="8849517" y="4997800"/>
              <a:ext cx="889200" cy="1175667"/>
            </a:xfrm>
            <a:prstGeom prst="rect">
              <a:avLst/>
            </a:prstGeom>
            <a:noFill/>
            <a:ln>
              <a:noFill/>
            </a:ln>
          </p:spPr>
          <p:txBody>
            <a:bodyPr spcFirstLastPara="1" wrap="square" lIns="83067" tIns="41533" rIns="83067" bIns="41533" anchor="t" anchorCtr="0">
              <a:spAutoFit/>
            </a:bodyPr>
            <a:lstStyle/>
            <a:p>
              <a:r>
                <a:rPr lang="en" sz="3600" dirty="0">
                  <a:solidFill>
                    <a:srgbClr val="000000"/>
                  </a:solidFill>
                  <a:latin typeface="Arial"/>
                  <a:ea typeface="Arial"/>
                  <a:cs typeface="Arial"/>
                  <a:sym typeface="Arial"/>
                </a:rPr>
                <a:t>   </a:t>
              </a:r>
              <a:r>
                <a:rPr lang="en" sz="1600" dirty="0">
                  <a:solidFill>
                    <a:srgbClr val="000000"/>
                  </a:solidFill>
                  <a:latin typeface="Arial"/>
                  <a:ea typeface="Arial"/>
                  <a:cs typeface="Arial"/>
                  <a:sym typeface="Arial"/>
                </a:rPr>
                <a:t>  </a:t>
              </a:r>
              <a:r>
                <a:rPr lang="en" sz="2800" dirty="0">
                  <a:solidFill>
                    <a:srgbClr val="000000"/>
                  </a:solidFill>
                  <a:latin typeface="Arial"/>
                  <a:ea typeface="Arial"/>
                  <a:cs typeface="Arial"/>
                  <a:sym typeface="Arial"/>
                </a:rPr>
                <a:t> ○</a:t>
              </a:r>
              <a:endParaRPr sz="3600" dirty="0"/>
            </a:p>
          </p:txBody>
        </p:sp>
      </p:grpSp>
      <p:sp>
        <p:nvSpPr>
          <p:cNvPr id="21" name="Google Shape;21506;p354">
            <a:extLst>
              <a:ext uri="{FF2B5EF4-FFF2-40B4-BE49-F238E27FC236}">
                <a16:creationId xmlns:a16="http://schemas.microsoft.com/office/drawing/2014/main" id="{3EB5D0B8-A9DD-BB6E-36DC-E2605D64747D}"/>
              </a:ext>
            </a:extLst>
          </p:cNvPr>
          <p:cNvSpPr txBox="1"/>
          <p:nvPr/>
        </p:nvSpPr>
        <p:spPr>
          <a:xfrm>
            <a:off x="2656215" y="6268020"/>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pic>
        <p:nvPicPr>
          <p:cNvPr id="22" name="Google Shape;2017;p43">
            <a:extLst>
              <a:ext uri="{FF2B5EF4-FFF2-40B4-BE49-F238E27FC236}">
                <a16:creationId xmlns:a16="http://schemas.microsoft.com/office/drawing/2014/main" id="{B74BA846-9A17-9C64-6710-CA4F19B9E3B7}"/>
              </a:ext>
            </a:extLst>
          </p:cNvPr>
          <p:cNvPicPr preferRelativeResize="0"/>
          <p:nvPr/>
        </p:nvPicPr>
        <p:blipFill rotWithShape="1">
          <a:blip r:embed="rId4">
            <a:alphaModFix/>
          </a:blip>
          <a:srcRect t="57094"/>
          <a:stretch/>
        </p:blipFill>
        <p:spPr>
          <a:xfrm rot="10800000">
            <a:off x="2157167" y="6188910"/>
            <a:ext cx="568466" cy="244066"/>
          </a:xfrm>
          <a:prstGeom prst="rect">
            <a:avLst/>
          </a:prstGeom>
          <a:noFill/>
          <a:ln>
            <a:noFill/>
          </a:ln>
        </p:spPr>
      </p:pic>
      <p:sp>
        <p:nvSpPr>
          <p:cNvPr id="24" name="Google Shape;2019;p43">
            <a:extLst>
              <a:ext uri="{FF2B5EF4-FFF2-40B4-BE49-F238E27FC236}">
                <a16:creationId xmlns:a16="http://schemas.microsoft.com/office/drawing/2014/main" id="{4E8E250B-9333-9889-4147-069B845671E7}"/>
              </a:ext>
            </a:extLst>
          </p:cNvPr>
          <p:cNvSpPr/>
          <p:nvPr/>
        </p:nvSpPr>
        <p:spPr>
          <a:xfrm>
            <a:off x="2372635" y="6313995"/>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5" name="Google Shape;21510;p354">
            <a:extLst>
              <a:ext uri="{FF2B5EF4-FFF2-40B4-BE49-F238E27FC236}">
                <a16:creationId xmlns:a16="http://schemas.microsoft.com/office/drawing/2014/main" id="{E5B78C53-02CA-F57D-3021-086056EA6FD4}"/>
              </a:ext>
            </a:extLst>
          </p:cNvPr>
          <p:cNvSpPr txBox="1"/>
          <p:nvPr/>
        </p:nvSpPr>
        <p:spPr>
          <a:xfrm>
            <a:off x="1673753" y="5238864"/>
            <a:ext cx="1500866"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Learning &amp; Advancement</a:t>
            </a:r>
            <a:endParaRPr sz="1400" dirty="0"/>
          </a:p>
        </p:txBody>
      </p:sp>
      <p:sp>
        <p:nvSpPr>
          <p:cNvPr id="26" name="Google Shape;21511;p354">
            <a:extLst>
              <a:ext uri="{FF2B5EF4-FFF2-40B4-BE49-F238E27FC236}">
                <a16:creationId xmlns:a16="http://schemas.microsoft.com/office/drawing/2014/main" id="{97CB0B4D-ED91-6A93-388F-F9B0F5623A17}"/>
              </a:ext>
            </a:extLst>
          </p:cNvPr>
          <p:cNvSpPr txBox="1"/>
          <p:nvPr/>
        </p:nvSpPr>
        <p:spPr>
          <a:xfrm>
            <a:off x="3307992" y="5228962"/>
            <a:ext cx="1364424"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Engagement </a:t>
            </a:r>
          </a:p>
          <a:p>
            <a:pPr algn="ctr"/>
            <a:r>
              <a:rPr lang="en" sz="1400" dirty="0"/>
              <a:t>&amp; Wellbeing</a:t>
            </a:r>
            <a:endParaRPr sz="1400" dirty="0"/>
          </a:p>
        </p:txBody>
      </p:sp>
      <p:sp>
        <p:nvSpPr>
          <p:cNvPr id="31" name="Google Shape;123;p25">
            <a:extLst>
              <a:ext uri="{FF2B5EF4-FFF2-40B4-BE49-F238E27FC236}">
                <a16:creationId xmlns:a16="http://schemas.microsoft.com/office/drawing/2014/main" id="{4068100B-2442-020B-A08D-824C7BEF9EE2}"/>
              </a:ext>
            </a:extLst>
          </p:cNvPr>
          <p:cNvSpPr/>
          <p:nvPr/>
        </p:nvSpPr>
        <p:spPr>
          <a:xfrm>
            <a:off x="1989798" y="5719937"/>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33" name="TextBox 32">
            <a:extLst>
              <a:ext uri="{FF2B5EF4-FFF2-40B4-BE49-F238E27FC236}">
                <a16:creationId xmlns:a16="http://schemas.microsoft.com/office/drawing/2014/main" id="{2D512EF2-7F3A-2116-5EF9-2CE84658E6A2}"/>
              </a:ext>
            </a:extLst>
          </p:cNvPr>
          <p:cNvSpPr txBox="1"/>
          <p:nvPr/>
        </p:nvSpPr>
        <p:spPr>
          <a:xfrm>
            <a:off x="2811945" y="5749245"/>
            <a:ext cx="780303"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36" name="Google Shape;122;p25">
            <a:extLst>
              <a:ext uri="{FF2B5EF4-FFF2-40B4-BE49-F238E27FC236}">
                <a16:creationId xmlns:a16="http://schemas.microsoft.com/office/drawing/2014/main" id="{55EF6624-FE08-D225-E39D-483433FAF3E7}"/>
              </a:ext>
            </a:extLst>
          </p:cNvPr>
          <p:cNvSpPr/>
          <p:nvPr/>
        </p:nvSpPr>
        <p:spPr>
          <a:xfrm>
            <a:off x="3558359" y="5714838"/>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cxnSp>
        <p:nvCxnSpPr>
          <p:cNvPr id="39" name="Straight Arrow Connector 38">
            <a:extLst>
              <a:ext uri="{FF2B5EF4-FFF2-40B4-BE49-F238E27FC236}">
                <a16:creationId xmlns:a16="http://schemas.microsoft.com/office/drawing/2014/main" id="{6670DC8C-2C38-D5F9-24C6-9C729035D74F}"/>
              </a:ext>
            </a:extLst>
          </p:cNvPr>
          <p:cNvCxnSpPr>
            <a:cxnSpLocks/>
          </p:cNvCxnSpPr>
          <p:nvPr/>
        </p:nvCxnSpPr>
        <p:spPr>
          <a:xfrm flipH="1">
            <a:off x="2795248" y="5132188"/>
            <a:ext cx="344019"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991B566-5E22-9306-4434-AC833FECB99D}"/>
              </a:ext>
            </a:extLst>
          </p:cNvPr>
          <p:cNvCxnSpPr>
            <a:cxnSpLocks/>
          </p:cNvCxnSpPr>
          <p:nvPr/>
        </p:nvCxnSpPr>
        <p:spPr>
          <a:xfrm>
            <a:off x="3139267" y="5132188"/>
            <a:ext cx="357548"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09849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86030-B06F-9CD6-12BE-F29657383058}"/>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A938AF9C-8D5A-E834-E38E-184076730282}"/>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00721637-930A-FA07-357B-975C09DE30AD}"/>
              </a:ext>
            </a:extLst>
          </p:cNvPr>
          <p:cNvSpPr/>
          <p:nvPr/>
        </p:nvSpPr>
        <p:spPr>
          <a:xfrm>
            <a:off x="509883" y="1121540"/>
            <a:ext cx="10985791"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7" name="Google Shape;21509;p354">
            <a:extLst>
              <a:ext uri="{FF2B5EF4-FFF2-40B4-BE49-F238E27FC236}">
                <a16:creationId xmlns:a16="http://schemas.microsoft.com/office/drawing/2014/main" id="{7D090BCC-BEC0-937F-386B-C7EFA554A971}"/>
              </a:ext>
            </a:extLst>
          </p:cNvPr>
          <p:cNvSpPr txBox="1"/>
          <p:nvPr/>
        </p:nvSpPr>
        <p:spPr>
          <a:xfrm>
            <a:off x="4130811"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35" name="TextBox 34">
            <a:extLst>
              <a:ext uri="{FF2B5EF4-FFF2-40B4-BE49-F238E27FC236}">
                <a16:creationId xmlns:a16="http://schemas.microsoft.com/office/drawing/2014/main" id="{91F44499-BAEF-4E6F-1954-B8EC18C49AB7}"/>
              </a:ext>
            </a:extLst>
          </p:cNvPr>
          <p:cNvSpPr txBox="1"/>
          <p:nvPr/>
        </p:nvSpPr>
        <p:spPr>
          <a:xfrm>
            <a:off x="3773408"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sp>
        <p:nvSpPr>
          <p:cNvPr id="62" name="Rounded Rectangle 61">
            <a:extLst>
              <a:ext uri="{FF2B5EF4-FFF2-40B4-BE49-F238E27FC236}">
                <a16:creationId xmlns:a16="http://schemas.microsoft.com/office/drawing/2014/main" id="{67E066DC-EAE8-4764-7F9A-3A9D901CDF7D}"/>
              </a:ext>
            </a:extLst>
          </p:cNvPr>
          <p:cNvSpPr/>
          <p:nvPr/>
        </p:nvSpPr>
        <p:spPr>
          <a:xfrm>
            <a:off x="1861473" y="2459814"/>
            <a:ext cx="1762611" cy="1105544"/>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3" name="Rounded Rectangle 62">
            <a:extLst>
              <a:ext uri="{FF2B5EF4-FFF2-40B4-BE49-F238E27FC236}">
                <a16:creationId xmlns:a16="http://schemas.microsoft.com/office/drawing/2014/main" id="{8139871E-FED9-A6DD-A24D-B22140EA846A}"/>
              </a:ext>
            </a:extLst>
          </p:cNvPr>
          <p:cNvSpPr/>
          <p:nvPr/>
        </p:nvSpPr>
        <p:spPr>
          <a:xfrm>
            <a:off x="3840114" y="2459814"/>
            <a:ext cx="1762611" cy="1105544"/>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53" name="Rounded Rectangle 1152">
            <a:extLst>
              <a:ext uri="{FF2B5EF4-FFF2-40B4-BE49-F238E27FC236}">
                <a16:creationId xmlns:a16="http://schemas.microsoft.com/office/drawing/2014/main" id="{DB3B01D4-9B09-EA86-DC20-7B9F97B4FD9B}"/>
              </a:ext>
            </a:extLst>
          </p:cNvPr>
          <p:cNvSpPr/>
          <p:nvPr/>
        </p:nvSpPr>
        <p:spPr>
          <a:xfrm>
            <a:off x="5818755" y="2449304"/>
            <a:ext cx="1762611" cy="1105544"/>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54" name="Rounded Rectangle 1153">
            <a:extLst>
              <a:ext uri="{FF2B5EF4-FFF2-40B4-BE49-F238E27FC236}">
                <a16:creationId xmlns:a16="http://schemas.microsoft.com/office/drawing/2014/main" id="{29D6BD2D-786C-86EB-DECA-DD3B13738CC7}"/>
              </a:ext>
            </a:extLst>
          </p:cNvPr>
          <p:cNvSpPr/>
          <p:nvPr/>
        </p:nvSpPr>
        <p:spPr>
          <a:xfrm>
            <a:off x="7797396" y="2438687"/>
            <a:ext cx="1762611" cy="1105544"/>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72" name="Rounded Rectangle 1171">
            <a:extLst>
              <a:ext uri="{FF2B5EF4-FFF2-40B4-BE49-F238E27FC236}">
                <a16:creationId xmlns:a16="http://schemas.microsoft.com/office/drawing/2014/main" id="{930CE9F7-67F4-1264-0A8A-6B934F3493FA}"/>
              </a:ext>
            </a:extLst>
          </p:cNvPr>
          <p:cNvSpPr/>
          <p:nvPr/>
        </p:nvSpPr>
        <p:spPr>
          <a:xfrm>
            <a:off x="4838336" y="3737649"/>
            <a:ext cx="1762611" cy="1105544"/>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73" name="Rounded Rectangle 1172">
            <a:extLst>
              <a:ext uri="{FF2B5EF4-FFF2-40B4-BE49-F238E27FC236}">
                <a16:creationId xmlns:a16="http://schemas.microsoft.com/office/drawing/2014/main" id="{95C0B12F-A37E-353F-E680-9E775507F166}"/>
              </a:ext>
            </a:extLst>
          </p:cNvPr>
          <p:cNvSpPr/>
          <p:nvPr/>
        </p:nvSpPr>
        <p:spPr>
          <a:xfrm>
            <a:off x="6843257" y="3727139"/>
            <a:ext cx="1762611" cy="1105544"/>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ounded Rectangle 6">
            <a:extLst>
              <a:ext uri="{FF2B5EF4-FFF2-40B4-BE49-F238E27FC236}">
                <a16:creationId xmlns:a16="http://schemas.microsoft.com/office/drawing/2014/main" id="{A59438B3-FB1B-9756-EB2D-0EE617E6D63A}"/>
              </a:ext>
            </a:extLst>
          </p:cNvPr>
          <p:cNvSpPr/>
          <p:nvPr/>
        </p:nvSpPr>
        <p:spPr>
          <a:xfrm>
            <a:off x="2886169" y="3715365"/>
            <a:ext cx="1762611" cy="1105544"/>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Google Shape;21506;p354">
            <a:extLst>
              <a:ext uri="{FF2B5EF4-FFF2-40B4-BE49-F238E27FC236}">
                <a16:creationId xmlns:a16="http://schemas.microsoft.com/office/drawing/2014/main" id="{5935125E-15B4-8FF6-1BDA-0C06CCBFDAEB}"/>
              </a:ext>
            </a:extLst>
          </p:cNvPr>
          <p:cNvSpPr txBox="1"/>
          <p:nvPr/>
        </p:nvSpPr>
        <p:spPr>
          <a:xfrm>
            <a:off x="5253294" y="6165386"/>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pic>
        <p:nvPicPr>
          <p:cNvPr id="6" name="Google Shape;2017;p43">
            <a:extLst>
              <a:ext uri="{FF2B5EF4-FFF2-40B4-BE49-F238E27FC236}">
                <a16:creationId xmlns:a16="http://schemas.microsoft.com/office/drawing/2014/main" id="{86B1D640-EFF3-EFA8-2AFB-777F533D5319}"/>
              </a:ext>
            </a:extLst>
          </p:cNvPr>
          <p:cNvPicPr preferRelativeResize="0"/>
          <p:nvPr/>
        </p:nvPicPr>
        <p:blipFill rotWithShape="1">
          <a:blip r:embed="rId4">
            <a:alphaModFix/>
          </a:blip>
          <a:srcRect t="57094"/>
          <a:stretch/>
        </p:blipFill>
        <p:spPr>
          <a:xfrm rot="10800000">
            <a:off x="4754246" y="6086276"/>
            <a:ext cx="568466" cy="244066"/>
          </a:xfrm>
          <a:prstGeom prst="rect">
            <a:avLst/>
          </a:prstGeom>
          <a:noFill/>
          <a:ln>
            <a:noFill/>
          </a:ln>
        </p:spPr>
      </p:pic>
      <p:sp>
        <p:nvSpPr>
          <p:cNvPr id="11" name="Google Shape;2019;p43">
            <a:extLst>
              <a:ext uri="{FF2B5EF4-FFF2-40B4-BE49-F238E27FC236}">
                <a16:creationId xmlns:a16="http://schemas.microsoft.com/office/drawing/2014/main" id="{12165D95-DAF4-9075-00DC-9AE861668388}"/>
              </a:ext>
            </a:extLst>
          </p:cNvPr>
          <p:cNvSpPr/>
          <p:nvPr/>
        </p:nvSpPr>
        <p:spPr>
          <a:xfrm>
            <a:off x="4969714" y="6211361"/>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 name="Google Shape;21510;p354">
            <a:extLst>
              <a:ext uri="{FF2B5EF4-FFF2-40B4-BE49-F238E27FC236}">
                <a16:creationId xmlns:a16="http://schemas.microsoft.com/office/drawing/2014/main" id="{FE5D6AD1-A8DA-2CB7-1D7B-518449206825}"/>
              </a:ext>
            </a:extLst>
          </p:cNvPr>
          <p:cNvSpPr txBox="1"/>
          <p:nvPr/>
        </p:nvSpPr>
        <p:spPr>
          <a:xfrm>
            <a:off x="4261405" y="5060814"/>
            <a:ext cx="1500866"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Learning &amp; Advancement</a:t>
            </a:r>
            <a:endParaRPr sz="1400" dirty="0"/>
          </a:p>
        </p:txBody>
      </p:sp>
      <p:sp>
        <p:nvSpPr>
          <p:cNvPr id="21" name="Google Shape;21511;p354">
            <a:extLst>
              <a:ext uri="{FF2B5EF4-FFF2-40B4-BE49-F238E27FC236}">
                <a16:creationId xmlns:a16="http://schemas.microsoft.com/office/drawing/2014/main" id="{89EF2960-CA18-BC9C-997A-52A776321E54}"/>
              </a:ext>
            </a:extLst>
          </p:cNvPr>
          <p:cNvSpPr txBox="1"/>
          <p:nvPr/>
        </p:nvSpPr>
        <p:spPr>
          <a:xfrm>
            <a:off x="5895644" y="5050912"/>
            <a:ext cx="1364424"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Engagement </a:t>
            </a:r>
          </a:p>
          <a:p>
            <a:pPr algn="ctr"/>
            <a:r>
              <a:rPr lang="en" sz="1400" dirty="0"/>
              <a:t>&amp; Wellbeing</a:t>
            </a:r>
            <a:endParaRPr sz="1400" dirty="0"/>
          </a:p>
        </p:txBody>
      </p:sp>
      <p:sp>
        <p:nvSpPr>
          <p:cNvPr id="26" name="Google Shape;123;p25">
            <a:extLst>
              <a:ext uri="{FF2B5EF4-FFF2-40B4-BE49-F238E27FC236}">
                <a16:creationId xmlns:a16="http://schemas.microsoft.com/office/drawing/2014/main" id="{874104A6-C0BF-44F6-AB93-ABF53E35DF6D}"/>
              </a:ext>
            </a:extLst>
          </p:cNvPr>
          <p:cNvSpPr/>
          <p:nvPr/>
        </p:nvSpPr>
        <p:spPr>
          <a:xfrm>
            <a:off x="4577450" y="5541887"/>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31" name="TextBox 30">
            <a:extLst>
              <a:ext uri="{FF2B5EF4-FFF2-40B4-BE49-F238E27FC236}">
                <a16:creationId xmlns:a16="http://schemas.microsoft.com/office/drawing/2014/main" id="{D3D1D2BD-E3A1-5736-1513-017D09495DD3}"/>
              </a:ext>
            </a:extLst>
          </p:cNvPr>
          <p:cNvSpPr txBox="1"/>
          <p:nvPr/>
        </p:nvSpPr>
        <p:spPr>
          <a:xfrm>
            <a:off x="5399597" y="5571195"/>
            <a:ext cx="780303"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33" name="Google Shape;122;p25">
            <a:extLst>
              <a:ext uri="{FF2B5EF4-FFF2-40B4-BE49-F238E27FC236}">
                <a16:creationId xmlns:a16="http://schemas.microsoft.com/office/drawing/2014/main" id="{9BE1FC7A-58A0-F7CA-2546-209EB8BEAC59}"/>
              </a:ext>
            </a:extLst>
          </p:cNvPr>
          <p:cNvSpPr/>
          <p:nvPr/>
        </p:nvSpPr>
        <p:spPr>
          <a:xfrm>
            <a:off x="6146011" y="5536788"/>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cxnSp>
        <p:nvCxnSpPr>
          <p:cNvPr id="36" name="Straight Arrow Connector 35">
            <a:extLst>
              <a:ext uri="{FF2B5EF4-FFF2-40B4-BE49-F238E27FC236}">
                <a16:creationId xmlns:a16="http://schemas.microsoft.com/office/drawing/2014/main" id="{9A46BDA2-CC21-58CC-8165-D131603DF2F4}"/>
              </a:ext>
            </a:extLst>
          </p:cNvPr>
          <p:cNvCxnSpPr>
            <a:cxnSpLocks/>
          </p:cNvCxnSpPr>
          <p:nvPr/>
        </p:nvCxnSpPr>
        <p:spPr>
          <a:xfrm flipH="1">
            <a:off x="5382900" y="4954138"/>
            <a:ext cx="344019"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875E5F24-E8EE-3260-D13F-EB14F9D3BF09}"/>
              </a:ext>
            </a:extLst>
          </p:cNvPr>
          <p:cNvCxnSpPr>
            <a:cxnSpLocks/>
          </p:cNvCxnSpPr>
          <p:nvPr/>
        </p:nvCxnSpPr>
        <p:spPr>
          <a:xfrm>
            <a:off x="5726919" y="4954138"/>
            <a:ext cx="357548"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486C5476-4FA7-237D-A962-B316D08B48D8}"/>
              </a:ext>
            </a:extLst>
          </p:cNvPr>
          <p:cNvSpPr txBox="1"/>
          <p:nvPr/>
        </p:nvSpPr>
        <p:spPr>
          <a:xfrm>
            <a:off x="4851817" y="3812942"/>
            <a:ext cx="489238" cy="215444"/>
          </a:xfrm>
          <a:prstGeom prst="rect">
            <a:avLst/>
          </a:prstGeom>
          <a:noFill/>
        </p:spPr>
        <p:txBody>
          <a:bodyPr wrap="none" rtlCol="0">
            <a:spAutoFit/>
          </a:bodyPr>
          <a:lstStyle/>
          <a:p>
            <a:pPr algn="ctr">
              <a:buClrTx/>
              <a:buFontTx/>
              <a:buNone/>
              <a:defRPr/>
            </a:pPr>
            <a:r>
              <a:rPr lang="en-US" sz="800" u="sng" kern="1200" dirty="0">
                <a:solidFill>
                  <a:srgbClr val="001F5F"/>
                </a:solidFill>
                <a:latin typeface="Aptos" panose="02110004020202020204"/>
                <a:ea typeface="+mn-ea"/>
                <a:cs typeface="+mn-cs"/>
              </a:rPr>
              <a:t>Design</a:t>
            </a:r>
          </a:p>
        </p:txBody>
      </p:sp>
      <p:sp>
        <p:nvSpPr>
          <p:cNvPr id="60" name="TextBox 59">
            <a:extLst>
              <a:ext uri="{FF2B5EF4-FFF2-40B4-BE49-F238E27FC236}">
                <a16:creationId xmlns:a16="http://schemas.microsoft.com/office/drawing/2014/main" id="{429CF461-10D0-05C0-AB44-7E48B68C740C}"/>
              </a:ext>
            </a:extLst>
          </p:cNvPr>
          <p:cNvSpPr txBox="1"/>
          <p:nvPr/>
        </p:nvSpPr>
        <p:spPr>
          <a:xfrm>
            <a:off x="5909083" y="3793741"/>
            <a:ext cx="668773" cy="215444"/>
          </a:xfrm>
          <a:prstGeom prst="rect">
            <a:avLst/>
          </a:prstGeom>
          <a:noFill/>
        </p:spPr>
        <p:txBody>
          <a:bodyPr wrap="none" rtlCol="0">
            <a:spAutoFit/>
          </a:bodyPr>
          <a:lstStyle/>
          <a:p>
            <a:pPr>
              <a:buClrTx/>
              <a:buFontTx/>
              <a:buNone/>
            </a:pPr>
            <a:r>
              <a:rPr lang="en-US" sz="800" u="sng" kern="1200" dirty="0">
                <a:solidFill>
                  <a:srgbClr val="001F5F"/>
                </a:solidFill>
                <a:latin typeface="Aptos" panose="02110004020202020204"/>
                <a:ea typeface="+mn-ea"/>
                <a:cs typeface="+mn-cs"/>
              </a:rPr>
              <a:t>Conditions</a:t>
            </a:r>
          </a:p>
        </p:txBody>
      </p:sp>
      <p:cxnSp>
        <p:nvCxnSpPr>
          <p:cNvPr id="61" name="Straight Connector 60">
            <a:extLst>
              <a:ext uri="{FF2B5EF4-FFF2-40B4-BE49-F238E27FC236}">
                <a16:creationId xmlns:a16="http://schemas.microsoft.com/office/drawing/2014/main" id="{909B2D66-764B-4A3F-5A87-A497FEDDE198}"/>
              </a:ext>
            </a:extLst>
          </p:cNvPr>
          <p:cNvCxnSpPr>
            <a:cxnSpLocks/>
          </p:cNvCxnSpPr>
          <p:nvPr/>
        </p:nvCxnSpPr>
        <p:spPr>
          <a:xfrm>
            <a:off x="5231486" y="4039428"/>
            <a:ext cx="563076" cy="176715"/>
          </a:xfrm>
          <a:prstGeom prst="line">
            <a:avLst/>
          </a:prstGeom>
          <a:noFill/>
          <a:ln w="19050" cap="flat" cmpd="sng" algn="ctr">
            <a:solidFill>
              <a:srgbClr val="8EDA73"/>
            </a:solidFill>
            <a:prstDash val="solid"/>
            <a:miter lim="800000"/>
          </a:ln>
          <a:effectLst/>
        </p:spPr>
      </p:cxnSp>
      <p:cxnSp>
        <p:nvCxnSpPr>
          <p:cNvPr id="1156" name="Straight Connector 1155">
            <a:extLst>
              <a:ext uri="{FF2B5EF4-FFF2-40B4-BE49-F238E27FC236}">
                <a16:creationId xmlns:a16="http://schemas.microsoft.com/office/drawing/2014/main" id="{344A4CB1-2205-AD59-AF15-CD01793D2F40}"/>
              </a:ext>
            </a:extLst>
          </p:cNvPr>
          <p:cNvCxnSpPr>
            <a:cxnSpLocks/>
          </p:cNvCxnSpPr>
          <p:nvPr/>
        </p:nvCxnSpPr>
        <p:spPr>
          <a:xfrm flipV="1">
            <a:off x="5616363" y="4046354"/>
            <a:ext cx="541424" cy="172151"/>
          </a:xfrm>
          <a:prstGeom prst="line">
            <a:avLst/>
          </a:prstGeom>
          <a:noFill/>
          <a:ln w="19050" cap="flat" cmpd="sng" algn="ctr">
            <a:solidFill>
              <a:srgbClr val="FFD791"/>
            </a:solidFill>
            <a:prstDash val="solid"/>
            <a:miter lim="800000"/>
          </a:ln>
          <a:effectLst/>
        </p:spPr>
      </p:cxnSp>
      <p:cxnSp>
        <p:nvCxnSpPr>
          <p:cNvPr id="1158" name="Straight Arrow Connector 1157">
            <a:extLst>
              <a:ext uri="{FF2B5EF4-FFF2-40B4-BE49-F238E27FC236}">
                <a16:creationId xmlns:a16="http://schemas.microsoft.com/office/drawing/2014/main" id="{9CDDE16D-DD81-5126-608B-8B2021AC5044}"/>
              </a:ext>
            </a:extLst>
          </p:cNvPr>
          <p:cNvCxnSpPr>
            <a:cxnSpLocks/>
          </p:cNvCxnSpPr>
          <p:nvPr/>
        </p:nvCxnSpPr>
        <p:spPr>
          <a:xfrm>
            <a:off x="5696805" y="4128963"/>
            <a:ext cx="0" cy="344034"/>
          </a:xfrm>
          <a:prstGeom prst="straightConnector1">
            <a:avLst/>
          </a:prstGeom>
          <a:noFill/>
          <a:ln w="19050" cap="flat" cmpd="sng" algn="ctr">
            <a:solidFill>
              <a:srgbClr val="EB9A99"/>
            </a:solidFill>
            <a:prstDash val="solid"/>
            <a:miter lim="800000"/>
            <a:tailEnd type="triangle"/>
          </a:ln>
          <a:effectLst/>
        </p:spPr>
      </p:cxnSp>
      <p:sp>
        <p:nvSpPr>
          <p:cNvPr id="1159" name="TextBox 1158">
            <a:extLst>
              <a:ext uri="{FF2B5EF4-FFF2-40B4-BE49-F238E27FC236}">
                <a16:creationId xmlns:a16="http://schemas.microsoft.com/office/drawing/2014/main" id="{EE84A28E-FFDC-90A9-6DA7-988AA7C44B20}"/>
              </a:ext>
            </a:extLst>
          </p:cNvPr>
          <p:cNvSpPr txBox="1"/>
          <p:nvPr/>
        </p:nvSpPr>
        <p:spPr>
          <a:xfrm>
            <a:off x="5277187" y="4195801"/>
            <a:ext cx="896399" cy="215444"/>
          </a:xfrm>
          <a:prstGeom prst="rect">
            <a:avLst/>
          </a:prstGeom>
          <a:noFill/>
          <a:ln>
            <a:noFill/>
          </a:ln>
        </p:spPr>
        <p:txBody>
          <a:bodyPr wrap="none" rtlCol="0">
            <a:spAutoFit/>
          </a:bodyPr>
          <a:lstStyle/>
          <a:p>
            <a:pPr>
              <a:buClrTx/>
              <a:buFontTx/>
              <a:buNone/>
            </a:pPr>
            <a:r>
              <a:rPr lang="en-US" sz="800" u="sng" kern="1200" dirty="0">
                <a:solidFill>
                  <a:srgbClr val="001F5F"/>
                </a:solidFill>
                <a:latin typeface="Aptos" panose="02110004020202020204"/>
                <a:ea typeface="+mn-ea"/>
                <a:cs typeface="+mn-cs"/>
              </a:rPr>
              <a:t>Implementation</a:t>
            </a:r>
          </a:p>
        </p:txBody>
      </p:sp>
      <p:sp>
        <p:nvSpPr>
          <p:cNvPr id="1160" name="Rounded Rectangle 1159">
            <a:extLst>
              <a:ext uri="{FF2B5EF4-FFF2-40B4-BE49-F238E27FC236}">
                <a16:creationId xmlns:a16="http://schemas.microsoft.com/office/drawing/2014/main" id="{46AEA22A-A073-55B7-2245-B756EDC8719A}"/>
              </a:ext>
            </a:extLst>
          </p:cNvPr>
          <p:cNvSpPr/>
          <p:nvPr/>
        </p:nvSpPr>
        <p:spPr>
          <a:xfrm>
            <a:off x="6036398" y="3983702"/>
            <a:ext cx="242010" cy="173335"/>
          </a:xfrm>
          <a:prstGeom prst="roundRect">
            <a:avLst/>
          </a:prstGeom>
          <a:solidFill>
            <a:srgbClr val="FFD79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dirty="0">
                <a:solidFill>
                  <a:srgbClr val="938120"/>
                </a:solidFill>
                <a:latin typeface="Aptos" panose="02110004020202020204"/>
              </a:rPr>
              <a:t>3</a:t>
            </a:r>
            <a:endParaRPr kumimoji="0" lang="en-US" sz="1050" b="0" i="0" u="none" strike="noStrike" kern="1200" cap="none" spc="0" normalizeH="0" baseline="0" noProof="0" dirty="0">
              <a:ln>
                <a:noFill/>
              </a:ln>
              <a:solidFill>
                <a:srgbClr val="938120"/>
              </a:solidFill>
              <a:effectLst/>
              <a:uLnTx/>
              <a:uFillTx/>
              <a:latin typeface="Aptos" panose="02110004020202020204"/>
              <a:ea typeface="+mn-ea"/>
              <a:cs typeface="+mn-cs"/>
            </a:endParaRPr>
          </a:p>
        </p:txBody>
      </p:sp>
      <p:sp>
        <p:nvSpPr>
          <p:cNvPr id="1161" name="Rounded Rectangle 1160">
            <a:extLst>
              <a:ext uri="{FF2B5EF4-FFF2-40B4-BE49-F238E27FC236}">
                <a16:creationId xmlns:a16="http://schemas.microsoft.com/office/drawing/2014/main" id="{8D7FE086-6B30-E3CF-3B6E-4A08494607FF}"/>
              </a:ext>
            </a:extLst>
          </p:cNvPr>
          <p:cNvSpPr/>
          <p:nvPr/>
        </p:nvSpPr>
        <p:spPr>
          <a:xfrm>
            <a:off x="5096624" y="3980436"/>
            <a:ext cx="242010" cy="173335"/>
          </a:xfrm>
          <a:prstGeom prst="roundRect">
            <a:avLst/>
          </a:prstGeom>
          <a:solidFill>
            <a:srgbClr val="4EA72E">
              <a:lumMod val="60000"/>
              <a:lumOff val="4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156082"/>
                </a:solidFill>
                <a:effectLst/>
                <a:uLnTx/>
                <a:uFillTx/>
                <a:latin typeface="Aptos" panose="02110004020202020204"/>
                <a:ea typeface="+mn-ea"/>
                <a:cs typeface="+mn-cs"/>
              </a:rPr>
              <a:t>5</a:t>
            </a:r>
          </a:p>
        </p:txBody>
      </p:sp>
      <p:sp>
        <p:nvSpPr>
          <p:cNvPr id="1162" name="Rounded Rectangle 1161">
            <a:extLst>
              <a:ext uri="{FF2B5EF4-FFF2-40B4-BE49-F238E27FC236}">
                <a16:creationId xmlns:a16="http://schemas.microsoft.com/office/drawing/2014/main" id="{8DD5742A-8D8E-503E-9AD8-BA1437FBA390}"/>
              </a:ext>
            </a:extLst>
          </p:cNvPr>
          <p:cNvSpPr/>
          <p:nvPr/>
        </p:nvSpPr>
        <p:spPr>
          <a:xfrm>
            <a:off x="5580944" y="4096150"/>
            <a:ext cx="242010" cy="157577"/>
          </a:xfrm>
          <a:prstGeom prst="roundRect">
            <a:avLst/>
          </a:prstGeom>
          <a:solidFill>
            <a:srgbClr val="EA9A99"/>
          </a:solidFill>
          <a:ln w="19050" cap="flat" cmpd="sng" algn="ctr">
            <a:noFill/>
            <a:prstDash val="solid"/>
            <a:miter lim="800000"/>
          </a:ln>
          <a:effectLst/>
        </p:spPr>
        <p:txBody>
          <a:bodyPr rtlCol="0" anchor="ctr"/>
          <a:lstStyle/>
          <a:p>
            <a:pPr algn="ctr">
              <a:buClrTx/>
              <a:buFontTx/>
              <a:buNone/>
            </a:pPr>
            <a:r>
              <a:rPr lang="en-US" sz="1050" dirty="0">
                <a:solidFill>
                  <a:srgbClr val="AD3834"/>
                </a:solidFill>
              </a:rPr>
              <a:t>2</a:t>
            </a:r>
          </a:p>
        </p:txBody>
      </p:sp>
      <p:sp>
        <p:nvSpPr>
          <p:cNvPr id="1163" name="Rounded Rectangle 1162">
            <a:extLst>
              <a:ext uri="{FF2B5EF4-FFF2-40B4-BE49-F238E27FC236}">
                <a16:creationId xmlns:a16="http://schemas.microsoft.com/office/drawing/2014/main" id="{D03153C4-3F1E-C492-5F86-CB6981C9A62E}"/>
              </a:ext>
            </a:extLst>
          </p:cNvPr>
          <p:cNvSpPr/>
          <p:nvPr/>
        </p:nvSpPr>
        <p:spPr>
          <a:xfrm>
            <a:off x="5584966" y="4491485"/>
            <a:ext cx="242010" cy="173335"/>
          </a:xfrm>
          <a:prstGeom prst="roundRect">
            <a:avLst/>
          </a:prstGeom>
          <a:solidFill>
            <a:srgbClr val="FFD79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dirty="0">
                <a:solidFill>
                  <a:srgbClr val="938120"/>
                </a:solidFill>
                <a:latin typeface="Aptos" panose="02110004020202020204"/>
              </a:rPr>
              <a:t>3</a:t>
            </a:r>
            <a:endParaRPr kumimoji="0" lang="en-US" sz="1050" b="0" i="0" u="none" strike="noStrike" kern="1200" cap="none" spc="0" normalizeH="0" baseline="0" noProof="0" dirty="0">
              <a:ln>
                <a:noFill/>
              </a:ln>
              <a:solidFill>
                <a:srgbClr val="938120"/>
              </a:solidFill>
              <a:effectLst/>
              <a:uLnTx/>
              <a:uFillTx/>
              <a:latin typeface="Aptos" panose="02110004020202020204"/>
              <a:ea typeface="+mn-ea"/>
              <a:cs typeface="+mn-cs"/>
            </a:endParaRPr>
          </a:p>
        </p:txBody>
      </p:sp>
      <p:sp>
        <p:nvSpPr>
          <p:cNvPr id="1164" name="TextBox 1163">
            <a:extLst>
              <a:ext uri="{FF2B5EF4-FFF2-40B4-BE49-F238E27FC236}">
                <a16:creationId xmlns:a16="http://schemas.microsoft.com/office/drawing/2014/main" id="{E6D3ADCD-11FF-C58B-24B0-38100F4A4B6F}"/>
              </a:ext>
            </a:extLst>
          </p:cNvPr>
          <p:cNvSpPr txBox="1"/>
          <p:nvPr/>
        </p:nvSpPr>
        <p:spPr>
          <a:xfrm>
            <a:off x="5362356" y="4616909"/>
            <a:ext cx="676788" cy="215444"/>
          </a:xfrm>
          <a:prstGeom prst="rect">
            <a:avLst/>
          </a:prstGeom>
          <a:noFill/>
          <a:ln>
            <a:noFill/>
          </a:ln>
        </p:spPr>
        <p:txBody>
          <a:bodyPr wrap="none" rtlCol="0">
            <a:spAutoFit/>
          </a:bodyPr>
          <a:lstStyle/>
          <a:p>
            <a:pPr>
              <a:buClrTx/>
              <a:buFontTx/>
              <a:buNone/>
            </a:pPr>
            <a:r>
              <a:rPr lang="en-US" sz="800" u="sng" kern="1200" dirty="0">
                <a:solidFill>
                  <a:srgbClr val="001F5F"/>
                </a:solidFill>
                <a:latin typeface="Aptos" panose="02110004020202020204"/>
                <a:ea typeface="+mn-ea"/>
                <a:cs typeface="+mn-cs"/>
              </a:rPr>
              <a:t>Experience</a:t>
            </a:r>
          </a:p>
        </p:txBody>
      </p:sp>
      <p:sp>
        <p:nvSpPr>
          <p:cNvPr id="1179" name="Google Shape;21518;p354">
            <a:extLst>
              <a:ext uri="{FF2B5EF4-FFF2-40B4-BE49-F238E27FC236}">
                <a16:creationId xmlns:a16="http://schemas.microsoft.com/office/drawing/2014/main" id="{7B132AB5-6294-EBF7-DE4F-7839F0C50BFC}"/>
              </a:ext>
            </a:extLst>
          </p:cNvPr>
          <p:cNvSpPr txBox="1"/>
          <p:nvPr/>
        </p:nvSpPr>
        <p:spPr>
          <a:xfrm>
            <a:off x="7138973" y="3621657"/>
            <a:ext cx="1234712" cy="206988"/>
          </a:xfrm>
          <a:prstGeom prst="rect">
            <a:avLst/>
          </a:prstGeom>
          <a:noFill/>
          <a:ln>
            <a:noFill/>
          </a:ln>
        </p:spPr>
        <p:txBody>
          <a:bodyPr spcFirstLastPara="1" wrap="square" lIns="83067" tIns="41533" rIns="83067" bIns="41533" anchor="t" anchorCtr="0">
            <a:spAutoFit/>
          </a:bodyPr>
          <a:lstStyle/>
          <a:p>
            <a:pPr algn="ctr"/>
            <a:r>
              <a:rPr lang="en" sz="800" b="1" dirty="0">
                <a:solidFill>
                  <a:srgbClr val="7F7F7F"/>
                </a:solidFill>
              </a:rPr>
              <a:t>Key Elements</a:t>
            </a:r>
            <a:endParaRPr sz="800" dirty="0"/>
          </a:p>
        </p:txBody>
      </p:sp>
      <p:sp>
        <p:nvSpPr>
          <p:cNvPr id="1180" name="TextBox 1179">
            <a:extLst>
              <a:ext uri="{FF2B5EF4-FFF2-40B4-BE49-F238E27FC236}">
                <a16:creationId xmlns:a16="http://schemas.microsoft.com/office/drawing/2014/main" id="{ED49EBFE-F84B-26FF-EE16-B26301B663B6}"/>
              </a:ext>
            </a:extLst>
          </p:cNvPr>
          <p:cNvSpPr txBox="1"/>
          <p:nvPr/>
        </p:nvSpPr>
        <p:spPr>
          <a:xfrm>
            <a:off x="8098162" y="2330663"/>
            <a:ext cx="1255824" cy="206988"/>
          </a:xfrm>
          <a:prstGeom prst="rect">
            <a:avLst/>
          </a:prstGeom>
          <a:noFill/>
          <a:ln>
            <a:noFill/>
          </a:ln>
        </p:spPr>
        <p:txBody>
          <a:bodyPr spcFirstLastPara="1" wrap="square" lIns="83067" tIns="41533" rIns="83067" bIns="41533" anchor="t" anchorCtr="0">
            <a:spAutoFit/>
          </a:bodyPr>
          <a:lstStyle>
            <a:defPPr>
              <a:defRPr lang="en-US"/>
            </a:defPPr>
            <a:lvl1pPr algn="ctr">
              <a:defRPr sz="727" b="1">
                <a:solidFill>
                  <a:srgbClr val="7F7F7F"/>
                </a:solidFill>
              </a:defRPr>
            </a:lvl1pPr>
          </a:lstStyle>
          <a:p>
            <a:r>
              <a:rPr lang="en-US" sz="800" dirty="0"/>
              <a:t>Embedded Locations</a:t>
            </a:r>
          </a:p>
        </p:txBody>
      </p:sp>
      <p:sp>
        <p:nvSpPr>
          <p:cNvPr id="1181" name="Google Shape;21520;p354">
            <a:extLst>
              <a:ext uri="{FF2B5EF4-FFF2-40B4-BE49-F238E27FC236}">
                <a16:creationId xmlns:a16="http://schemas.microsoft.com/office/drawing/2014/main" id="{83D1D03D-00BF-D458-A560-AAE38257E602}"/>
              </a:ext>
            </a:extLst>
          </p:cNvPr>
          <p:cNvSpPr txBox="1"/>
          <p:nvPr/>
        </p:nvSpPr>
        <p:spPr>
          <a:xfrm>
            <a:off x="5199490" y="3624721"/>
            <a:ext cx="1050847" cy="206988"/>
          </a:xfrm>
          <a:prstGeom prst="rect">
            <a:avLst/>
          </a:prstGeom>
          <a:noFill/>
          <a:ln>
            <a:noFill/>
          </a:ln>
        </p:spPr>
        <p:txBody>
          <a:bodyPr spcFirstLastPara="1" wrap="square" lIns="83067" tIns="41533" rIns="83067" bIns="41533" anchor="t" anchorCtr="0">
            <a:spAutoFit/>
          </a:bodyPr>
          <a:lstStyle/>
          <a:p>
            <a:pPr algn="ctr"/>
            <a:r>
              <a:rPr lang="en" sz="800" b="1" dirty="0">
                <a:solidFill>
                  <a:srgbClr val="7F7F7F"/>
                </a:solidFill>
              </a:rPr>
              <a:t>Key Drivers</a:t>
            </a:r>
            <a:endParaRPr sz="1400" dirty="0"/>
          </a:p>
        </p:txBody>
      </p:sp>
      <p:sp>
        <p:nvSpPr>
          <p:cNvPr id="1182" name="Google Shape;21516;p354">
            <a:extLst>
              <a:ext uri="{FF2B5EF4-FFF2-40B4-BE49-F238E27FC236}">
                <a16:creationId xmlns:a16="http://schemas.microsoft.com/office/drawing/2014/main" id="{DEB139C5-8B2F-9CC0-9A5C-C8F768B3349E}"/>
              </a:ext>
            </a:extLst>
          </p:cNvPr>
          <p:cNvSpPr txBox="1"/>
          <p:nvPr/>
        </p:nvSpPr>
        <p:spPr>
          <a:xfrm>
            <a:off x="3257914" y="3623950"/>
            <a:ext cx="1122465" cy="206988"/>
          </a:xfrm>
          <a:prstGeom prst="rect">
            <a:avLst/>
          </a:prstGeom>
          <a:noFill/>
          <a:ln>
            <a:noFill/>
          </a:ln>
        </p:spPr>
        <p:txBody>
          <a:bodyPr spcFirstLastPara="1" wrap="square" lIns="83067" tIns="41533" rIns="83067" bIns="41533" anchor="t" anchorCtr="0">
            <a:spAutoFit/>
          </a:bodyPr>
          <a:lstStyle/>
          <a:p>
            <a:pPr algn="ctr"/>
            <a:r>
              <a:rPr lang="en" sz="800" b="1" dirty="0">
                <a:solidFill>
                  <a:srgbClr val="7F7F7F"/>
                </a:solidFill>
              </a:rPr>
              <a:t>Subcomponents</a:t>
            </a:r>
            <a:endParaRPr sz="800" dirty="0"/>
          </a:p>
        </p:txBody>
      </p:sp>
      <p:sp>
        <p:nvSpPr>
          <p:cNvPr id="1183" name="Google Shape;21518;p354">
            <a:extLst>
              <a:ext uri="{FF2B5EF4-FFF2-40B4-BE49-F238E27FC236}">
                <a16:creationId xmlns:a16="http://schemas.microsoft.com/office/drawing/2014/main" id="{4DC855A3-F0C6-FDF7-066E-15ADF6990F33}"/>
              </a:ext>
            </a:extLst>
          </p:cNvPr>
          <p:cNvSpPr txBox="1"/>
          <p:nvPr/>
        </p:nvSpPr>
        <p:spPr>
          <a:xfrm>
            <a:off x="6170225" y="2350084"/>
            <a:ext cx="1122465" cy="206988"/>
          </a:xfrm>
          <a:prstGeom prst="rect">
            <a:avLst/>
          </a:prstGeom>
          <a:noFill/>
          <a:ln>
            <a:noFill/>
          </a:ln>
        </p:spPr>
        <p:txBody>
          <a:bodyPr spcFirstLastPara="1" wrap="square" lIns="83067" tIns="41533" rIns="83067" bIns="41533" anchor="t" anchorCtr="0">
            <a:spAutoFit/>
          </a:bodyPr>
          <a:lstStyle/>
          <a:p>
            <a:pPr algn="ctr"/>
            <a:r>
              <a:rPr lang="en" sz="800" b="1" dirty="0">
                <a:solidFill>
                  <a:srgbClr val="7F7F7F"/>
                </a:solidFill>
              </a:rPr>
              <a:t>Leaps &amp; DPs</a:t>
            </a:r>
            <a:endParaRPr sz="800" dirty="0"/>
          </a:p>
        </p:txBody>
      </p:sp>
      <p:sp>
        <p:nvSpPr>
          <p:cNvPr id="1184" name="Google Shape;21507;p354">
            <a:extLst>
              <a:ext uri="{FF2B5EF4-FFF2-40B4-BE49-F238E27FC236}">
                <a16:creationId xmlns:a16="http://schemas.microsoft.com/office/drawing/2014/main" id="{7F1CEFEE-C3D3-4D88-5B28-AAACF912B2D7}"/>
              </a:ext>
            </a:extLst>
          </p:cNvPr>
          <p:cNvSpPr txBox="1"/>
          <p:nvPr/>
        </p:nvSpPr>
        <p:spPr>
          <a:xfrm>
            <a:off x="4241408" y="2344322"/>
            <a:ext cx="1085199" cy="206988"/>
          </a:xfrm>
          <a:prstGeom prst="rect">
            <a:avLst/>
          </a:prstGeom>
          <a:noFill/>
          <a:ln>
            <a:noFill/>
          </a:ln>
        </p:spPr>
        <p:txBody>
          <a:bodyPr spcFirstLastPara="1" wrap="square" lIns="83067" tIns="41533" rIns="83067" bIns="41533" anchor="t" anchorCtr="0">
            <a:spAutoFit/>
          </a:bodyPr>
          <a:lstStyle/>
          <a:p>
            <a:pPr algn="ctr"/>
            <a:r>
              <a:rPr lang="en" sz="800" b="1" dirty="0">
                <a:solidFill>
                  <a:srgbClr val="7F7F7F"/>
                </a:solidFill>
              </a:rPr>
              <a:t>Targeted Outcomes</a:t>
            </a:r>
            <a:endParaRPr sz="1400" dirty="0"/>
          </a:p>
        </p:txBody>
      </p:sp>
      <p:sp>
        <p:nvSpPr>
          <p:cNvPr id="1185" name="Google Shape;21516;p354">
            <a:extLst>
              <a:ext uri="{FF2B5EF4-FFF2-40B4-BE49-F238E27FC236}">
                <a16:creationId xmlns:a16="http://schemas.microsoft.com/office/drawing/2014/main" id="{F09B01A6-321A-0192-42E3-3238FB597BD7}"/>
              </a:ext>
            </a:extLst>
          </p:cNvPr>
          <p:cNvSpPr txBox="1"/>
          <p:nvPr/>
        </p:nvSpPr>
        <p:spPr>
          <a:xfrm>
            <a:off x="2274859" y="2354169"/>
            <a:ext cx="1020423" cy="206988"/>
          </a:xfrm>
          <a:prstGeom prst="rect">
            <a:avLst/>
          </a:prstGeom>
          <a:noFill/>
          <a:ln>
            <a:noFill/>
          </a:ln>
        </p:spPr>
        <p:txBody>
          <a:bodyPr spcFirstLastPara="1" wrap="square" lIns="83067" tIns="41533" rIns="83067" bIns="41533" anchor="t" anchorCtr="0">
            <a:spAutoFit/>
          </a:bodyPr>
          <a:lstStyle/>
          <a:p>
            <a:pPr algn="ctr"/>
            <a:r>
              <a:rPr lang="en" sz="800" b="1" u="sng" dirty="0">
                <a:solidFill>
                  <a:srgbClr val="7F7F7F"/>
                </a:solidFill>
              </a:rPr>
              <a:t>Targeted Learners</a:t>
            </a:r>
            <a:endParaRPr sz="1400" u="sng" dirty="0"/>
          </a:p>
        </p:txBody>
      </p:sp>
      <p:sp>
        <p:nvSpPr>
          <p:cNvPr id="1186" name="Google Shape;21537;p354">
            <a:extLst>
              <a:ext uri="{FF2B5EF4-FFF2-40B4-BE49-F238E27FC236}">
                <a16:creationId xmlns:a16="http://schemas.microsoft.com/office/drawing/2014/main" id="{A4DBA574-4A3F-A1D9-7610-0750086BCE7F}"/>
              </a:ext>
            </a:extLst>
          </p:cNvPr>
          <p:cNvSpPr txBox="1"/>
          <p:nvPr/>
        </p:nvSpPr>
        <p:spPr>
          <a:xfrm>
            <a:off x="2929673" y="3804176"/>
            <a:ext cx="1592257" cy="821317"/>
          </a:xfrm>
          <a:prstGeom prst="rect">
            <a:avLst/>
          </a:prstGeom>
          <a:noFill/>
          <a:ln>
            <a:noFill/>
          </a:ln>
        </p:spPr>
        <p:txBody>
          <a:bodyPr spcFirstLastPara="1" wrap="square" lIns="112400" tIns="56167" rIns="112400" bIns="56167" anchor="t" anchorCtr="0">
            <a:spAutoFit/>
          </a:bodyPr>
          <a:lstStyle/>
          <a:p>
            <a:pPr>
              <a:lnSpc>
                <a:spcPct val="115000"/>
              </a:lnSpc>
            </a:pPr>
            <a:r>
              <a:rPr lang="en" sz="800" dirty="0"/>
              <a:t>Student</a:t>
            </a:r>
          </a:p>
          <a:p>
            <a:pPr marL="58738" indent="-58738">
              <a:lnSpc>
                <a:spcPct val="115000"/>
              </a:lnSpc>
              <a:buFont typeface="Arial" panose="020B0604020202020204" pitchFamily="34" charset="0"/>
              <a:buChar char="•"/>
            </a:pPr>
            <a:r>
              <a:rPr lang="en" sz="800" dirty="0"/>
              <a:t>COMP 3 Projects</a:t>
            </a:r>
          </a:p>
          <a:p>
            <a:pPr>
              <a:lnSpc>
                <a:spcPct val="115000"/>
              </a:lnSpc>
            </a:pPr>
            <a:endParaRPr lang="en" sz="800" dirty="0"/>
          </a:p>
          <a:p>
            <a:pPr>
              <a:lnSpc>
                <a:spcPct val="115000"/>
              </a:lnSpc>
            </a:pPr>
            <a:r>
              <a:rPr lang="en" sz="800" dirty="0"/>
              <a:t>Adult</a:t>
            </a:r>
          </a:p>
          <a:p>
            <a:pPr marL="171450" indent="-171450">
              <a:lnSpc>
                <a:spcPct val="115000"/>
              </a:lnSpc>
              <a:buFont typeface="Arial" panose="020B0604020202020204" pitchFamily="34" charset="0"/>
              <a:buChar char="•"/>
            </a:pPr>
            <a:r>
              <a:rPr lang="en" sz="800" dirty="0"/>
              <a:t>Adult SEL</a:t>
            </a:r>
          </a:p>
        </p:txBody>
      </p:sp>
      <p:sp>
        <p:nvSpPr>
          <p:cNvPr id="1187" name="Google Shape;21538;p354">
            <a:extLst>
              <a:ext uri="{FF2B5EF4-FFF2-40B4-BE49-F238E27FC236}">
                <a16:creationId xmlns:a16="http://schemas.microsoft.com/office/drawing/2014/main" id="{D2339858-4E19-B762-A51D-B3DEBDFBB56A}"/>
              </a:ext>
            </a:extLst>
          </p:cNvPr>
          <p:cNvSpPr txBox="1"/>
          <p:nvPr/>
        </p:nvSpPr>
        <p:spPr>
          <a:xfrm>
            <a:off x="6869354" y="3821016"/>
            <a:ext cx="1058954" cy="396585"/>
          </a:xfrm>
          <a:prstGeom prst="rect">
            <a:avLst/>
          </a:prstGeom>
          <a:noFill/>
          <a:ln>
            <a:noFill/>
          </a:ln>
        </p:spPr>
        <p:txBody>
          <a:bodyPr spcFirstLastPara="1" wrap="square" lIns="112400" tIns="56167" rIns="112400" bIns="56167" anchor="t" anchorCtr="0">
            <a:spAutoFit/>
          </a:bodyPr>
          <a:lstStyle/>
          <a:p>
            <a:pPr marL="58738" indent="-58738">
              <a:lnSpc>
                <a:spcPct val="115000"/>
              </a:lnSpc>
              <a:buFont typeface="Arial" panose="020B0604020202020204" pitchFamily="34" charset="0"/>
              <a:buChar char="•"/>
            </a:pPr>
            <a:r>
              <a:rPr lang="en" sz="800" u="sng" dirty="0"/>
              <a:t>Tech Stations in Classroom</a:t>
            </a:r>
            <a:endParaRPr sz="800" u="sng" dirty="0"/>
          </a:p>
        </p:txBody>
      </p:sp>
      <p:sp>
        <p:nvSpPr>
          <p:cNvPr id="1188" name="Google Shape;21537;p354">
            <a:extLst>
              <a:ext uri="{FF2B5EF4-FFF2-40B4-BE49-F238E27FC236}">
                <a16:creationId xmlns:a16="http://schemas.microsoft.com/office/drawing/2014/main" id="{6F6B2DF8-AD5D-22B7-B4CD-4ADE5D5D8EF9}"/>
              </a:ext>
            </a:extLst>
          </p:cNvPr>
          <p:cNvSpPr txBox="1"/>
          <p:nvPr/>
        </p:nvSpPr>
        <p:spPr>
          <a:xfrm>
            <a:off x="7833227" y="2526339"/>
            <a:ext cx="1141071" cy="255008"/>
          </a:xfrm>
          <a:prstGeom prst="rect">
            <a:avLst/>
          </a:prstGeom>
          <a:noFill/>
          <a:ln>
            <a:noFill/>
          </a:ln>
        </p:spPr>
        <p:txBody>
          <a:bodyPr spcFirstLastPara="1" wrap="square" lIns="112400" tIns="56167" rIns="112400" bIns="56167" anchor="t" anchorCtr="0">
            <a:spAutoFit/>
          </a:bodyPr>
          <a:lstStyle/>
          <a:p>
            <a:pPr marL="171450" indent="-171450">
              <a:lnSpc>
                <a:spcPct val="115000"/>
              </a:lnSpc>
              <a:buFont typeface="Arial" panose="020B0604020202020204" pitchFamily="34" charset="0"/>
              <a:buChar char="•"/>
            </a:pPr>
            <a:r>
              <a:rPr lang="en-US" sz="800" dirty="0"/>
              <a:t>STEM Courses</a:t>
            </a:r>
            <a:endParaRPr lang="en" sz="800" dirty="0"/>
          </a:p>
        </p:txBody>
      </p:sp>
      <p:sp>
        <p:nvSpPr>
          <p:cNvPr id="1189" name="Google Shape;21536;p354">
            <a:extLst>
              <a:ext uri="{FF2B5EF4-FFF2-40B4-BE49-F238E27FC236}">
                <a16:creationId xmlns:a16="http://schemas.microsoft.com/office/drawing/2014/main" id="{710C397E-210F-CDE9-12A1-61955BB30905}"/>
              </a:ext>
            </a:extLst>
          </p:cNvPr>
          <p:cNvSpPr txBox="1"/>
          <p:nvPr/>
        </p:nvSpPr>
        <p:spPr>
          <a:xfrm>
            <a:off x="3918938" y="2519967"/>
            <a:ext cx="1601339" cy="679740"/>
          </a:xfrm>
          <a:prstGeom prst="rect">
            <a:avLst/>
          </a:prstGeom>
          <a:noFill/>
          <a:ln>
            <a:noFill/>
          </a:ln>
        </p:spPr>
        <p:txBody>
          <a:bodyPr spcFirstLastPara="1" wrap="square" lIns="112400" tIns="56167" rIns="112400" bIns="56167" anchor="t" anchorCtr="0">
            <a:spAutoFit/>
          </a:bodyPr>
          <a:lstStyle/>
          <a:p>
            <a:pPr marL="58738" indent="-58738">
              <a:lnSpc>
                <a:spcPct val="115000"/>
              </a:lnSpc>
              <a:buFont typeface="Arial" panose="020B0604020202020204" pitchFamily="34" charset="0"/>
              <a:buChar char="•"/>
            </a:pPr>
            <a:r>
              <a:rPr lang="en-US" sz="800" dirty="0"/>
              <a:t>(H) Algebra</a:t>
            </a:r>
          </a:p>
          <a:p>
            <a:pPr marL="58738" indent="-58738">
              <a:lnSpc>
                <a:spcPct val="115000"/>
              </a:lnSpc>
              <a:buFont typeface="Arial" panose="020B0604020202020204" pitchFamily="34" charset="0"/>
              <a:buChar char="•"/>
            </a:pPr>
            <a:r>
              <a:rPr lang="en-US" sz="800" dirty="0"/>
              <a:t>(H) Calculus</a:t>
            </a:r>
          </a:p>
          <a:p>
            <a:pPr marL="58738" indent="-58738">
              <a:lnSpc>
                <a:spcPct val="115000"/>
              </a:lnSpc>
              <a:buFont typeface="Arial" panose="020B0604020202020204" pitchFamily="34" charset="0"/>
              <a:buChar char="•"/>
            </a:pPr>
            <a:r>
              <a:rPr lang="en-US" sz="800" dirty="0"/>
              <a:t>(M) Geometry</a:t>
            </a:r>
          </a:p>
          <a:p>
            <a:pPr marL="58738" indent="-58738">
              <a:lnSpc>
                <a:spcPct val="115000"/>
              </a:lnSpc>
              <a:buFont typeface="Arial" panose="020B0604020202020204" pitchFamily="34" charset="0"/>
              <a:buChar char="•"/>
            </a:pPr>
            <a:r>
              <a:rPr lang="en-US" sz="800" dirty="0"/>
              <a:t>(L) Math Block</a:t>
            </a:r>
            <a:endParaRPr sz="800" dirty="0"/>
          </a:p>
        </p:txBody>
      </p:sp>
      <p:sp>
        <p:nvSpPr>
          <p:cNvPr id="1190" name="Google Shape;21536;p354">
            <a:extLst>
              <a:ext uri="{FF2B5EF4-FFF2-40B4-BE49-F238E27FC236}">
                <a16:creationId xmlns:a16="http://schemas.microsoft.com/office/drawing/2014/main" id="{0E5584D4-1763-E019-F6B9-8EF069FBC32E}"/>
              </a:ext>
            </a:extLst>
          </p:cNvPr>
          <p:cNvSpPr txBox="1"/>
          <p:nvPr/>
        </p:nvSpPr>
        <p:spPr>
          <a:xfrm>
            <a:off x="5865156" y="2511705"/>
            <a:ext cx="1716209" cy="679740"/>
          </a:xfrm>
          <a:prstGeom prst="rect">
            <a:avLst/>
          </a:prstGeom>
          <a:noFill/>
          <a:ln>
            <a:noFill/>
          </a:ln>
        </p:spPr>
        <p:txBody>
          <a:bodyPr spcFirstLastPara="1" wrap="square" lIns="112400" tIns="56167" rIns="112400" bIns="56167" anchor="t" anchorCtr="0">
            <a:spAutoFit/>
          </a:bodyPr>
          <a:lstStyle/>
          <a:p>
            <a:pPr marL="58738" indent="-58738">
              <a:lnSpc>
                <a:spcPct val="115000"/>
              </a:lnSpc>
              <a:buFont typeface="Arial" panose="020B0604020202020204" pitchFamily="34" charset="0"/>
              <a:buChar char="•"/>
            </a:pPr>
            <a:r>
              <a:rPr lang="en-US" sz="800" dirty="0"/>
              <a:t>(M) Customization</a:t>
            </a:r>
          </a:p>
          <a:p>
            <a:pPr marL="58738" indent="-58738">
              <a:lnSpc>
                <a:spcPct val="115000"/>
              </a:lnSpc>
              <a:buFont typeface="Arial" panose="020B0604020202020204" pitchFamily="34" charset="0"/>
              <a:buChar char="•"/>
            </a:pPr>
            <a:r>
              <a:rPr lang="en-US" sz="800" dirty="0"/>
              <a:t>(M) Agency</a:t>
            </a:r>
          </a:p>
          <a:p>
            <a:pPr marL="58738" indent="-58738">
              <a:lnSpc>
                <a:spcPct val="115000"/>
              </a:lnSpc>
              <a:buFont typeface="Arial" panose="020B0604020202020204" pitchFamily="34" charset="0"/>
              <a:buChar char="•"/>
            </a:pPr>
            <a:r>
              <a:rPr lang="en-US" sz="800" dirty="0"/>
              <a:t>(M) High expectation and rigorous learning</a:t>
            </a:r>
          </a:p>
        </p:txBody>
      </p:sp>
      <p:sp>
        <p:nvSpPr>
          <p:cNvPr id="1191" name="Google Shape;21537;p354">
            <a:extLst>
              <a:ext uri="{FF2B5EF4-FFF2-40B4-BE49-F238E27FC236}">
                <a16:creationId xmlns:a16="http://schemas.microsoft.com/office/drawing/2014/main" id="{F7B7EF49-B2BF-038D-2A2A-19F68AB85E1F}"/>
              </a:ext>
            </a:extLst>
          </p:cNvPr>
          <p:cNvSpPr txBox="1"/>
          <p:nvPr/>
        </p:nvSpPr>
        <p:spPr>
          <a:xfrm>
            <a:off x="1921968" y="2550338"/>
            <a:ext cx="1652092" cy="538163"/>
          </a:xfrm>
          <a:prstGeom prst="rect">
            <a:avLst/>
          </a:prstGeom>
          <a:noFill/>
          <a:ln>
            <a:noFill/>
          </a:ln>
        </p:spPr>
        <p:txBody>
          <a:bodyPr spcFirstLastPara="1" wrap="square" lIns="112400" tIns="56167" rIns="112400" bIns="56167" anchor="t" anchorCtr="0">
            <a:spAutoFit/>
          </a:bodyPr>
          <a:lstStyle/>
          <a:p>
            <a:pPr>
              <a:lnSpc>
                <a:spcPct val="115000"/>
              </a:lnSpc>
            </a:pPr>
            <a:r>
              <a:rPr lang="en" sz="800" dirty="0"/>
              <a:t>High performance-based initiation, with prior </a:t>
            </a:r>
            <a:r>
              <a:rPr lang="en-US" sz="800" dirty="0"/>
              <a:t>knowledge of Algebraic concepts</a:t>
            </a:r>
            <a:endParaRPr lang="en" sz="800" dirty="0"/>
          </a:p>
        </p:txBody>
      </p:sp>
      <p:grpSp>
        <p:nvGrpSpPr>
          <p:cNvPr id="1192" name="Google Shape;21512;p354">
            <a:extLst>
              <a:ext uri="{FF2B5EF4-FFF2-40B4-BE49-F238E27FC236}">
                <a16:creationId xmlns:a16="http://schemas.microsoft.com/office/drawing/2014/main" id="{83F92A42-9FB2-E3B2-92A0-2A3B087DFAD1}"/>
              </a:ext>
            </a:extLst>
          </p:cNvPr>
          <p:cNvGrpSpPr/>
          <p:nvPr/>
        </p:nvGrpSpPr>
        <p:grpSpPr>
          <a:xfrm>
            <a:off x="4648780" y="908780"/>
            <a:ext cx="2011437" cy="1354357"/>
            <a:chOff x="7996645" y="4997800"/>
            <a:chExt cx="1742072" cy="1489829"/>
          </a:xfrm>
        </p:grpSpPr>
        <p:sp>
          <p:nvSpPr>
            <p:cNvPr id="1193" name="Google Shape;21513;p354">
              <a:extLst>
                <a:ext uri="{FF2B5EF4-FFF2-40B4-BE49-F238E27FC236}">
                  <a16:creationId xmlns:a16="http://schemas.microsoft.com/office/drawing/2014/main" id="{54D5C9C6-2378-AC23-CE39-D7DDAD1CF86F}"/>
                </a:ext>
              </a:extLst>
            </p:cNvPr>
            <p:cNvSpPr txBox="1"/>
            <p:nvPr/>
          </p:nvSpPr>
          <p:spPr>
            <a:xfrm>
              <a:off x="7996645" y="5041112"/>
              <a:ext cx="1545903" cy="1446517"/>
            </a:xfrm>
            <a:prstGeom prst="rect">
              <a:avLst/>
            </a:prstGeom>
            <a:noFill/>
            <a:ln>
              <a:noFill/>
            </a:ln>
          </p:spPr>
          <p:txBody>
            <a:bodyPr spcFirstLastPara="1" wrap="square" lIns="83067" tIns="41533" rIns="83067" bIns="41533" anchor="t" anchorCtr="0">
              <a:spAutoFit/>
            </a:bodyPr>
            <a:lstStyle/>
            <a:p>
              <a:r>
                <a:rPr lang="en" sz="4000" dirty="0">
                  <a:solidFill>
                    <a:srgbClr val="000000"/>
                  </a:solidFill>
                  <a:latin typeface="Arial"/>
                  <a:ea typeface="Arial"/>
                  <a:cs typeface="Arial"/>
                  <a:sym typeface="Arial"/>
                </a:rPr>
                <a:t>• • • • •               </a:t>
              </a:r>
              <a:endParaRPr sz="2400" dirty="0"/>
            </a:p>
          </p:txBody>
        </p:sp>
        <p:sp>
          <p:nvSpPr>
            <p:cNvPr id="1194" name="Google Shape;21514;p354">
              <a:extLst>
                <a:ext uri="{FF2B5EF4-FFF2-40B4-BE49-F238E27FC236}">
                  <a16:creationId xmlns:a16="http://schemas.microsoft.com/office/drawing/2014/main" id="{8D307C8F-5DAF-B093-12FA-59C7A4B64AE1}"/>
                </a:ext>
              </a:extLst>
            </p:cNvPr>
            <p:cNvSpPr txBox="1"/>
            <p:nvPr/>
          </p:nvSpPr>
          <p:spPr>
            <a:xfrm>
              <a:off x="8849517" y="4997800"/>
              <a:ext cx="889200" cy="1175667"/>
            </a:xfrm>
            <a:prstGeom prst="rect">
              <a:avLst/>
            </a:prstGeom>
            <a:noFill/>
            <a:ln>
              <a:noFill/>
            </a:ln>
          </p:spPr>
          <p:txBody>
            <a:bodyPr spcFirstLastPara="1" wrap="square" lIns="83067" tIns="41533" rIns="83067" bIns="41533" anchor="t" anchorCtr="0">
              <a:spAutoFit/>
            </a:bodyPr>
            <a:lstStyle/>
            <a:p>
              <a:r>
                <a:rPr lang="en" sz="3600" dirty="0">
                  <a:solidFill>
                    <a:srgbClr val="000000"/>
                  </a:solidFill>
                  <a:latin typeface="Arial"/>
                  <a:ea typeface="Arial"/>
                  <a:cs typeface="Arial"/>
                  <a:sym typeface="Arial"/>
                </a:rPr>
                <a:t>   </a:t>
              </a:r>
              <a:r>
                <a:rPr lang="en" sz="1600" dirty="0">
                  <a:solidFill>
                    <a:srgbClr val="000000"/>
                  </a:solidFill>
                  <a:latin typeface="Arial"/>
                  <a:ea typeface="Arial"/>
                  <a:cs typeface="Arial"/>
                  <a:sym typeface="Arial"/>
                </a:rPr>
                <a:t>  </a:t>
              </a:r>
              <a:r>
                <a:rPr lang="en" sz="2800" dirty="0">
                  <a:solidFill>
                    <a:srgbClr val="000000"/>
                  </a:solidFill>
                  <a:latin typeface="Arial"/>
                  <a:ea typeface="Arial"/>
                  <a:cs typeface="Arial"/>
                  <a:sym typeface="Arial"/>
                </a:rPr>
                <a:t> ○</a:t>
              </a:r>
              <a:endParaRPr sz="3600" dirty="0"/>
            </a:p>
          </p:txBody>
        </p:sp>
      </p:grpSp>
    </p:spTree>
    <p:extLst>
      <p:ext uri="{BB962C8B-B14F-4D97-AF65-F5344CB8AC3E}">
        <p14:creationId xmlns:p14="http://schemas.microsoft.com/office/powerpoint/2010/main" val="3722520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1621E4A8-B900-8EAF-A9A2-19E38944332D}"/>
            </a:ext>
          </a:extLst>
        </p:cNvPr>
        <p:cNvGrpSpPr/>
        <p:nvPr/>
      </p:nvGrpSpPr>
      <p:grpSpPr>
        <a:xfrm>
          <a:off x="0" y="0"/>
          <a:ext cx="0" cy="0"/>
          <a:chOff x="0" y="0"/>
          <a:chExt cx="0" cy="0"/>
        </a:xfrm>
      </p:grpSpPr>
      <p:sp>
        <p:nvSpPr>
          <p:cNvPr id="15" name="Google Shape;84;p18">
            <a:extLst>
              <a:ext uri="{FF2B5EF4-FFF2-40B4-BE49-F238E27FC236}">
                <a16:creationId xmlns:a16="http://schemas.microsoft.com/office/drawing/2014/main" id="{0DA2CB12-031D-CEE2-0590-E0123329E124}"/>
              </a:ext>
            </a:extLst>
          </p:cNvPr>
          <p:cNvSpPr txBox="1"/>
          <p:nvPr/>
        </p:nvSpPr>
        <p:spPr>
          <a:xfrm>
            <a:off x="306268" y="250791"/>
            <a:ext cx="10497198" cy="748888"/>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None/>
            </a:pPr>
            <a:r>
              <a:rPr lang="en-US" sz="3600" dirty="0">
                <a:solidFill>
                  <a:schemeClr val="dk1"/>
                </a:solidFill>
                <a:latin typeface="Play"/>
                <a:ea typeface="Play"/>
                <a:cs typeface="Play"/>
                <a:sym typeface="Play"/>
              </a:rPr>
              <a:t>Standard &amp; Full View</a:t>
            </a:r>
            <a:endParaRPr sz="2000" dirty="0"/>
          </a:p>
        </p:txBody>
      </p:sp>
    </p:spTree>
    <p:extLst>
      <p:ext uri="{BB962C8B-B14F-4D97-AF65-F5344CB8AC3E}">
        <p14:creationId xmlns:p14="http://schemas.microsoft.com/office/powerpoint/2010/main" val="632399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0679402A-799F-0161-E5E5-6B96F889CE3D}"/>
            </a:ext>
          </a:extLst>
        </p:cNvPr>
        <p:cNvGrpSpPr/>
        <p:nvPr/>
      </p:nvGrpSpPr>
      <p:grpSpPr>
        <a:xfrm>
          <a:off x="0" y="0"/>
          <a:ext cx="0" cy="0"/>
          <a:chOff x="0" y="0"/>
          <a:chExt cx="0" cy="0"/>
        </a:xfrm>
      </p:grpSpPr>
      <p:sp>
        <p:nvSpPr>
          <p:cNvPr id="15" name="Google Shape;84;p18">
            <a:extLst>
              <a:ext uri="{FF2B5EF4-FFF2-40B4-BE49-F238E27FC236}">
                <a16:creationId xmlns:a16="http://schemas.microsoft.com/office/drawing/2014/main" id="{7AC031CB-9E2A-0DAD-03A3-25C5AD076F0F}"/>
              </a:ext>
            </a:extLst>
          </p:cNvPr>
          <p:cNvSpPr txBox="1"/>
          <p:nvPr/>
        </p:nvSpPr>
        <p:spPr>
          <a:xfrm>
            <a:off x="306268" y="250791"/>
            <a:ext cx="10497198" cy="748888"/>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None/>
            </a:pPr>
            <a:r>
              <a:rPr lang="en-US" sz="3600" dirty="0">
                <a:solidFill>
                  <a:schemeClr val="dk1"/>
                </a:solidFill>
                <a:latin typeface="Play"/>
                <a:ea typeface="Play"/>
                <a:cs typeface="Play"/>
                <a:sym typeface="Play"/>
              </a:rPr>
              <a:t>Practices &amp; Approaches Full View</a:t>
            </a:r>
            <a:endParaRPr sz="2000" dirty="0"/>
          </a:p>
        </p:txBody>
      </p:sp>
      <p:sp>
        <p:nvSpPr>
          <p:cNvPr id="36" name="Octagon 35">
            <a:extLst>
              <a:ext uri="{FF2B5EF4-FFF2-40B4-BE49-F238E27FC236}">
                <a16:creationId xmlns:a16="http://schemas.microsoft.com/office/drawing/2014/main" id="{C15747C1-9A67-29EB-571C-512A1672D6C4}"/>
              </a:ext>
            </a:extLst>
          </p:cNvPr>
          <p:cNvSpPr/>
          <p:nvPr/>
        </p:nvSpPr>
        <p:spPr>
          <a:xfrm>
            <a:off x="1507243" y="2340808"/>
            <a:ext cx="1663679" cy="1630943"/>
          </a:xfrm>
          <a:prstGeom prst="octagon">
            <a:avLst/>
          </a:prstGeom>
          <a:solidFill>
            <a:srgbClr val="DBF2D2"/>
          </a:solidFill>
          <a:effectLst>
            <a:outerShdw blurRad="336307" dist="50800" dir="5400000" sx="86326" sy="86326" algn="ctr" rotWithShape="0">
              <a:srgbClr val="00000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7" name="Rounded Rectangle 36">
            <a:extLst>
              <a:ext uri="{FF2B5EF4-FFF2-40B4-BE49-F238E27FC236}">
                <a16:creationId xmlns:a16="http://schemas.microsoft.com/office/drawing/2014/main" id="{44CD1CE5-6DFA-937B-D25A-3CB0F64CB9AF}"/>
              </a:ext>
            </a:extLst>
          </p:cNvPr>
          <p:cNvSpPr/>
          <p:nvPr/>
        </p:nvSpPr>
        <p:spPr>
          <a:xfrm>
            <a:off x="1695935" y="2845887"/>
            <a:ext cx="128629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8" name="TextBox 37">
            <a:extLst>
              <a:ext uri="{FF2B5EF4-FFF2-40B4-BE49-F238E27FC236}">
                <a16:creationId xmlns:a16="http://schemas.microsoft.com/office/drawing/2014/main" id="{51FEA88F-3D20-D2F0-5399-EEE02F17BCD8}"/>
              </a:ext>
            </a:extLst>
          </p:cNvPr>
          <p:cNvSpPr txBox="1"/>
          <p:nvPr/>
        </p:nvSpPr>
        <p:spPr>
          <a:xfrm>
            <a:off x="1760947" y="2403930"/>
            <a:ext cx="1178547" cy="470450"/>
          </a:xfrm>
          <a:prstGeom prst="rect">
            <a:avLst/>
          </a:prstGeom>
          <a:noFill/>
        </p:spPr>
        <p:txBody>
          <a:bodyPr wrap="square">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b="0" i="0" u="none" strike="noStrike" kern="1200" cap="none" spc="0" normalizeH="0" baseline="0" noProof="0" dirty="0">
                <a:ln>
                  <a:noFill/>
                </a:ln>
                <a:solidFill>
                  <a:srgbClr val="3B7D23"/>
                </a:solidFill>
                <a:effectLst/>
                <a:uLnTx/>
                <a:uFillTx/>
                <a:latin typeface="Aptos" panose="02110004020202020204"/>
                <a:ea typeface="+mn-ea"/>
                <a:cs typeface="+mn-cs"/>
              </a:rPr>
              <a:t>College Exposure</a:t>
            </a:r>
          </a:p>
        </p:txBody>
      </p:sp>
      <p:sp>
        <p:nvSpPr>
          <p:cNvPr id="41" name="TextBox 40">
            <a:extLst>
              <a:ext uri="{FF2B5EF4-FFF2-40B4-BE49-F238E27FC236}">
                <a16:creationId xmlns:a16="http://schemas.microsoft.com/office/drawing/2014/main" id="{FED6B8B6-3497-F60A-62A4-85A00C976A0C}"/>
              </a:ext>
            </a:extLst>
          </p:cNvPr>
          <p:cNvSpPr txBox="1"/>
          <p:nvPr/>
        </p:nvSpPr>
        <p:spPr>
          <a:xfrm>
            <a:off x="1839428" y="2756145"/>
            <a:ext cx="104317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i="0" u="none" strike="noStrike" kern="1200" cap="none" spc="0" normalizeH="0" baseline="0" noProof="0" dirty="0">
                <a:ln>
                  <a:noFill/>
                </a:ln>
                <a:solidFill>
                  <a:schemeClr val="bg1">
                    <a:lumMod val="50000"/>
                  </a:schemeClr>
                </a:solidFill>
                <a:effectLst/>
                <a:uLnTx/>
                <a:uFillTx/>
                <a:latin typeface="Aptos" panose="02110004020202020204"/>
                <a:ea typeface="+mn-ea"/>
                <a:cs typeface="+mn-cs"/>
              </a:rPr>
              <a:t>Practices &amp; Approaches</a:t>
            </a:r>
          </a:p>
        </p:txBody>
      </p:sp>
      <p:sp>
        <p:nvSpPr>
          <p:cNvPr id="42" name="TextBox 41">
            <a:extLst>
              <a:ext uri="{FF2B5EF4-FFF2-40B4-BE49-F238E27FC236}">
                <a16:creationId xmlns:a16="http://schemas.microsoft.com/office/drawing/2014/main" id="{DC41BF4B-4E78-6F9F-EC33-9B38FE813549}"/>
              </a:ext>
            </a:extLst>
          </p:cNvPr>
          <p:cNvSpPr txBox="1"/>
          <p:nvPr/>
        </p:nvSpPr>
        <p:spPr>
          <a:xfrm>
            <a:off x="2940332" y="3011769"/>
            <a:ext cx="29226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24242"/>
                </a:solidFill>
                <a:effectLst/>
                <a:uLnTx/>
                <a:uFillTx/>
                <a:latin typeface="Arial Unicode MS" panose="020B0604020202020204" pitchFamily="34" charset="-128"/>
                <a:ea typeface="Arial Unicode MS" panose="020B0604020202020204" pitchFamily="34" charset="-128"/>
                <a:cs typeface="+mn-cs"/>
              </a:rPr>
              <a:t>►</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3" name="TextBox 42">
            <a:extLst>
              <a:ext uri="{FF2B5EF4-FFF2-40B4-BE49-F238E27FC236}">
                <a16:creationId xmlns:a16="http://schemas.microsoft.com/office/drawing/2014/main" id="{8836E359-195A-4FD2-94B5-AED6D32A405D}"/>
              </a:ext>
            </a:extLst>
          </p:cNvPr>
          <p:cNvSpPr txBox="1"/>
          <p:nvPr/>
        </p:nvSpPr>
        <p:spPr>
          <a:xfrm>
            <a:off x="2283228" y="3590972"/>
            <a:ext cx="566233"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 b="0" i="0" u="none" strike="noStrike" kern="1200" cap="none" spc="0" normalizeH="0" baseline="0" noProof="0" dirty="0">
                <a:ln>
                  <a:noFill/>
                </a:ln>
                <a:solidFill>
                  <a:prstClr val="black"/>
                </a:solidFill>
                <a:effectLst/>
                <a:uLnTx/>
                <a:uFillTx/>
                <a:latin typeface="Aptos" panose="02110004020202020204"/>
                <a:ea typeface="+mn-ea"/>
                <a:cs typeface="+mn-cs"/>
              </a:rPr>
              <a:t>Engagement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 b="0" i="0" u="none" strike="noStrike" kern="1200" cap="none" spc="0" normalizeH="0" baseline="0" noProof="0" dirty="0">
                <a:ln>
                  <a:noFill/>
                </a:ln>
                <a:solidFill>
                  <a:prstClr val="black"/>
                </a:solidFill>
                <a:effectLst/>
                <a:uLnTx/>
                <a:uFillTx/>
                <a:latin typeface="Aptos" panose="02110004020202020204"/>
                <a:ea typeface="+mn-ea"/>
                <a:cs typeface="+mn-cs"/>
              </a:rPr>
              <a:t>&amp; Wellbeing</a:t>
            </a:r>
          </a:p>
        </p:txBody>
      </p:sp>
      <p:sp>
        <p:nvSpPr>
          <p:cNvPr id="44" name="TextBox 43">
            <a:extLst>
              <a:ext uri="{FF2B5EF4-FFF2-40B4-BE49-F238E27FC236}">
                <a16:creationId xmlns:a16="http://schemas.microsoft.com/office/drawing/2014/main" id="{F6E8F670-BCA2-4D1D-E56B-CB6F16F01C5B}"/>
              </a:ext>
            </a:extLst>
          </p:cNvPr>
          <p:cNvSpPr txBox="1"/>
          <p:nvPr/>
        </p:nvSpPr>
        <p:spPr>
          <a:xfrm>
            <a:off x="1800316" y="3598359"/>
            <a:ext cx="640347"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 b="0" i="0" u="none" strike="noStrike" kern="1200" cap="none" spc="0" normalizeH="0" baseline="0" noProof="0" dirty="0">
                <a:ln>
                  <a:noFill/>
                </a:ln>
                <a:solidFill>
                  <a:prstClr val="black"/>
                </a:solidFill>
                <a:effectLst/>
                <a:uLnTx/>
                <a:uFillTx/>
                <a:latin typeface="Aptos" panose="02110004020202020204"/>
                <a:ea typeface="+mn-ea"/>
                <a:cs typeface="+mn-cs"/>
              </a:rPr>
              <a:t>Learning &amp; Advancement</a:t>
            </a:r>
          </a:p>
        </p:txBody>
      </p:sp>
      <p:sp>
        <p:nvSpPr>
          <p:cNvPr id="45" name="Rounded Rectangle 44">
            <a:extLst>
              <a:ext uri="{FF2B5EF4-FFF2-40B4-BE49-F238E27FC236}">
                <a16:creationId xmlns:a16="http://schemas.microsoft.com/office/drawing/2014/main" id="{174F7365-9600-44E9-28F6-A806B7CFA8EA}"/>
              </a:ext>
            </a:extLst>
          </p:cNvPr>
          <p:cNvSpPr/>
          <p:nvPr/>
        </p:nvSpPr>
        <p:spPr>
          <a:xfrm>
            <a:off x="2461455" y="3791432"/>
            <a:ext cx="227362" cy="132706"/>
          </a:xfrm>
          <a:prstGeom prst="roundRect">
            <a:avLst/>
          </a:prstGeom>
          <a:solidFill>
            <a:schemeClr val="accent6">
              <a:lumMod val="60000"/>
              <a:lumOff val="4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56082"/>
                </a:solidFill>
                <a:effectLst/>
                <a:uLnTx/>
                <a:uFillTx/>
                <a:latin typeface="Aptos" panose="02110004020202020204"/>
                <a:ea typeface="+mn-ea"/>
                <a:cs typeface="+mn-cs"/>
              </a:rPr>
              <a:t>5</a:t>
            </a:r>
          </a:p>
        </p:txBody>
      </p:sp>
      <p:sp>
        <p:nvSpPr>
          <p:cNvPr id="46" name="Rounded Rectangle 45">
            <a:extLst>
              <a:ext uri="{FF2B5EF4-FFF2-40B4-BE49-F238E27FC236}">
                <a16:creationId xmlns:a16="http://schemas.microsoft.com/office/drawing/2014/main" id="{DA1CB190-25C0-B4FF-6FB8-FADF12815C76}"/>
              </a:ext>
            </a:extLst>
          </p:cNvPr>
          <p:cNvSpPr/>
          <p:nvPr/>
        </p:nvSpPr>
        <p:spPr>
          <a:xfrm>
            <a:off x="1998813" y="3794422"/>
            <a:ext cx="227362" cy="132706"/>
          </a:xfrm>
          <a:prstGeom prst="roundRect">
            <a:avLst/>
          </a:prstGeom>
          <a:solidFill>
            <a:schemeClr val="accent6">
              <a:lumMod val="60000"/>
              <a:lumOff val="4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56082"/>
                </a:solidFill>
                <a:effectLst/>
                <a:uLnTx/>
                <a:uFillTx/>
                <a:latin typeface="Aptos" panose="02110004020202020204"/>
                <a:ea typeface="+mn-ea"/>
                <a:cs typeface="+mn-cs"/>
              </a:rPr>
              <a:t>5</a:t>
            </a:r>
          </a:p>
        </p:txBody>
      </p:sp>
      <p:sp>
        <p:nvSpPr>
          <p:cNvPr id="47" name="Google Shape;182;p27">
            <a:extLst>
              <a:ext uri="{FF2B5EF4-FFF2-40B4-BE49-F238E27FC236}">
                <a16:creationId xmlns:a16="http://schemas.microsoft.com/office/drawing/2014/main" id="{31A74DC7-4420-DEE0-1710-9B5D323925A1}"/>
              </a:ext>
            </a:extLst>
          </p:cNvPr>
          <p:cNvSpPr/>
          <p:nvPr/>
        </p:nvSpPr>
        <p:spPr>
          <a:xfrm>
            <a:off x="2610838" y="2370541"/>
            <a:ext cx="64008" cy="64008"/>
          </a:xfrm>
          <a:prstGeom prst="ellipse">
            <a:avLst/>
          </a:prstGeom>
          <a:solidFill>
            <a:schemeClr val="bg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8" name="Google Shape;183;p27">
            <a:extLst>
              <a:ext uri="{FF2B5EF4-FFF2-40B4-BE49-F238E27FC236}">
                <a16:creationId xmlns:a16="http://schemas.microsoft.com/office/drawing/2014/main" id="{03D43AC5-323E-5EFA-D519-BC0DB1C226B3}"/>
              </a:ext>
            </a:extLst>
          </p:cNvPr>
          <p:cNvSpPr/>
          <p:nvPr/>
        </p:nvSpPr>
        <p:spPr>
          <a:xfrm>
            <a:off x="2491505" y="2367341"/>
            <a:ext cx="70409" cy="70409"/>
          </a:xfrm>
          <a:prstGeom prst="ellipse">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 name="Google Shape;184;p27">
            <a:extLst>
              <a:ext uri="{FF2B5EF4-FFF2-40B4-BE49-F238E27FC236}">
                <a16:creationId xmlns:a16="http://schemas.microsoft.com/office/drawing/2014/main" id="{ED8AA319-A905-180F-0B84-67D051FE6D2C}"/>
              </a:ext>
            </a:extLst>
          </p:cNvPr>
          <p:cNvSpPr/>
          <p:nvPr/>
        </p:nvSpPr>
        <p:spPr>
          <a:xfrm>
            <a:off x="2131487" y="2367341"/>
            <a:ext cx="70409" cy="70409"/>
          </a:xfrm>
          <a:prstGeom prst="ellipse">
            <a:avLst/>
          </a:prstGeom>
          <a:solidFill>
            <a:schemeClr val="bg1">
              <a:lumMod val="65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0" name="Google Shape;185;p27">
            <a:extLst>
              <a:ext uri="{FF2B5EF4-FFF2-40B4-BE49-F238E27FC236}">
                <a16:creationId xmlns:a16="http://schemas.microsoft.com/office/drawing/2014/main" id="{A8D1D5B4-6D9D-3FF9-931F-223BDFED9C56}"/>
              </a:ext>
            </a:extLst>
          </p:cNvPr>
          <p:cNvSpPr/>
          <p:nvPr/>
        </p:nvSpPr>
        <p:spPr>
          <a:xfrm>
            <a:off x="2251493" y="2367341"/>
            <a:ext cx="70409" cy="70409"/>
          </a:xfrm>
          <a:prstGeom prst="ellipse">
            <a:avLst/>
          </a:prstGeom>
          <a:solidFill>
            <a:srgbClr val="7F7F7F"/>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1" name="Google Shape;186;p27">
            <a:extLst>
              <a:ext uri="{FF2B5EF4-FFF2-40B4-BE49-F238E27FC236}">
                <a16:creationId xmlns:a16="http://schemas.microsoft.com/office/drawing/2014/main" id="{5EEC2A69-AFD1-4F0B-ABF0-FFAACEFC5B7C}"/>
              </a:ext>
            </a:extLst>
          </p:cNvPr>
          <p:cNvSpPr/>
          <p:nvPr/>
        </p:nvSpPr>
        <p:spPr>
          <a:xfrm>
            <a:off x="2371499" y="2367341"/>
            <a:ext cx="70409" cy="70409"/>
          </a:xfrm>
          <a:prstGeom prst="ellipse">
            <a:avLst/>
          </a:prstGeom>
          <a:solidFill>
            <a:srgbClr val="C4C4C4"/>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2" name="Google Shape;187;p27">
            <a:extLst>
              <a:ext uri="{FF2B5EF4-FFF2-40B4-BE49-F238E27FC236}">
                <a16:creationId xmlns:a16="http://schemas.microsoft.com/office/drawing/2014/main" id="{F9E6E433-7980-6A39-9B4E-18F988869C18}"/>
              </a:ext>
            </a:extLst>
          </p:cNvPr>
          <p:cNvSpPr/>
          <p:nvPr/>
        </p:nvSpPr>
        <p:spPr>
          <a:xfrm>
            <a:off x="2011481" y="2367341"/>
            <a:ext cx="70409" cy="70409"/>
          </a:xfrm>
          <a:prstGeom prst="ellipse">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3" name="TextBox 52">
            <a:extLst>
              <a:ext uri="{FF2B5EF4-FFF2-40B4-BE49-F238E27FC236}">
                <a16:creationId xmlns:a16="http://schemas.microsoft.com/office/drawing/2014/main" id="{4B8248E0-DCDC-A3B2-E5F8-1B38EDC3CFFF}"/>
              </a:ext>
            </a:extLst>
          </p:cNvPr>
          <p:cNvSpPr txBox="1"/>
          <p:nvPr/>
        </p:nvSpPr>
        <p:spPr>
          <a:xfrm rot="10800000">
            <a:off x="1458381" y="2986258"/>
            <a:ext cx="29226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24242"/>
                </a:solidFill>
                <a:effectLst/>
                <a:uLnTx/>
                <a:uFillTx/>
                <a:latin typeface="Arial Unicode MS" panose="020B0604020202020204" pitchFamily="34" charset="-128"/>
                <a:ea typeface="Arial Unicode MS" panose="020B0604020202020204" pitchFamily="34" charset="-128"/>
                <a:cs typeface="+mn-cs"/>
              </a:rPr>
              <a:t>►</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54" name="Google Shape;342;p75">
            <a:extLst>
              <a:ext uri="{FF2B5EF4-FFF2-40B4-BE49-F238E27FC236}">
                <a16:creationId xmlns:a16="http://schemas.microsoft.com/office/drawing/2014/main" id="{E2723854-EE77-D0EE-042D-C78A0C8F4F47}"/>
              </a:ext>
            </a:extLst>
          </p:cNvPr>
          <p:cNvPicPr preferRelativeResize="0"/>
          <p:nvPr/>
        </p:nvPicPr>
        <p:blipFill rotWithShape="1">
          <a:blip r:embed="rId3">
            <a:alphaModFix/>
          </a:blip>
          <a:srcRect/>
          <a:stretch/>
        </p:blipFill>
        <p:spPr>
          <a:xfrm>
            <a:off x="2276402" y="3786774"/>
            <a:ext cx="148377" cy="148497"/>
          </a:xfrm>
          <a:prstGeom prst="rect">
            <a:avLst/>
          </a:prstGeom>
          <a:noFill/>
          <a:ln>
            <a:noFill/>
          </a:ln>
          <a:effectLst>
            <a:outerShdw blurRad="57150" dist="19050" dir="5400000" algn="bl" rotWithShape="0">
              <a:srgbClr val="000000">
                <a:alpha val="20000"/>
              </a:srgbClr>
            </a:outerShdw>
          </a:effectLst>
        </p:spPr>
      </p:pic>
      <p:sp>
        <p:nvSpPr>
          <p:cNvPr id="3" name="Rounded Rectangle 2">
            <a:extLst>
              <a:ext uri="{FF2B5EF4-FFF2-40B4-BE49-F238E27FC236}">
                <a16:creationId xmlns:a16="http://schemas.microsoft.com/office/drawing/2014/main" id="{328DF819-CAD6-649A-CD86-888505604DD9}"/>
              </a:ext>
            </a:extLst>
          </p:cNvPr>
          <p:cNvSpPr/>
          <p:nvPr/>
        </p:nvSpPr>
        <p:spPr>
          <a:xfrm>
            <a:off x="6234306" y="1275645"/>
            <a:ext cx="4795599" cy="4830972"/>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CF7ACE9B-0E89-E9EA-26C5-D6BE9F176E8D}"/>
              </a:ext>
            </a:extLst>
          </p:cNvPr>
          <p:cNvSpPr txBox="1"/>
          <p:nvPr/>
        </p:nvSpPr>
        <p:spPr>
          <a:xfrm>
            <a:off x="1695935" y="1664946"/>
            <a:ext cx="1418978" cy="307777"/>
          </a:xfrm>
          <a:prstGeom prst="rect">
            <a:avLst/>
          </a:prstGeom>
          <a:noFill/>
        </p:spPr>
        <p:txBody>
          <a:bodyPr wrap="none" rtlCol="0">
            <a:spAutoFit/>
          </a:bodyPr>
          <a:lstStyle/>
          <a:p>
            <a:r>
              <a:rPr lang="en-US" b="1" u="sng" dirty="0"/>
              <a:t>Standard View</a:t>
            </a:r>
          </a:p>
        </p:txBody>
      </p:sp>
      <p:sp>
        <p:nvSpPr>
          <p:cNvPr id="6" name="TextBox 5">
            <a:extLst>
              <a:ext uri="{FF2B5EF4-FFF2-40B4-BE49-F238E27FC236}">
                <a16:creationId xmlns:a16="http://schemas.microsoft.com/office/drawing/2014/main" id="{2E4D42C0-0C4C-CDB6-4561-068B3DB92185}"/>
              </a:ext>
            </a:extLst>
          </p:cNvPr>
          <p:cNvSpPr txBox="1"/>
          <p:nvPr/>
        </p:nvSpPr>
        <p:spPr>
          <a:xfrm>
            <a:off x="8061534" y="405213"/>
            <a:ext cx="960519" cy="307777"/>
          </a:xfrm>
          <a:prstGeom prst="rect">
            <a:avLst/>
          </a:prstGeom>
          <a:noFill/>
        </p:spPr>
        <p:txBody>
          <a:bodyPr wrap="none" rtlCol="0">
            <a:spAutoFit/>
          </a:bodyPr>
          <a:lstStyle/>
          <a:p>
            <a:r>
              <a:rPr lang="en-US" b="1" u="sng" dirty="0"/>
              <a:t>Full View</a:t>
            </a:r>
          </a:p>
        </p:txBody>
      </p:sp>
      <p:pic>
        <p:nvPicPr>
          <p:cNvPr id="7" name="Picture 6" descr="A blue and red target&#10;&#10;AI-generated content may be incorrect.">
            <a:extLst>
              <a:ext uri="{FF2B5EF4-FFF2-40B4-BE49-F238E27FC236}">
                <a16:creationId xmlns:a16="http://schemas.microsoft.com/office/drawing/2014/main" id="{7E472E7A-DBEC-4369-C578-74FB75ACA44C}"/>
              </a:ext>
            </a:extLst>
          </p:cNvPr>
          <p:cNvPicPr>
            <a:picLocks noChangeAspect="1"/>
          </p:cNvPicPr>
          <p:nvPr/>
        </p:nvPicPr>
        <p:blipFill>
          <a:blip r:embed="rId4"/>
          <a:stretch>
            <a:fillRect/>
          </a:stretch>
        </p:blipFill>
        <p:spPr>
          <a:xfrm>
            <a:off x="6526700" y="891606"/>
            <a:ext cx="260229" cy="303599"/>
          </a:xfrm>
          <a:prstGeom prst="rect">
            <a:avLst/>
          </a:prstGeom>
        </p:spPr>
      </p:pic>
      <p:sp>
        <p:nvSpPr>
          <p:cNvPr id="8" name="TextBox 7">
            <a:extLst>
              <a:ext uri="{FF2B5EF4-FFF2-40B4-BE49-F238E27FC236}">
                <a16:creationId xmlns:a16="http://schemas.microsoft.com/office/drawing/2014/main" id="{F7426F38-FEC1-6603-801B-9E3A65215CF3}"/>
              </a:ext>
            </a:extLst>
          </p:cNvPr>
          <p:cNvSpPr txBox="1"/>
          <p:nvPr/>
        </p:nvSpPr>
        <p:spPr>
          <a:xfrm>
            <a:off x="6795629" y="918495"/>
            <a:ext cx="3115656" cy="253916"/>
          </a:xfrm>
          <a:prstGeom prst="rect">
            <a:avLst/>
          </a:prstGeom>
          <a:noFill/>
        </p:spPr>
        <p:txBody>
          <a:bodyPr wrap="square" rtlCol="0">
            <a:spAutoFit/>
          </a:bodyPr>
          <a:lstStyle/>
          <a:p>
            <a:r>
              <a:rPr lang="en-US" sz="1050" dirty="0"/>
              <a:t>/ Practices &amp; Approaches</a:t>
            </a:r>
          </a:p>
        </p:txBody>
      </p:sp>
      <p:sp>
        <p:nvSpPr>
          <p:cNvPr id="9" name="TextBox 8">
            <a:extLst>
              <a:ext uri="{FF2B5EF4-FFF2-40B4-BE49-F238E27FC236}">
                <a16:creationId xmlns:a16="http://schemas.microsoft.com/office/drawing/2014/main" id="{43D02C2F-817D-FC24-C221-93BEA363A2C4}"/>
              </a:ext>
            </a:extLst>
          </p:cNvPr>
          <p:cNvSpPr txBox="1"/>
          <p:nvPr/>
        </p:nvSpPr>
        <p:spPr>
          <a:xfrm>
            <a:off x="7241366" y="1382477"/>
            <a:ext cx="2781478" cy="338554"/>
          </a:xfrm>
          <a:prstGeom prst="rect">
            <a:avLst/>
          </a:prstGeom>
          <a:noFill/>
        </p:spPr>
        <p:txBody>
          <a:bodyPr wrap="square" rtlCol="0">
            <a:spAutoFit/>
          </a:bodyPr>
          <a:lstStyle/>
          <a:p>
            <a:pPr algn="ctr">
              <a:buClrTx/>
              <a:buFontTx/>
              <a:buNone/>
            </a:pPr>
            <a:r>
              <a:rPr lang="en-US" sz="1600" b="1" kern="1200" dirty="0">
                <a:solidFill>
                  <a:prstClr val="black"/>
                </a:solidFill>
                <a:latin typeface="Aptos" panose="020B0004020202020204" pitchFamily="34" charset="0"/>
                <a:ea typeface="+mn-ea"/>
                <a:cs typeface="+mn-cs"/>
              </a:rPr>
              <a:t>Practices &amp; Approaches</a:t>
            </a:r>
          </a:p>
        </p:txBody>
      </p:sp>
      <p:sp>
        <p:nvSpPr>
          <p:cNvPr id="10" name="TextBox 9">
            <a:extLst>
              <a:ext uri="{FF2B5EF4-FFF2-40B4-BE49-F238E27FC236}">
                <a16:creationId xmlns:a16="http://schemas.microsoft.com/office/drawing/2014/main" id="{6B648F7B-E97F-02DF-5130-D79C07C5D589}"/>
              </a:ext>
            </a:extLst>
          </p:cNvPr>
          <p:cNvSpPr txBox="1"/>
          <p:nvPr/>
        </p:nvSpPr>
        <p:spPr>
          <a:xfrm>
            <a:off x="426919" y="4136205"/>
            <a:ext cx="1654971" cy="646331"/>
          </a:xfrm>
          <a:prstGeom prst="rect">
            <a:avLst/>
          </a:prstGeom>
          <a:noFill/>
        </p:spPr>
        <p:txBody>
          <a:bodyPr wrap="square" rtlCol="0">
            <a:spAutoFit/>
          </a:bodyPr>
          <a:lstStyle/>
          <a:p>
            <a:pPr algn="ctr"/>
            <a:r>
              <a:rPr lang="en-US" dirty="0">
                <a:hlinkClick r:id="rId5"/>
              </a:rPr>
              <a:t>Miro Link </a:t>
            </a:r>
            <a:r>
              <a:rPr lang="en-US" dirty="0"/>
              <a:t>with more details</a:t>
            </a:r>
          </a:p>
        </p:txBody>
      </p:sp>
      <p:sp>
        <p:nvSpPr>
          <p:cNvPr id="11" name="TextBox 10">
            <a:extLst>
              <a:ext uri="{FF2B5EF4-FFF2-40B4-BE49-F238E27FC236}">
                <a16:creationId xmlns:a16="http://schemas.microsoft.com/office/drawing/2014/main" id="{3D221B7E-23D6-8E7C-26DC-2F4FA5C97348}"/>
              </a:ext>
            </a:extLst>
          </p:cNvPr>
          <p:cNvSpPr txBox="1"/>
          <p:nvPr/>
        </p:nvSpPr>
        <p:spPr>
          <a:xfrm>
            <a:off x="7596697" y="2930862"/>
            <a:ext cx="1654971" cy="646331"/>
          </a:xfrm>
          <a:prstGeom prst="rect">
            <a:avLst/>
          </a:prstGeom>
          <a:noFill/>
        </p:spPr>
        <p:txBody>
          <a:bodyPr wrap="square" rtlCol="0">
            <a:spAutoFit/>
          </a:bodyPr>
          <a:lstStyle/>
          <a:p>
            <a:pPr algn="ctr"/>
            <a:r>
              <a:rPr lang="en-US" dirty="0">
                <a:hlinkClick r:id="rId5"/>
              </a:rPr>
              <a:t>Miro Link </a:t>
            </a:r>
            <a:r>
              <a:rPr lang="en-US" dirty="0"/>
              <a:t>with more details</a:t>
            </a:r>
          </a:p>
        </p:txBody>
      </p:sp>
      <p:cxnSp>
        <p:nvCxnSpPr>
          <p:cNvPr id="13" name="Straight Arrow Connector 12">
            <a:extLst>
              <a:ext uri="{FF2B5EF4-FFF2-40B4-BE49-F238E27FC236}">
                <a16:creationId xmlns:a16="http://schemas.microsoft.com/office/drawing/2014/main" id="{F48BDEA9-8788-FBB6-5D1B-E156EB96F703}"/>
              </a:ext>
            </a:extLst>
          </p:cNvPr>
          <p:cNvCxnSpPr>
            <a:stCxn id="41" idx="3"/>
          </p:cNvCxnSpPr>
          <p:nvPr/>
        </p:nvCxnSpPr>
        <p:spPr>
          <a:xfrm flipV="1">
            <a:off x="2882600" y="2201333"/>
            <a:ext cx="3351706" cy="6933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B437C13-F3A8-871F-2315-FDC88B8F886A}"/>
              </a:ext>
            </a:extLst>
          </p:cNvPr>
          <p:cNvSpPr txBox="1"/>
          <p:nvPr/>
        </p:nvSpPr>
        <p:spPr>
          <a:xfrm>
            <a:off x="3711154" y="2723809"/>
            <a:ext cx="2230053" cy="1200329"/>
          </a:xfrm>
          <a:prstGeom prst="rect">
            <a:avLst/>
          </a:prstGeom>
          <a:noFill/>
        </p:spPr>
        <p:txBody>
          <a:bodyPr wrap="square" rtlCol="0">
            <a:spAutoFit/>
          </a:bodyPr>
          <a:lstStyle/>
          <a:p>
            <a:r>
              <a:rPr lang="en-US" dirty="0"/>
              <a:t>Single Click opens a “Full View” or the data preview Window</a:t>
            </a:r>
          </a:p>
        </p:txBody>
      </p:sp>
    </p:spTree>
    <p:extLst>
      <p:ext uri="{BB962C8B-B14F-4D97-AF65-F5344CB8AC3E}">
        <p14:creationId xmlns:p14="http://schemas.microsoft.com/office/powerpoint/2010/main" val="3291010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157">
          <a:extLst>
            <a:ext uri="{FF2B5EF4-FFF2-40B4-BE49-F238E27FC236}">
              <a16:creationId xmlns:a16="http://schemas.microsoft.com/office/drawing/2014/main" id="{D5AF8A67-0C16-98B9-70DD-ADE57DCBFB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2CEE34-49D5-4860-8DFD-1CEECCA11009}"/>
              </a:ext>
            </a:extLst>
          </p:cNvPr>
          <p:cNvSpPr txBox="1"/>
          <p:nvPr/>
        </p:nvSpPr>
        <p:spPr>
          <a:xfrm>
            <a:off x="461683" y="85633"/>
            <a:ext cx="11268634" cy="861774"/>
          </a:xfrm>
          <a:prstGeom prst="rect">
            <a:avLst/>
          </a:prstGeom>
          <a:noFill/>
        </p:spPr>
        <p:txBody>
          <a:bodyPr wrap="square" rtlCol="0">
            <a:spAutoFit/>
          </a:bodyPr>
          <a:lstStyle/>
          <a:p>
            <a:pPr algn="ctr"/>
            <a:r>
              <a:rPr lang="en-US" sz="5000" dirty="0"/>
              <a:t>V2 Ring Components</a:t>
            </a:r>
          </a:p>
        </p:txBody>
      </p:sp>
      <p:grpSp>
        <p:nvGrpSpPr>
          <p:cNvPr id="3" name="Group 2">
            <a:extLst>
              <a:ext uri="{FF2B5EF4-FFF2-40B4-BE49-F238E27FC236}">
                <a16:creationId xmlns:a16="http://schemas.microsoft.com/office/drawing/2014/main" id="{2696F27A-6940-D4D5-2C82-12F387BB421C}"/>
              </a:ext>
            </a:extLst>
          </p:cNvPr>
          <p:cNvGrpSpPr/>
          <p:nvPr/>
        </p:nvGrpSpPr>
        <p:grpSpPr>
          <a:xfrm>
            <a:off x="2013499" y="1217941"/>
            <a:ext cx="1911181" cy="451349"/>
            <a:chOff x="8125387" y="4901663"/>
            <a:chExt cx="1101323" cy="978699"/>
          </a:xfrm>
        </p:grpSpPr>
        <p:sp>
          <p:nvSpPr>
            <p:cNvPr id="4" name="TextBox 3">
              <a:extLst>
                <a:ext uri="{FF2B5EF4-FFF2-40B4-BE49-F238E27FC236}">
                  <a16:creationId xmlns:a16="http://schemas.microsoft.com/office/drawing/2014/main" id="{63CDEE00-904D-5267-8598-754C96A1AEAB}"/>
                </a:ext>
              </a:extLst>
            </p:cNvPr>
            <p:cNvSpPr txBox="1"/>
            <p:nvPr/>
          </p:nvSpPr>
          <p:spPr>
            <a:xfrm>
              <a:off x="8337362" y="5012769"/>
              <a:ext cx="889348" cy="867593"/>
            </a:xfrm>
            <a:prstGeom prst="rect">
              <a:avLst/>
            </a:prstGeom>
            <a:noFill/>
            <a:ln>
              <a:noFill/>
            </a:ln>
          </p:spPr>
          <p:txBody>
            <a:bodyPr wrap="square" rtlCol="0">
              <a:spAutoFit/>
            </a:bodyPr>
            <a:lstStyle/>
            <a:p>
              <a:r>
                <a:rPr lang="en-US" sz="2000" dirty="0">
                  <a:solidFill>
                    <a:schemeClr val="bg1">
                      <a:lumMod val="85000"/>
                    </a:schemeClr>
                  </a:solidFill>
                </a:rPr>
                <a:t>• </a:t>
              </a:r>
              <a:r>
                <a:rPr lang="en-US" sz="2000" dirty="0">
                  <a:solidFill>
                    <a:schemeClr val="bg1">
                      <a:lumMod val="50000"/>
                    </a:schemeClr>
                  </a:solidFill>
                </a:rPr>
                <a:t>•</a:t>
              </a:r>
              <a:r>
                <a:rPr lang="en-US" sz="2000" dirty="0"/>
                <a:t> •</a:t>
              </a:r>
              <a:endParaRPr lang="en-US" sz="900" dirty="0"/>
            </a:p>
          </p:txBody>
        </p:sp>
        <p:sp>
          <p:nvSpPr>
            <p:cNvPr id="5" name="TextBox 4">
              <a:extLst>
                <a:ext uri="{FF2B5EF4-FFF2-40B4-BE49-F238E27FC236}">
                  <a16:creationId xmlns:a16="http://schemas.microsoft.com/office/drawing/2014/main" id="{7F90A00D-ABCC-03AD-D74E-E1DEA0D1D76A}"/>
                </a:ext>
              </a:extLst>
            </p:cNvPr>
            <p:cNvSpPr txBox="1"/>
            <p:nvPr/>
          </p:nvSpPr>
          <p:spPr>
            <a:xfrm>
              <a:off x="8125387" y="4901663"/>
              <a:ext cx="350568" cy="400108"/>
            </a:xfrm>
            <a:prstGeom prst="rect">
              <a:avLst/>
            </a:prstGeom>
            <a:noFill/>
          </p:spPr>
          <p:txBody>
            <a:bodyPr wrap="square" rtlCol="0">
              <a:spAutoFit/>
            </a:bodyPr>
            <a:lstStyle/>
            <a:p>
              <a:r>
                <a:rPr lang="en-US" sz="2000" dirty="0"/>
                <a:t>   </a:t>
              </a:r>
              <a:r>
                <a:rPr lang="en-US" sz="1050" dirty="0"/>
                <a:t>   </a:t>
              </a:r>
              <a:r>
                <a:rPr lang="en-US" sz="900" dirty="0"/>
                <a:t>○</a:t>
              </a:r>
            </a:p>
          </p:txBody>
        </p:sp>
      </p:grpSp>
      <p:sp>
        <p:nvSpPr>
          <p:cNvPr id="12" name="Rounded Rectangular Callout 11">
            <a:extLst>
              <a:ext uri="{FF2B5EF4-FFF2-40B4-BE49-F238E27FC236}">
                <a16:creationId xmlns:a16="http://schemas.microsoft.com/office/drawing/2014/main" id="{5C465676-4D13-34F4-FEFE-9AED22704F7A}"/>
              </a:ext>
            </a:extLst>
          </p:cNvPr>
          <p:cNvSpPr/>
          <p:nvPr/>
        </p:nvSpPr>
        <p:spPr>
          <a:xfrm>
            <a:off x="388122" y="1565689"/>
            <a:ext cx="1455431" cy="617186"/>
          </a:xfrm>
          <a:prstGeom prst="wedgeRoundRectCallout">
            <a:avLst>
              <a:gd name="adj1" fmla="val 83447"/>
              <a:gd name="adj2" fmla="val -6121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Dot Colors </a:t>
            </a:r>
            <a:r>
              <a:rPr lang="en-US" sz="1050" dirty="0"/>
              <a:t>(Absent, Low, Medium, High)</a:t>
            </a:r>
            <a:endParaRPr lang="en-US" sz="1200" dirty="0"/>
          </a:p>
        </p:txBody>
      </p:sp>
      <p:sp>
        <p:nvSpPr>
          <p:cNvPr id="55" name="Rounded Rectangular Callout 54">
            <a:extLst>
              <a:ext uri="{FF2B5EF4-FFF2-40B4-BE49-F238E27FC236}">
                <a16:creationId xmlns:a16="http://schemas.microsoft.com/office/drawing/2014/main" id="{B91F527F-D594-FCD5-6406-E8D0A59CE273}"/>
              </a:ext>
            </a:extLst>
          </p:cNvPr>
          <p:cNvSpPr/>
          <p:nvPr/>
        </p:nvSpPr>
        <p:spPr>
          <a:xfrm>
            <a:off x="3207472" y="1269180"/>
            <a:ext cx="1455431" cy="892338"/>
          </a:xfrm>
          <a:prstGeom prst="wedgeRoundRectCallout">
            <a:avLst>
              <a:gd name="adj1" fmla="val 86045"/>
              <a:gd name="adj2" fmla="val 15723"/>
              <a:gd name="adj3" fmla="val 16667"/>
            </a:avLst>
          </a:prstGeom>
          <a:solidFill>
            <a:srgbClr val="156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Hover over to see what leaps it is, Priority level, and if Targeted, </a:t>
            </a:r>
          </a:p>
        </p:txBody>
      </p:sp>
      <p:sp>
        <p:nvSpPr>
          <p:cNvPr id="6" name="Octagon 5">
            <a:extLst>
              <a:ext uri="{FF2B5EF4-FFF2-40B4-BE49-F238E27FC236}">
                <a16:creationId xmlns:a16="http://schemas.microsoft.com/office/drawing/2014/main" id="{62CC745A-614F-5AE1-72E3-60AA45049946}"/>
              </a:ext>
            </a:extLst>
          </p:cNvPr>
          <p:cNvSpPr/>
          <p:nvPr/>
        </p:nvSpPr>
        <p:spPr>
          <a:xfrm>
            <a:off x="4618088" y="1794320"/>
            <a:ext cx="2213819" cy="2213819"/>
          </a:xfrm>
          <a:prstGeom prst="octagon">
            <a:avLst/>
          </a:prstGeom>
          <a:solidFill>
            <a:srgbClr val="DAF2D0"/>
          </a:solidFill>
          <a:effectLst>
            <a:outerShdw blurRad="336307" dist="50800" dir="5400000" sx="86326" sy="86326" algn="ctr" rotWithShape="0">
              <a:srgbClr val="00000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Rounded Rectangle 6">
            <a:extLst>
              <a:ext uri="{FF2B5EF4-FFF2-40B4-BE49-F238E27FC236}">
                <a16:creationId xmlns:a16="http://schemas.microsoft.com/office/drawing/2014/main" id="{0240863E-CB24-B03F-9672-70127F057268}"/>
              </a:ext>
            </a:extLst>
          </p:cNvPr>
          <p:cNvSpPr/>
          <p:nvPr/>
        </p:nvSpPr>
        <p:spPr>
          <a:xfrm>
            <a:off x="4837548" y="2485549"/>
            <a:ext cx="1762611" cy="1005040"/>
          </a:xfrm>
          <a:prstGeom prst="roundRect">
            <a:avLst/>
          </a:prstGeom>
          <a:solidFill>
            <a:srgbClr val="B5DFA8"/>
          </a:solidFill>
          <a:ln w="76200">
            <a:solidFill>
              <a:srgbClr val="C9EA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FEB1D702-DF1A-69AC-D70E-48BE23F62113}"/>
              </a:ext>
            </a:extLst>
          </p:cNvPr>
          <p:cNvSpPr txBox="1"/>
          <p:nvPr/>
        </p:nvSpPr>
        <p:spPr>
          <a:xfrm>
            <a:off x="4995979" y="2082449"/>
            <a:ext cx="1426042" cy="491738"/>
          </a:xfrm>
          <a:prstGeom prst="rect">
            <a:avLst/>
          </a:prstGeom>
          <a:noFill/>
        </p:spPr>
        <p:txBody>
          <a:bodyPr wrap="square">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EA72E">
                    <a:lumMod val="75000"/>
                  </a:srgbClr>
                </a:solidFill>
                <a:effectLst/>
                <a:uLnTx/>
                <a:uFillTx/>
                <a:latin typeface="Aptos" panose="02110004020202020204"/>
                <a:ea typeface="+mn-ea"/>
                <a:cs typeface="+mn-cs"/>
              </a:rPr>
              <a:t>COMP 3</a:t>
            </a:r>
          </a:p>
        </p:txBody>
      </p:sp>
      <p:grpSp>
        <p:nvGrpSpPr>
          <p:cNvPr id="9" name="Group 8">
            <a:extLst>
              <a:ext uri="{FF2B5EF4-FFF2-40B4-BE49-F238E27FC236}">
                <a16:creationId xmlns:a16="http://schemas.microsoft.com/office/drawing/2014/main" id="{BE98B90D-90BA-BAD0-2E6D-351C5B13068A}"/>
              </a:ext>
            </a:extLst>
          </p:cNvPr>
          <p:cNvGrpSpPr/>
          <p:nvPr/>
        </p:nvGrpSpPr>
        <p:grpSpPr>
          <a:xfrm>
            <a:off x="5135189" y="1613905"/>
            <a:ext cx="1669093" cy="797779"/>
            <a:chOff x="8337362" y="4922877"/>
            <a:chExt cx="1379415" cy="797779"/>
          </a:xfrm>
        </p:grpSpPr>
        <p:sp>
          <p:nvSpPr>
            <p:cNvPr id="10" name="TextBox 9">
              <a:extLst>
                <a:ext uri="{FF2B5EF4-FFF2-40B4-BE49-F238E27FC236}">
                  <a16:creationId xmlns:a16="http://schemas.microsoft.com/office/drawing/2014/main" id="{FEB58E84-573F-CFCB-83F8-7E5CD621C86D}"/>
                </a:ext>
              </a:extLst>
            </p:cNvPr>
            <p:cNvSpPr txBox="1"/>
            <p:nvPr/>
          </p:nvSpPr>
          <p:spPr>
            <a:xfrm>
              <a:off x="8337362" y="5012770"/>
              <a:ext cx="88934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 • • • </a:t>
              </a:r>
              <a:r>
                <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11" name="TextBox 10">
              <a:extLst>
                <a:ext uri="{FF2B5EF4-FFF2-40B4-BE49-F238E27FC236}">
                  <a16:creationId xmlns:a16="http://schemas.microsoft.com/office/drawing/2014/main" id="{484E26CC-B152-0B75-A660-6070BF3AB6C8}"/>
                </a:ext>
              </a:extLst>
            </p:cNvPr>
            <p:cNvSpPr txBox="1"/>
            <p:nvPr/>
          </p:nvSpPr>
          <p:spPr>
            <a:xfrm>
              <a:off x="8827429" y="4922877"/>
              <a:ext cx="88934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grpSp>
      <p:sp>
        <p:nvSpPr>
          <p:cNvPr id="14" name="TextBox 13">
            <a:extLst>
              <a:ext uri="{FF2B5EF4-FFF2-40B4-BE49-F238E27FC236}">
                <a16:creationId xmlns:a16="http://schemas.microsoft.com/office/drawing/2014/main" id="{F7745C50-0750-1DB0-5249-F879B3F08473}"/>
              </a:ext>
            </a:extLst>
          </p:cNvPr>
          <p:cNvSpPr txBox="1"/>
          <p:nvPr/>
        </p:nvSpPr>
        <p:spPr>
          <a:xfrm>
            <a:off x="5406335" y="2369745"/>
            <a:ext cx="783750"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chemeClr val="bg1">
                    <a:lumMod val="50000"/>
                  </a:schemeClr>
                </a:solidFill>
                <a:effectLst/>
                <a:uLnTx/>
                <a:uFillTx/>
                <a:latin typeface="Aptos" panose="02110004020202020204"/>
                <a:ea typeface="+mn-ea"/>
                <a:cs typeface="+mn-cs"/>
              </a:rPr>
              <a:t>Key Drivers</a:t>
            </a:r>
          </a:p>
        </p:txBody>
      </p:sp>
      <p:sp>
        <p:nvSpPr>
          <p:cNvPr id="16" name="Rounded Rectangle 15">
            <a:extLst>
              <a:ext uri="{FF2B5EF4-FFF2-40B4-BE49-F238E27FC236}">
                <a16:creationId xmlns:a16="http://schemas.microsoft.com/office/drawing/2014/main" id="{D6DE53A7-D9A3-21A6-1E08-85EDC034CA92}"/>
              </a:ext>
            </a:extLst>
          </p:cNvPr>
          <p:cNvSpPr/>
          <p:nvPr/>
        </p:nvSpPr>
        <p:spPr>
          <a:xfrm>
            <a:off x="5583124" y="3568485"/>
            <a:ext cx="302619" cy="176633"/>
          </a:xfrm>
          <a:prstGeom prst="roundRect">
            <a:avLst/>
          </a:prstGeom>
          <a:solidFill>
            <a:schemeClr val="accent6">
              <a:lumMod val="60000"/>
              <a:lumOff val="4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56082"/>
                </a:solidFill>
                <a:effectLst/>
                <a:uLnTx/>
                <a:uFillTx/>
                <a:latin typeface="Aptos" panose="02110004020202020204"/>
                <a:ea typeface="+mn-ea"/>
                <a:cs typeface="+mn-cs"/>
              </a:rPr>
              <a:t>5</a:t>
            </a:r>
          </a:p>
        </p:txBody>
      </p:sp>
      <p:sp>
        <p:nvSpPr>
          <p:cNvPr id="17" name="TextBox 16">
            <a:extLst>
              <a:ext uri="{FF2B5EF4-FFF2-40B4-BE49-F238E27FC236}">
                <a16:creationId xmlns:a16="http://schemas.microsoft.com/office/drawing/2014/main" id="{20F33C50-28D2-487F-8353-80240558B977}"/>
              </a:ext>
            </a:extLst>
          </p:cNvPr>
          <p:cNvSpPr txBox="1"/>
          <p:nvPr/>
        </p:nvSpPr>
        <p:spPr>
          <a:xfrm>
            <a:off x="6003000" y="3381282"/>
            <a:ext cx="622856"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chemeClr val="bg1">
                    <a:lumMod val="50000"/>
                  </a:schemeClr>
                </a:solidFill>
                <a:effectLst/>
                <a:uLnTx/>
                <a:uFillTx/>
                <a:latin typeface="Aptos" panose="02110004020202020204"/>
                <a:ea typeface="+mn-ea"/>
                <a:cs typeface="+mn-cs"/>
              </a:rPr>
              <a:t>Learning</a:t>
            </a:r>
          </a:p>
        </p:txBody>
      </p:sp>
      <p:sp>
        <p:nvSpPr>
          <p:cNvPr id="18" name="TextBox 17">
            <a:extLst>
              <a:ext uri="{FF2B5EF4-FFF2-40B4-BE49-F238E27FC236}">
                <a16:creationId xmlns:a16="http://schemas.microsoft.com/office/drawing/2014/main" id="{61AC8433-2FE0-63B9-D21A-4E5F941C512E}"/>
              </a:ext>
            </a:extLst>
          </p:cNvPr>
          <p:cNvSpPr txBox="1"/>
          <p:nvPr/>
        </p:nvSpPr>
        <p:spPr>
          <a:xfrm>
            <a:off x="5405946" y="3384699"/>
            <a:ext cx="778934"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chemeClr val="bg1">
                    <a:lumMod val="50000"/>
                  </a:schemeClr>
                </a:solidFill>
                <a:effectLst/>
                <a:uLnTx/>
                <a:uFillTx/>
                <a:latin typeface="Aptos" panose="02110004020202020204"/>
                <a:ea typeface="+mn-ea"/>
                <a:cs typeface="+mn-cs"/>
              </a:rPr>
              <a:t>Experience</a:t>
            </a:r>
          </a:p>
        </p:txBody>
      </p:sp>
      <p:sp>
        <p:nvSpPr>
          <p:cNvPr id="19" name="Rounded Rectangle 18">
            <a:extLst>
              <a:ext uri="{FF2B5EF4-FFF2-40B4-BE49-F238E27FC236}">
                <a16:creationId xmlns:a16="http://schemas.microsoft.com/office/drawing/2014/main" id="{B698AB93-D77D-1815-4FDD-897DB2B179F1}"/>
              </a:ext>
            </a:extLst>
          </p:cNvPr>
          <p:cNvSpPr/>
          <p:nvPr/>
        </p:nvSpPr>
        <p:spPr>
          <a:xfrm>
            <a:off x="6092380" y="3591879"/>
            <a:ext cx="302619" cy="176633"/>
          </a:xfrm>
          <a:prstGeom prst="roundRect">
            <a:avLst/>
          </a:prstGeom>
          <a:solidFill>
            <a:schemeClr val="accent6">
              <a:lumMod val="60000"/>
              <a:lumOff val="4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56082"/>
                </a:solidFill>
                <a:effectLst/>
                <a:uLnTx/>
                <a:uFillTx/>
                <a:latin typeface="Aptos" panose="02110004020202020204"/>
                <a:ea typeface="+mn-ea"/>
                <a:cs typeface="+mn-cs"/>
              </a:rPr>
              <a:t>5</a:t>
            </a:r>
          </a:p>
        </p:txBody>
      </p:sp>
      <p:sp>
        <p:nvSpPr>
          <p:cNvPr id="20" name="TextBox 19">
            <a:extLst>
              <a:ext uri="{FF2B5EF4-FFF2-40B4-BE49-F238E27FC236}">
                <a16:creationId xmlns:a16="http://schemas.microsoft.com/office/drawing/2014/main" id="{034FDA0B-9908-6956-93BB-419DE6D02629}"/>
              </a:ext>
            </a:extLst>
          </p:cNvPr>
          <p:cNvSpPr txBox="1"/>
          <p:nvPr/>
        </p:nvSpPr>
        <p:spPr>
          <a:xfrm>
            <a:off x="5318933" y="3813884"/>
            <a:ext cx="10431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lumMod val="50000"/>
                  </a:schemeClr>
                </a:solidFill>
                <a:effectLst/>
                <a:uLnTx/>
                <a:uFillTx/>
                <a:latin typeface="Aptos" panose="02110004020202020204"/>
                <a:ea typeface="+mn-ea"/>
                <a:cs typeface="+mn-cs"/>
              </a:rPr>
              <a:t>Test &amp; Refine</a:t>
            </a:r>
          </a:p>
        </p:txBody>
      </p:sp>
      <p:sp>
        <p:nvSpPr>
          <p:cNvPr id="21" name="TextBox 20">
            <a:extLst>
              <a:ext uri="{FF2B5EF4-FFF2-40B4-BE49-F238E27FC236}">
                <a16:creationId xmlns:a16="http://schemas.microsoft.com/office/drawing/2014/main" id="{0DEE0411-E846-CFEC-E73B-9B0884E467C4}"/>
              </a:ext>
            </a:extLst>
          </p:cNvPr>
          <p:cNvSpPr txBox="1"/>
          <p:nvPr/>
        </p:nvSpPr>
        <p:spPr>
          <a:xfrm rot="10800000">
            <a:off x="4611383" y="2689223"/>
            <a:ext cx="2922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24242"/>
                </a:solidFill>
                <a:effectLst/>
                <a:uLnTx/>
                <a:uFillTx/>
                <a:latin typeface="Arial Unicode MS" panose="020B0604020202020204" pitchFamily="34" charset="-128"/>
                <a:ea typeface="Arial Unicode MS" panose="020B0604020202020204" pitchFamily="34" charset="-128"/>
                <a:cs typeface="+mn-cs"/>
              </a:rPr>
              <a:t>►</a:t>
            </a: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B485FD70-335D-7B8B-C7BE-5476B6B314EE}"/>
              </a:ext>
            </a:extLst>
          </p:cNvPr>
          <p:cNvSpPr txBox="1"/>
          <p:nvPr/>
        </p:nvSpPr>
        <p:spPr>
          <a:xfrm>
            <a:off x="6538156" y="2713272"/>
            <a:ext cx="2922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24242"/>
                </a:solidFill>
                <a:effectLst/>
                <a:uLnTx/>
                <a:uFillTx/>
                <a:latin typeface="Arial Unicode MS" panose="020B0604020202020204" pitchFamily="34" charset="-128"/>
                <a:ea typeface="Arial Unicode MS" panose="020B0604020202020204" pitchFamily="34" charset="-128"/>
                <a:cs typeface="+mn-cs"/>
              </a:rPr>
              <a:t>►</a:t>
            </a: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3" name="Rounded Rectangle 22">
            <a:extLst>
              <a:ext uri="{FF2B5EF4-FFF2-40B4-BE49-F238E27FC236}">
                <a16:creationId xmlns:a16="http://schemas.microsoft.com/office/drawing/2014/main" id="{5082F235-940A-B7B6-C866-4E4EA3DBC9B8}"/>
              </a:ext>
            </a:extLst>
          </p:cNvPr>
          <p:cNvSpPr/>
          <p:nvPr/>
        </p:nvSpPr>
        <p:spPr>
          <a:xfrm>
            <a:off x="5065162" y="3603578"/>
            <a:ext cx="302619" cy="176633"/>
          </a:xfrm>
          <a:prstGeom prst="roundRect">
            <a:avLst/>
          </a:prstGeom>
          <a:solidFill>
            <a:schemeClr val="accent6">
              <a:lumMod val="60000"/>
              <a:lumOff val="4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56082"/>
                </a:solidFill>
                <a:effectLst/>
                <a:uLnTx/>
                <a:uFillTx/>
                <a:latin typeface="Aptos" panose="02110004020202020204"/>
                <a:ea typeface="+mn-ea"/>
                <a:cs typeface="+mn-cs"/>
              </a:rPr>
              <a:t>5</a:t>
            </a:r>
          </a:p>
        </p:txBody>
      </p:sp>
      <p:sp>
        <p:nvSpPr>
          <p:cNvPr id="24" name="TextBox 23">
            <a:extLst>
              <a:ext uri="{FF2B5EF4-FFF2-40B4-BE49-F238E27FC236}">
                <a16:creationId xmlns:a16="http://schemas.microsoft.com/office/drawing/2014/main" id="{BA3172CE-DAED-665E-4934-EAE852FF3CBC}"/>
              </a:ext>
            </a:extLst>
          </p:cNvPr>
          <p:cNvSpPr txBox="1"/>
          <p:nvPr/>
        </p:nvSpPr>
        <p:spPr>
          <a:xfrm>
            <a:off x="4939642" y="3387690"/>
            <a:ext cx="640347"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chemeClr val="bg1">
                    <a:lumMod val="50000"/>
                  </a:schemeClr>
                </a:solidFill>
                <a:effectLst/>
                <a:uLnTx/>
                <a:uFillTx/>
                <a:latin typeface="Aptos" panose="02110004020202020204"/>
                <a:ea typeface="+mn-ea"/>
                <a:cs typeface="+mn-cs"/>
              </a:rPr>
              <a:t>Thriving</a:t>
            </a:r>
          </a:p>
        </p:txBody>
      </p:sp>
      <p:sp>
        <p:nvSpPr>
          <p:cNvPr id="25" name="TextBox 24">
            <a:extLst>
              <a:ext uri="{FF2B5EF4-FFF2-40B4-BE49-F238E27FC236}">
                <a16:creationId xmlns:a16="http://schemas.microsoft.com/office/drawing/2014/main" id="{D379E856-2432-2EB8-9409-CC4AD4C827D7}"/>
              </a:ext>
            </a:extLst>
          </p:cNvPr>
          <p:cNvSpPr txBox="1"/>
          <p:nvPr/>
        </p:nvSpPr>
        <p:spPr>
          <a:xfrm>
            <a:off x="4954096" y="2641324"/>
            <a:ext cx="488220" cy="215444"/>
          </a:xfrm>
          <a:prstGeom prst="rect">
            <a:avLst/>
          </a:prstGeom>
          <a:noFill/>
        </p:spPr>
        <p:txBody>
          <a:bodyPr wrap="square" rtlCol="0">
            <a:spAutoFit/>
          </a:bodyPr>
          <a:lstStyle/>
          <a:p>
            <a:r>
              <a:rPr lang="en-US" sz="800" u="sng" dirty="0">
                <a:solidFill>
                  <a:schemeClr val="tx2">
                    <a:lumMod val="50000"/>
                    <a:lumOff val="50000"/>
                  </a:schemeClr>
                </a:solidFill>
              </a:rPr>
              <a:t>Design</a:t>
            </a:r>
          </a:p>
        </p:txBody>
      </p:sp>
      <p:sp>
        <p:nvSpPr>
          <p:cNvPr id="26" name="TextBox 25">
            <a:extLst>
              <a:ext uri="{FF2B5EF4-FFF2-40B4-BE49-F238E27FC236}">
                <a16:creationId xmlns:a16="http://schemas.microsoft.com/office/drawing/2014/main" id="{BDF808E1-7CC4-0182-C875-78327C8C5854}"/>
              </a:ext>
            </a:extLst>
          </p:cNvPr>
          <p:cNvSpPr txBox="1"/>
          <p:nvPr/>
        </p:nvSpPr>
        <p:spPr>
          <a:xfrm>
            <a:off x="5816465" y="2633308"/>
            <a:ext cx="694368" cy="215444"/>
          </a:xfrm>
          <a:prstGeom prst="rect">
            <a:avLst/>
          </a:prstGeom>
          <a:noFill/>
        </p:spPr>
        <p:txBody>
          <a:bodyPr wrap="square" rtlCol="0">
            <a:spAutoFit/>
          </a:bodyPr>
          <a:lstStyle/>
          <a:p>
            <a:r>
              <a:rPr lang="en-US" sz="800" u="sng" dirty="0">
                <a:solidFill>
                  <a:schemeClr val="tx2">
                    <a:lumMod val="50000"/>
                    <a:lumOff val="50000"/>
                  </a:schemeClr>
                </a:solidFill>
              </a:rPr>
              <a:t>Conditions</a:t>
            </a:r>
          </a:p>
        </p:txBody>
      </p:sp>
      <p:cxnSp>
        <p:nvCxnSpPr>
          <p:cNvPr id="27" name="Straight Connector 26">
            <a:extLst>
              <a:ext uri="{FF2B5EF4-FFF2-40B4-BE49-F238E27FC236}">
                <a16:creationId xmlns:a16="http://schemas.microsoft.com/office/drawing/2014/main" id="{C0E1AAD3-2968-AC5C-5618-46D49DDC50A0}"/>
              </a:ext>
            </a:extLst>
          </p:cNvPr>
          <p:cNvCxnSpPr>
            <a:cxnSpLocks/>
          </p:cNvCxnSpPr>
          <p:nvPr/>
        </p:nvCxnSpPr>
        <p:spPr>
          <a:xfrm flipH="1" flipV="1">
            <a:off x="5347101" y="2821198"/>
            <a:ext cx="353714" cy="213871"/>
          </a:xfrm>
          <a:prstGeom prst="line">
            <a:avLst/>
          </a:prstGeom>
          <a:ln w="38100">
            <a:solidFill>
              <a:srgbClr val="C9D21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DCC9AA4F-A653-B6DE-DBFD-18583701A740}"/>
              </a:ext>
            </a:extLst>
          </p:cNvPr>
          <p:cNvCxnSpPr>
            <a:cxnSpLocks/>
          </p:cNvCxnSpPr>
          <p:nvPr/>
        </p:nvCxnSpPr>
        <p:spPr>
          <a:xfrm flipH="1">
            <a:off x="5674064" y="2814200"/>
            <a:ext cx="336041" cy="217428"/>
          </a:xfrm>
          <a:prstGeom prst="line">
            <a:avLst/>
          </a:prstGeom>
          <a:ln w="38100">
            <a:solidFill>
              <a:srgbClr val="8EDA73"/>
            </a:solidFill>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1998AD23-9168-28EF-7927-5022F5FC5D81}"/>
              </a:ext>
            </a:extLst>
          </p:cNvPr>
          <p:cNvCxnSpPr>
            <a:cxnSpLocks/>
          </p:cNvCxnSpPr>
          <p:nvPr/>
        </p:nvCxnSpPr>
        <p:spPr>
          <a:xfrm flipH="1">
            <a:off x="5688075" y="3025555"/>
            <a:ext cx="201" cy="371817"/>
          </a:xfrm>
          <a:prstGeom prst="straightConnector1">
            <a:avLst/>
          </a:prstGeom>
          <a:ln w="38100">
            <a:solidFill>
              <a:srgbClr val="EB9999"/>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E5941A57-968D-32DB-5D19-75B5D731F2B8}"/>
              </a:ext>
            </a:extLst>
          </p:cNvPr>
          <p:cNvSpPr txBox="1"/>
          <p:nvPr/>
        </p:nvSpPr>
        <p:spPr>
          <a:xfrm>
            <a:off x="5293623" y="2988428"/>
            <a:ext cx="894724" cy="215444"/>
          </a:xfrm>
          <a:prstGeom prst="rect">
            <a:avLst/>
          </a:prstGeom>
          <a:solidFill>
            <a:srgbClr val="B5E0A8"/>
          </a:solidFill>
        </p:spPr>
        <p:txBody>
          <a:bodyPr wrap="square" rtlCol="0">
            <a:spAutoFit/>
          </a:bodyPr>
          <a:lstStyle/>
          <a:p>
            <a:r>
              <a:rPr lang="en-US" sz="800" u="sng" dirty="0">
                <a:solidFill>
                  <a:schemeClr val="tx2">
                    <a:lumMod val="50000"/>
                    <a:lumOff val="50000"/>
                  </a:schemeClr>
                </a:solidFill>
              </a:rPr>
              <a:t>Implementation</a:t>
            </a:r>
          </a:p>
        </p:txBody>
      </p:sp>
      <p:sp>
        <p:nvSpPr>
          <p:cNvPr id="31" name="TextBox 30">
            <a:extLst>
              <a:ext uri="{FF2B5EF4-FFF2-40B4-BE49-F238E27FC236}">
                <a16:creationId xmlns:a16="http://schemas.microsoft.com/office/drawing/2014/main" id="{C48A9B08-528F-B768-A84E-953771E11AA9}"/>
              </a:ext>
            </a:extLst>
          </p:cNvPr>
          <p:cNvSpPr txBox="1"/>
          <p:nvPr/>
        </p:nvSpPr>
        <p:spPr>
          <a:xfrm>
            <a:off x="6330750" y="2701882"/>
            <a:ext cx="296876" cy="200055"/>
          </a:xfrm>
          <a:prstGeom prst="rect">
            <a:avLst/>
          </a:prstGeom>
          <a:noFill/>
        </p:spPr>
        <p:txBody>
          <a:bodyPr wrap="none" rtlCol="0">
            <a:spAutoFit/>
          </a:bodyPr>
          <a:lstStyle/>
          <a:p>
            <a:r>
              <a:rPr lang="en-US" sz="700" dirty="0">
                <a:solidFill>
                  <a:schemeClr val="tx1"/>
                </a:solidFill>
              </a:rPr>
              <a:t>5H</a:t>
            </a:r>
          </a:p>
        </p:txBody>
      </p:sp>
      <p:sp>
        <p:nvSpPr>
          <p:cNvPr id="32" name="TextBox 31">
            <a:extLst>
              <a:ext uri="{FF2B5EF4-FFF2-40B4-BE49-F238E27FC236}">
                <a16:creationId xmlns:a16="http://schemas.microsoft.com/office/drawing/2014/main" id="{ED8896D0-30EA-A68A-482B-E527A2DFDB30}"/>
              </a:ext>
            </a:extLst>
          </p:cNvPr>
          <p:cNvSpPr txBox="1"/>
          <p:nvPr/>
        </p:nvSpPr>
        <p:spPr>
          <a:xfrm>
            <a:off x="6338766" y="2590794"/>
            <a:ext cx="276038" cy="200055"/>
          </a:xfrm>
          <a:prstGeom prst="rect">
            <a:avLst/>
          </a:prstGeom>
          <a:noFill/>
        </p:spPr>
        <p:txBody>
          <a:bodyPr wrap="none" rtlCol="0">
            <a:spAutoFit/>
          </a:bodyPr>
          <a:lstStyle/>
          <a:p>
            <a:r>
              <a:rPr lang="en-US" sz="700" dirty="0">
                <a:solidFill>
                  <a:schemeClr val="tx1"/>
                </a:solidFill>
              </a:rPr>
              <a:t>2T</a:t>
            </a:r>
          </a:p>
        </p:txBody>
      </p:sp>
      <p:cxnSp>
        <p:nvCxnSpPr>
          <p:cNvPr id="33" name="Straight Connector 32">
            <a:extLst>
              <a:ext uri="{FF2B5EF4-FFF2-40B4-BE49-F238E27FC236}">
                <a16:creationId xmlns:a16="http://schemas.microsoft.com/office/drawing/2014/main" id="{551B9CD1-FCDE-1795-8DB0-43A557944EC4}"/>
              </a:ext>
            </a:extLst>
          </p:cNvPr>
          <p:cNvCxnSpPr/>
          <p:nvPr/>
        </p:nvCxnSpPr>
        <p:spPr>
          <a:xfrm flipH="1">
            <a:off x="6416793" y="2738233"/>
            <a:ext cx="80844" cy="0"/>
          </a:xfrm>
          <a:prstGeom prst="line">
            <a:avLst/>
          </a:prstGeom>
        </p:spPr>
        <p:style>
          <a:lnRef idx="1">
            <a:schemeClr val="dk1"/>
          </a:lnRef>
          <a:fillRef idx="0">
            <a:schemeClr val="dk1"/>
          </a:fillRef>
          <a:effectRef idx="0">
            <a:schemeClr val="dk1"/>
          </a:effectRef>
          <a:fontRef idx="minor">
            <a:schemeClr val="tx1"/>
          </a:fontRef>
        </p:style>
      </p:cxnSp>
      <p:pic>
        <p:nvPicPr>
          <p:cNvPr id="34" name="Graphic 33" descr="Flag with solid fill">
            <a:extLst>
              <a:ext uri="{FF2B5EF4-FFF2-40B4-BE49-F238E27FC236}">
                <a16:creationId xmlns:a16="http://schemas.microsoft.com/office/drawing/2014/main" id="{0D8D3FD2-F2B9-84B1-12BA-EA41202E95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2766" y="2687727"/>
            <a:ext cx="120370" cy="120370"/>
          </a:xfrm>
          <a:prstGeom prst="rect">
            <a:avLst/>
          </a:prstGeom>
        </p:spPr>
      </p:pic>
      <p:pic>
        <p:nvPicPr>
          <p:cNvPr id="35" name="Graphic 34" descr="Flag with solid fill">
            <a:extLst>
              <a:ext uri="{FF2B5EF4-FFF2-40B4-BE49-F238E27FC236}">
                <a16:creationId xmlns:a16="http://schemas.microsoft.com/office/drawing/2014/main" id="{83911FD9-91A2-3E02-8EEC-72F368DB54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4953" y="3024015"/>
            <a:ext cx="120370" cy="120370"/>
          </a:xfrm>
          <a:prstGeom prst="rect">
            <a:avLst/>
          </a:prstGeom>
        </p:spPr>
      </p:pic>
      <p:sp>
        <p:nvSpPr>
          <p:cNvPr id="39" name="Rounded Rectangular Callout 38">
            <a:extLst>
              <a:ext uri="{FF2B5EF4-FFF2-40B4-BE49-F238E27FC236}">
                <a16:creationId xmlns:a16="http://schemas.microsoft.com/office/drawing/2014/main" id="{1D4318BB-2BBA-9A33-031C-FBAD527EF928}"/>
              </a:ext>
            </a:extLst>
          </p:cNvPr>
          <p:cNvSpPr/>
          <p:nvPr/>
        </p:nvSpPr>
        <p:spPr>
          <a:xfrm>
            <a:off x="1208314" y="2360779"/>
            <a:ext cx="2824159" cy="982597"/>
          </a:xfrm>
          <a:prstGeom prst="wedgeRoundRectCallout">
            <a:avLst>
              <a:gd name="adj1" fmla="val 81103"/>
              <a:gd name="adj2" fmla="val -13484"/>
              <a:gd name="adj3" fmla="val 16667"/>
            </a:avLst>
          </a:prstGeom>
          <a:solidFill>
            <a:srgbClr val="156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Flags on design &amp; Implementation  score show a little flag icon</a:t>
            </a:r>
          </a:p>
          <a:p>
            <a:pPr algn="ctr"/>
            <a:endParaRPr lang="en-US" sz="1200" dirty="0"/>
          </a:p>
          <a:p>
            <a:pPr algn="ctr"/>
            <a:r>
              <a:rPr lang="en-US" sz="1200" dirty="0"/>
              <a:t>User can hover over flag to see flag details (applies to E, O, I, C, and D)</a:t>
            </a:r>
          </a:p>
        </p:txBody>
      </p:sp>
      <p:sp>
        <p:nvSpPr>
          <p:cNvPr id="40" name="Rounded Rectangular Callout 39">
            <a:extLst>
              <a:ext uri="{FF2B5EF4-FFF2-40B4-BE49-F238E27FC236}">
                <a16:creationId xmlns:a16="http://schemas.microsoft.com/office/drawing/2014/main" id="{D229359F-23B6-F662-E0E8-356E55033EE7}"/>
              </a:ext>
            </a:extLst>
          </p:cNvPr>
          <p:cNvSpPr/>
          <p:nvPr/>
        </p:nvSpPr>
        <p:spPr>
          <a:xfrm>
            <a:off x="3546516" y="4264906"/>
            <a:ext cx="1455431" cy="617186"/>
          </a:xfrm>
          <a:prstGeom prst="wedgeRoundRectCallout">
            <a:avLst>
              <a:gd name="adj1" fmla="val 83447"/>
              <a:gd name="adj2" fmla="val -9296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Status at bottom</a:t>
            </a:r>
          </a:p>
        </p:txBody>
      </p:sp>
      <p:sp>
        <p:nvSpPr>
          <p:cNvPr id="13" name="Rounded Rectangular Callout 12">
            <a:extLst>
              <a:ext uri="{FF2B5EF4-FFF2-40B4-BE49-F238E27FC236}">
                <a16:creationId xmlns:a16="http://schemas.microsoft.com/office/drawing/2014/main" id="{8FDC87AC-1CFD-9781-F7DF-B9E336D3EC38}"/>
              </a:ext>
            </a:extLst>
          </p:cNvPr>
          <p:cNvSpPr/>
          <p:nvPr/>
        </p:nvSpPr>
        <p:spPr>
          <a:xfrm>
            <a:off x="7110014" y="2848752"/>
            <a:ext cx="1455431" cy="799864"/>
          </a:xfrm>
          <a:prstGeom prst="wedgeRoundRectCallout">
            <a:avLst>
              <a:gd name="adj1" fmla="val -85734"/>
              <a:gd name="adj2" fmla="val -6489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Conditions Tailwinds and headwinds show like this</a:t>
            </a:r>
          </a:p>
        </p:txBody>
      </p:sp>
    </p:spTree>
    <p:extLst>
      <p:ext uri="{BB962C8B-B14F-4D97-AF65-F5344CB8AC3E}">
        <p14:creationId xmlns:p14="http://schemas.microsoft.com/office/powerpoint/2010/main" val="4113900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5F76D1-3426-2740-2C7E-42F8F7B764DC}"/>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7AE4BF8D-2601-9C05-4AC6-14A5E517E319}"/>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765A90C5-6D75-74DE-84E4-060E20260AAD}"/>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7" name="Google Shape;21509;p354">
            <a:extLst>
              <a:ext uri="{FF2B5EF4-FFF2-40B4-BE49-F238E27FC236}">
                <a16:creationId xmlns:a16="http://schemas.microsoft.com/office/drawing/2014/main" id="{CDF7E2C1-5F8A-F7AC-FB84-17FE6C18D98A}"/>
              </a:ext>
            </a:extLst>
          </p:cNvPr>
          <p:cNvSpPr txBox="1"/>
          <p:nvPr/>
        </p:nvSpPr>
        <p:spPr>
          <a:xfrm>
            <a:off x="1760834"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35" name="TextBox 34">
            <a:extLst>
              <a:ext uri="{FF2B5EF4-FFF2-40B4-BE49-F238E27FC236}">
                <a16:creationId xmlns:a16="http://schemas.microsoft.com/office/drawing/2014/main" id="{A56AA64C-D6C7-453B-3CC5-BB0E465F0937}"/>
              </a:ext>
            </a:extLst>
          </p:cNvPr>
          <p:cNvSpPr txBox="1"/>
          <p:nvPr/>
        </p:nvSpPr>
        <p:spPr>
          <a:xfrm>
            <a:off x="1403431"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sp>
        <p:nvSpPr>
          <p:cNvPr id="2" name="Rounded Rectangle 1">
            <a:extLst>
              <a:ext uri="{FF2B5EF4-FFF2-40B4-BE49-F238E27FC236}">
                <a16:creationId xmlns:a16="http://schemas.microsoft.com/office/drawing/2014/main" id="{7DEC2891-DF19-5634-9B86-67D6FD4260F3}"/>
              </a:ext>
            </a:extLst>
          </p:cNvPr>
          <p:cNvSpPr/>
          <p:nvPr/>
        </p:nvSpPr>
        <p:spPr>
          <a:xfrm>
            <a:off x="916612" y="2662165"/>
            <a:ext cx="4568398" cy="2470023"/>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TextBox 41">
            <a:extLst>
              <a:ext uri="{FF2B5EF4-FFF2-40B4-BE49-F238E27FC236}">
                <a16:creationId xmlns:a16="http://schemas.microsoft.com/office/drawing/2014/main" id="{8F12ABBB-A01F-3286-BCC2-51A2EE3D821F}"/>
              </a:ext>
            </a:extLst>
          </p:cNvPr>
          <p:cNvSpPr txBox="1"/>
          <p:nvPr/>
        </p:nvSpPr>
        <p:spPr>
          <a:xfrm>
            <a:off x="5447939" y="3566847"/>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6" name="TextBox 45">
            <a:extLst>
              <a:ext uri="{FF2B5EF4-FFF2-40B4-BE49-F238E27FC236}">
                <a16:creationId xmlns:a16="http://schemas.microsoft.com/office/drawing/2014/main" id="{F4308C95-B50C-90DF-1AF7-EDF7919ACBC2}"/>
              </a:ext>
            </a:extLst>
          </p:cNvPr>
          <p:cNvSpPr txBox="1"/>
          <p:nvPr/>
        </p:nvSpPr>
        <p:spPr>
          <a:xfrm rot="10800000">
            <a:off x="523685" y="3520460"/>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8" name="Rounded Rectangle 47">
            <a:extLst>
              <a:ext uri="{FF2B5EF4-FFF2-40B4-BE49-F238E27FC236}">
                <a16:creationId xmlns:a16="http://schemas.microsoft.com/office/drawing/2014/main" id="{19E74AF2-7C11-224F-31F2-3C0D817E6FF9}"/>
              </a:ext>
            </a:extLst>
          </p:cNvPr>
          <p:cNvSpPr/>
          <p:nvPr/>
        </p:nvSpPr>
        <p:spPr>
          <a:xfrm>
            <a:off x="1970180" y="2273538"/>
            <a:ext cx="2467771" cy="324066"/>
          </a:xfrm>
          <a:prstGeom prst="roundRect">
            <a:avLst/>
          </a:prstGeom>
          <a:solidFill>
            <a:srgbClr val="D9E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Supporting Resources⌄</a:t>
            </a:r>
          </a:p>
        </p:txBody>
      </p:sp>
      <p:cxnSp>
        <p:nvCxnSpPr>
          <p:cNvPr id="50" name="Straight Connector 49">
            <a:extLst>
              <a:ext uri="{FF2B5EF4-FFF2-40B4-BE49-F238E27FC236}">
                <a16:creationId xmlns:a16="http://schemas.microsoft.com/office/drawing/2014/main" id="{E02FCE66-3678-80F4-22ED-09F26357396D}"/>
              </a:ext>
            </a:extLst>
          </p:cNvPr>
          <p:cNvCxnSpPr/>
          <p:nvPr/>
        </p:nvCxnSpPr>
        <p:spPr>
          <a:xfrm>
            <a:off x="1988092" y="2568553"/>
            <a:ext cx="2337833" cy="0"/>
          </a:xfrm>
          <a:prstGeom prst="line">
            <a:avLst/>
          </a:prstGeom>
          <a:ln>
            <a:solidFill>
              <a:srgbClr val="1A6A24"/>
            </a:solidFill>
          </a:ln>
        </p:spPr>
        <p:style>
          <a:lnRef idx="2">
            <a:schemeClr val="accent1"/>
          </a:lnRef>
          <a:fillRef idx="0">
            <a:schemeClr val="accent1"/>
          </a:fillRef>
          <a:effectRef idx="1">
            <a:schemeClr val="accent1"/>
          </a:effectRef>
          <a:fontRef idx="minor">
            <a:schemeClr val="tx1"/>
          </a:fontRef>
        </p:style>
      </p:cxnSp>
      <p:sp>
        <p:nvSpPr>
          <p:cNvPr id="3" name="Google Shape;21536;p354">
            <a:extLst>
              <a:ext uri="{FF2B5EF4-FFF2-40B4-BE49-F238E27FC236}">
                <a16:creationId xmlns:a16="http://schemas.microsoft.com/office/drawing/2014/main" id="{E9820244-BB45-4EC8-F1DD-2D97E3A2A72F}"/>
              </a:ext>
            </a:extLst>
          </p:cNvPr>
          <p:cNvSpPr txBox="1"/>
          <p:nvPr/>
        </p:nvSpPr>
        <p:spPr>
          <a:xfrm>
            <a:off x="1211087" y="2820049"/>
            <a:ext cx="4233978" cy="1865449"/>
          </a:xfrm>
          <a:prstGeom prst="rect">
            <a:avLst/>
          </a:prstGeom>
          <a:noFill/>
          <a:ln>
            <a:noFill/>
          </a:ln>
        </p:spPr>
        <p:txBody>
          <a:bodyPr spcFirstLastPara="1" wrap="square" lIns="112400" tIns="56167" rIns="112400" bIns="56167" anchor="t" anchorCtr="0">
            <a:spAutoFit/>
          </a:bodyPr>
          <a:lstStyle/>
          <a:p>
            <a:pPr>
              <a:lnSpc>
                <a:spcPct val="115000"/>
              </a:lnSpc>
            </a:pPr>
            <a:r>
              <a:rPr lang="en-US" sz="1200" b="1" dirty="0"/>
              <a:t>Name of SRR (Key)</a:t>
            </a:r>
          </a:p>
          <a:p>
            <a:pPr>
              <a:lnSpc>
                <a:spcPct val="115000"/>
              </a:lnSpc>
            </a:pPr>
            <a:r>
              <a:rPr lang="en-US" sz="1050" dirty="0"/>
              <a:t>Description of how SRR applies to this component</a:t>
            </a:r>
          </a:p>
          <a:p>
            <a:pPr marL="58738" indent="-58738">
              <a:lnSpc>
                <a:spcPct val="115000"/>
              </a:lnSpc>
              <a:buFont typeface="Arial" panose="020B0604020202020204" pitchFamily="34" charset="0"/>
              <a:buChar char="•"/>
            </a:pPr>
            <a:endParaRPr lang="en-US" sz="1050" dirty="0"/>
          </a:p>
          <a:p>
            <a:pPr marL="58738" indent="-58738">
              <a:lnSpc>
                <a:spcPct val="115000"/>
              </a:lnSpc>
              <a:buFont typeface="Arial" panose="020B0604020202020204" pitchFamily="34" charset="0"/>
              <a:buChar char="•"/>
            </a:pPr>
            <a:endParaRPr lang="en-US" sz="1050" dirty="0"/>
          </a:p>
          <a:p>
            <a:pPr>
              <a:lnSpc>
                <a:spcPct val="115000"/>
              </a:lnSpc>
            </a:pPr>
            <a:r>
              <a:rPr lang="en-US" sz="1200" b="1" dirty="0"/>
              <a:t>Name of SRR (Key) </a:t>
            </a:r>
          </a:p>
          <a:p>
            <a:pPr>
              <a:lnSpc>
                <a:spcPct val="115000"/>
              </a:lnSpc>
            </a:pPr>
            <a:r>
              <a:rPr lang="en-US" sz="1050" dirty="0"/>
              <a:t>Description of how SRR applies to this component</a:t>
            </a:r>
          </a:p>
          <a:p>
            <a:pPr>
              <a:lnSpc>
                <a:spcPct val="115000"/>
              </a:lnSpc>
            </a:pPr>
            <a:r>
              <a:rPr lang="en-US" sz="1200" b="1" dirty="0"/>
              <a:t>Name of SRR </a:t>
            </a:r>
          </a:p>
          <a:p>
            <a:pPr>
              <a:lnSpc>
                <a:spcPct val="115000"/>
              </a:lnSpc>
            </a:pPr>
            <a:r>
              <a:rPr lang="en-US" sz="1050" dirty="0"/>
              <a:t>Description of how SRR applies to this component</a:t>
            </a:r>
          </a:p>
          <a:p>
            <a:pPr>
              <a:lnSpc>
                <a:spcPct val="115000"/>
              </a:lnSpc>
            </a:pPr>
            <a:endParaRPr sz="1050" dirty="0"/>
          </a:p>
        </p:txBody>
      </p:sp>
      <p:pic>
        <p:nvPicPr>
          <p:cNvPr id="1026" name="Picture 2" descr="Arrow list expand Vector Icons free download in SVG, PNG Format">
            <a:extLst>
              <a:ext uri="{FF2B5EF4-FFF2-40B4-BE49-F238E27FC236}">
                <a16:creationId xmlns:a16="http://schemas.microsoft.com/office/drawing/2014/main" id="{9CAF9C28-6A05-8F14-0B6D-EF4B8CC461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6062" y="2795091"/>
            <a:ext cx="372643" cy="372643"/>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a:extLst>
              <a:ext uri="{FF2B5EF4-FFF2-40B4-BE49-F238E27FC236}">
                <a16:creationId xmlns:a16="http://schemas.microsoft.com/office/drawing/2014/main" id="{4D76A9AB-991D-1423-83BE-15F2C7B50321}"/>
              </a:ext>
            </a:extLst>
          </p:cNvPr>
          <p:cNvSpPr/>
          <p:nvPr/>
        </p:nvSpPr>
        <p:spPr>
          <a:xfrm>
            <a:off x="1335648" y="3321555"/>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7" name="Rounded Rectangle 6">
            <a:extLst>
              <a:ext uri="{FF2B5EF4-FFF2-40B4-BE49-F238E27FC236}">
                <a16:creationId xmlns:a16="http://schemas.microsoft.com/office/drawing/2014/main" id="{96D5810B-7275-1508-0530-68C4034D80A2}"/>
              </a:ext>
            </a:extLst>
          </p:cNvPr>
          <p:cNvSpPr/>
          <p:nvPr/>
        </p:nvSpPr>
        <p:spPr>
          <a:xfrm>
            <a:off x="2509477" y="3329869"/>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sp>
        <p:nvSpPr>
          <p:cNvPr id="8" name="Rounded Rectangle 7">
            <a:extLst>
              <a:ext uri="{FF2B5EF4-FFF2-40B4-BE49-F238E27FC236}">
                <a16:creationId xmlns:a16="http://schemas.microsoft.com/office/drawing/2014/main" id="{BFD4CC6B-5A28-E0DE-971B-E76D0FB79C3D}"/>
              </a:ext>
            </a:extLst>
          </p:cNvPr>
          <p:cNvSpPr/>
          <p:nvPr/>
        </p:nvSpPr>
        <p:spPr>
          <a:xfrm>
            <a:off x="3683306" y="3327109"/>
            <a:ext cx="1095555" cy="169384"/>
          </a:xfrm>
          <a:prstGeom prst="roundRect">
            <a:avLst/>
          </a:prstGeom>
          <a:solidFill>
            <a:srgbClr val="D9EAD5"/>
          </a:solidFill>
          <a:ln>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Subcomponent</a:t>
            </a:r>
            <a:endParaRPr lang="en-US" sz="1050" dirty="0">
              <a:solidFill>
                <a:schemeClr val="tx1"/>
              </a:solidFill>
            </a:endParaRPr>
          </a:p>
        </p:txBody>
      </p:sp>
      <p:pic>
        <p:nvPicPr>
          <p:cNvPr id="9" name="Picture 2" descr="Arrow list expand Vector Icons free download in SVG, PNG Format">
            <a:extLst>
              <a:ext uri="{FF2B5EF4-FFF2-40B4-BE49-F238E27FC236}">
                <a16:creationId xmlns:a16="http://schemas.microsoft.com/office/drawing/2014/main" id="{FDA0BC65-141C-2104-B658-F7846AB287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993387" y="3566847"/>
            <a:ext cx="372643" cy="37264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Arrow list expand Vector Icons free download in SVG, PNG Format">
            <a:extLst>
              <a:ext uri="{FF2B5EF4-FFF2-40B4-BE49-F238E27FC236}">
                <a16:creationId xmlns:a16="http://schemas.microsoft.com/office/drawing/2014/main" id="{BA71C0F2-D764-DD6C-4850-6EEBD0A3A8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990513" y="3960787"/>
            <a:ext cx="372643" cy="372643"/>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Google Shape;21512;p354">
            <a:extLst>
              <a:ext uri="{FF2B5EF4-FFF2-40B4-BE49-F238E27FC236}">
                <a16:creationId xmlns:a16="http://schemas.microsoft.com/office/drawing/2014/main" id="{6DC8046B-31D3-013F-FA16-C0BDBE751020}"/>
              </a:ext>
            </a:extLst>
          </p:cNvPr>
          <p:cNvGrpSpPr/>
          <p:nvPr/>
        </p:nvGrpSpPr>
        <p:grpSpPr>
          <a:xfrm>
            <a:off x="2229571" y="898661"/>
            <a:ext cx="2011437" cy="1354357"/>
            <a:chOff x="7996645" y="4997800"/>
            <a:chExt cx="1742072" cy="1489829"/>
          </a:xfrm>
        </p:grpSpPr>
        <p:sp>
          <p:nvSpPr>
            <p:cNvPr id="26" name="Google Shape;21513;p354">
              <a:extLst>
                <a:ext uri="{FF2B5EF4-FFF2-40B4-BE49-F238E27FC236}">
                  <a16:creationId xmlns:a16="http://schemas.microsoft.com/office/drawing/2014/main" id="{85D12DAB-DB3D-780E-AE26-7CBD76BCB8D1}"/>
                </a:ext>
              </a:extLst>
            </p:cNvPr>
            <p:cNvSpPr txBox="1"/>
            <p:nvPr/>
          </p:nvSpPr>
          <p:spPr>
            <a:xfrm>
              <a:off x="7996645" y="5041112"/>
              <a:ext cx="1545903" cy="1446517"/>
            </a:xfrm>
            <a:prstGeom prst="rect">
              <a:avLst/>
            </a:prstGeom>
            <a:noFill/>
            <a:ln>
              <a:noFill/>
            </a:ln>
          </p:spPr>
          <p:txBody>
            <a:bodyPr spcFirstLastPara="1" wrap="square" lIns="83067" tIns="41533" rIns="83067" bIns="41533" anchor="t" anchorCtr="0">
              <a:spAutoFit/>
            </a:bodyPr>
            <a:lstStyle/>
            <a:p>
              <a:r>
                <a:rPr lang="en" sz="4000" dirty="0">
                  <a:solidFill>
                    <a:srgbClr val="000000"/>
                  </a:solidFill>
                  <a:latin typeface="Arial"/>
                  <a:ea typeface="Arial"/>
                  <a:cs typeface="Arial"/>
                  <a:sym typeface="Arial"/>
                </a:rPr>
                <a:t>• • • • •               </a:t>
              </a:r>
              <a:endParaRPr sz="2400" dirty="0"/>
            </a:p>
          </p:txBody>
        </p:sp>
        <p:sp>
          <p:nvSpPr>
            <p:cNvPr id="31" name="Google Shape;21514;p354">
              <a:extLst>
                <a:ext uri="{FF2B5EF4-FFF2-40B4-BE49-F238E27FC236}">
                  <a16:creationId xmlns:a16="http://schemas.microsoft.com/office/drawing/2014/main" id="{FE43DCA1-9196-2ABA-2643-B57DBC0908EA}"/>
                </a:ext>
              </a:extLst>
            </p:cNvPr>
            <p:cNvSpPr txBox="1"/>
            <p:nvPr/>
          </p:nvSpPr>
          <p:spPr>
            <a:xfrm>
              <a:off x="8849517" y="4997800"/>
              <a:ext cx="889200" cy="1175667"/>
            </a:xfrm>
            <a:prstGeom prst="rect">
              <a:avLst/>
            </a:prstGeom>
            <a:noFill/>
            <a:ln>
              <a:noFill/>
            </a:ln>
          </p:spPr>
          <p:txBody>
            <a:bodyPr spcFirstLastPara="1" wrap="square" lIns="83067" tIns="41533" rIns="83067" bIns="41533" anchor="t" anchorCtr="0">
              <a:spAutoFit/>
            </a:bodyPr>
            <a:lstStyle/>
            <a:p>
              <a:r>
                <a:rPr lang="en" sz="3600" dirty="0">
                  <a:solidFill>
                    <a:srgbClr val="000000"/>
                  </a:solidFill>
                  <a:latin typeface="Arial"/>
                  <a:ea typeface="Arial"/>
                  <a:cs typeface="Arial"/>
                  <a:sym typeface="Arial"/>
                </a:rPr>
                <a:t>   </a:t>
              </a:r>
              <a:r>
                <a:rPr lang="en" sz="1600" dirty="0">
                  <a:solidFill>
                    <a:srgbClr val="000000"/>
                  </a:solidFill>
                  <a:latin typeface="Arial"/>
                  <a:ea typeface="Arial"/>
                  <a:cs typeface="Arial"/>
                  <a:sym typeface="Arial"/>
                </a:rPr>
                <a:t>  </a:t>
              </a:r>
              <a:r>
                <a:rPr lang="en" sz="2800" dirty="0">
                  <a:solidFill>
                    <a:srgbClr val="000000"/>
                  </a:solidFill>
                  <a:latin typeface="Arial"/>
                  <a:ea typeface="Arial"/>
                  <a:cs typeface="Arial"/>
                  <a:sym typeface="Arial"/>
                </a:rPr>
                <a:t> ○</a:t>
              </a:r>
              <a:endParaRPr sz="3600" dirty="0"/>
            </a:p>
          </p:txBody>
        </p:sp>
      </p:grpSp>
      <p:sp>
        <p:nvSpPr>
          <p:cNvPr id="33" name="Google Shape;21506;p354">
            <a:extLst>
              <a:ext uri="{FF2B5EF4-FFF2-40B4-BE49-F238E27FC236}">
                <a16:creationId xmlns:a16="http://schemas.microsoft.com/office/drawing/2014/main" id="{09584EAB-1311-3333-3C82-F9BA9FFDEF82}"/>
              </a:ext>
            </a:extLst>
          </p:cNvPr>
          <p:cNvSpPr txBox="1"/>
          <p:nvPr/>
        </p:nvSpPr>
        <p:spPr>
          <a:xfrm>
            <a:off x="2656215" y="6268020"/>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pic>
        <p:nvPicPr>
          <p:cNvPr id="36" name="Google Shape;2017;p43">
            <a:extLst>
              <a:ext uri="{FF2B5EF4-FFF2-40B4-BE49-F238E27FC236}">
                <a16:creationId xmlns:a16="http://schemas.microsoft.com/office/drawing/2014/main" id="{42C933AF-F7A3-88E8-7B6F-9BBFB7FF011E}"/>
              </a:ext>
            </a:extLst>
          </p:cNvPr>
          <p:cNvPicPr preferRelativeResize="0"/>
          <p:nvPr/>
        </p:nvPicPr>
        <p:blipFill rotWithShape="1">
          <a:blip r:embed="rId5">
            <a:alphaModFix/>
          </a:blip>
          <a:srcRect t="57094"/>
          <a:stretch/>
        </p:blipFill>
        <p:spPr>
          <a:xfrm rot="10800000">
            <a:off x="2157167" y="6188910"/>
            <a:ext cx="568466" cy="244066"/>
          </a:xfrm>
          <a:prstGeom prst="rect">
            <a:avLst/>
          </a:prstGeom>
          <a:noFill/>
          <a:ln>
            <a:noFill/>
          </a:ln>
        </p:spPr>
      </p:pic>
      <p:sp>
        <p:nvSpPr>
          <p:cNvPr id="39" name="Google Shape;2019;p43">
            <a:extLst>
              <a:ext uri="{FF2B5EF4-FFF2-40B4-BE49-F238E27FC236}">
                <a16:creationId xmlns:a16="http://schemas.microsoft.com/office/drawing/2014/main" id="{81ACF46D-D966-7043-B4D8-5A4912F92F27}"/>
              </a:ext>
            </a:extLst>
          </p:cNvPr>
          <p:cNvSpPr/>
          <p:nvPr/>
        </p:nvSpPr>
        <p:spPr>
          <a:xfrm>
            <a:off x="2372635" y="6313995"/>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 name="Google Shape;21510;p354">
            <a:extLst>
              <a:ext uri="{FF2B5EF4-FFF2-40B4-BE49-F238E27FC236}">
                <a16:creationId xmlns:a16="http://schemas.microsoft.com/office/drawing/2014/main" id="{89211339-798F-A632-394A-8339D6243B08}"/>
              </a:ext>
            </a:extLst>
          </p:cNvPr>
          <p:cNvSpPr txBox="1"/>
          <p:nvPr/>
        </p:nvSpPr>
        <p:spPr>
          <a:xfrm>
            <a:off x="1673753" y="5238864"/>
            <a:ext cx="1500866"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Learning &amp; Advancement</a:t>
            </a:r>
            <a:endParaRPr sz="1400" dirty="0"/>
          </a:p>
        </p:txBody>
      </p:sp>
      <p:sp>
        <p:nvSpPr>
          <p:cNvPr id="41" name="Google Shape;21511;p354">
            <a:extLst>
              <a:ext uri="{FF2B5EF4-FFF2-40B4-BE49-F238E27FC236}">
                <a16:creationId xmlns:a16="http://schemas.microsoft.com/office/drawing/2014/main" id="{29A53BBC-0F4F-205B-A890-9644EE0C5A99}"/>
              </a:ext>
            </a:extLst>
          </p:cNvPr>
          <p:cNvSpPr txBox="1"/>
          <p:nvPr/>
        </p:nvSpPr>
        <p:spPr>
          <a:xfrm>
            <a:off x="3307992" y="5228962"/>
            <a:ext cx="1364424"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Engagement </a:t>
            </a:r>
          </a:p>
          <a:p>
            <a:pPr algn="ctr"/>
            <a:r>
              <a:rPr lang="en" sz="1400" dirty="0"/>
              <a:t>&amp; Wellbeing</a:t>
            </a:r>
            <a:endParaRPr sz="1400" dirty="0"/>
          </a:p>
        </p:txBody>
      </p:sp>
      <p:sp>
        <p:nvSpPr>
          <p:cNvPr id="43" name="Google Shape;123;p25">
            <a:extLst>
              <a:ext uri="{FF2B5EF4-FFF2-40B4-BE49-F238E27FC236}">
                <a16:creationId xmlns:a16="http://schemas.microsoft.com/office/drawing/2014/main" id="{9CD9F712-1D33-C40F-FFBF-7BE73ADA59AF}"/>
              </a:ext>
            </a:extLst>
          </p:cNvPr>
          <p:cNvSpPr/>
          <p:nvPr/>
        </p:nvSpPr>
        <p:spPr>
          <a:xfrm>
            <a:off x="1989798" y="5719937"/>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44" name="TextBox 43">
            <a:extLst>
              <a:ext uri="{FF2B5EF4-FFF2-40B4-BE49-F238E27FC236}">
                <a16:creationId xmlns:a16="http://schemas.microsoft.com/office/drawing/2014/main" id="{E4D6BBE2-0486-0B60-61A1-6F642A0AB299}"/>
              </a:ext>
            </a:extLst>
          </p:cNvPr>
          <p:cNvSpPr txBox="1"/>
          <p:nvPr/>
        </p:nvSpPr>
        <p:spPr>
          <a:xfrm>
            <a:off x="2811945" y="5749245"/>
            <a:ext cx="780303"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45" name="Google Shape;122;p25">
            <a:extLst>
              <a:ext uri="{FF2B5EF4-FFF2-40B4-BE49-F238E27FC236}">
                <a16:creationId xmlns:a16="http://schemas.microsoft.com/office/drawing/2014/main" id="{368EA711-E813-2CDC-40A8-1240168C9532}"/>
              </a:ext>
            </a:extLst>
          </p:cNvPr>
          <p:cNvSpPr/>
          <p:nvPr/>
        </p:nvSpPr>
        <p:spPr>
          <a:xfrm>
            <a:off x="3558359" y="5714838"/>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cxnSp>
        <p:nvCxnSpPr>
          <p:cNvPr id="47" name="Straight Arrow Connector 46">
            <a:extLst>
              <a:ext uri="{FF2B5EF4-FFF2-40B4-BE49-F238E27FC236}">
                <a16:creationId xmlns:a16="http://schemas.microsoft.com/office/drawing/2014/main" id="{62146901-C9DC-258C-E862-50A8A8EF7BB5}"/>
              </a:ext>
            </a:extLst>
          </p:cNvPr>
          <p:cNvCxnSpPr>
            <a:cxnSpLocks/>
          </p:cNvCxnSpPr>
          <p:nvPr/>
        </p:nvCxnSpPr>
        <p:spPr>
          <a:xfrm flipH="1">
            <a:off x="2795248" y="5132188"/>
            <a:ext cx="344019"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CAB574D7-4B22-B87C-AFD4-208FECEFD15E}"/>
              </a:ext>
            </a:extLst>
          </p:cNvPr>
          <p:cNvCxnSpPr>
            <a:cxnSpLocks/>
          </p:cNvCxnSpPr>
          <p:nvPr/>
        </p:nvCxnSpPr>
        <p:spPr>
          <a:xfrm>
            <a:off x="3139267" y="5132188"/>
            <a:ext cx="357548" cy="213534"/>
          </a:xfrm>
          <a:prstGeom prst="straightConnector1">
            <a:avLst/>
          </a:prstGeom>
          <a:ln w="2857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2213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A148941-59D7-BBD2-6BBD-340799FAE70A}"/>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4934F960-2A15-1504-DE63-26FE25F0548E}"/>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6B3A6248-0B0B-AE88-E238-53FA027BB7EF}"/>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3" name="Google Shape;21506;p354">
            <a:extLst>
              <a:ext uri="{FF2B5EF4-FFF2-40B4-BE49-F238E27FC236}">
                <a16:creationId xmlns:a16="http://schemas.microsoft.com/office/drawing/2014/main" id="{D728924A-1A72-0BDE-45CB-E2E7413E4155}"/>
              </a:ext>
            </a:extLst>
          </p:cNvPr>
          <p:cNvSpPr txBox="1"/>
          <p:nvPr/>
        </p:nvSpPr>
        <p:spPr>
          <a:xfrm>
            <a:off x="2657265" y="1238123"/>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sp>
        <p:nvSpPr>
          <p:cNvPr id="27" name="Google Shape;21509;p354">
            <a:extLst>
              <a:ext uri="{FF2B5EF4-FFF2-40B4-BE49-F238E27FC236}">
                <a16:creationId xmlns:a16="http://schemas.microsoft.com/office/drawing/2014/main" id="{ED8DC4BD-D5AA-0FB4-06E3-9BD4263E787A}"/>
              </a:ext>
            </a:extLst>
          </p:cNvPr>
          <p:cNvSpPr txBox="1"/>
          <p:nvPr/>
        </p:nvSpPr>
        <p:spPr>
          <a:xfrm>
            <a:off x="1760834"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35" name="TextBox 34">
            <a:extLst>
              <a:ext uri="{FF2B5EF4-FFF2-40B4-BE49-F238E27FC236}">
                <a16:creationId xmlns:a16="http://schemas.microsoft.com/office/drawing/2014/main" id="{0AD6F4C7-5CDC-D539-306D-69954A1CB4B6}"/>
              </a:ext>
            </a:extLst>
          </p:cNvPr>
          <p:cNvSpPr txBox="1"/>
          <p:nvPr/>
        </p:nvSpPr>
        <p:spPr>
          <a:xfrm>
            <a:off x="1403431"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pic>
        <p:nvPicPr>
          <p:cNvPr id="37" name="Google Shape;2017;p43">
            <a:extLst>
              <a:ext uri="{FF2B5EF4-FFF2-40B4-BE49-F238E27FC236}">
                <a16:creationId xmlns:a16="http://schemas.microsoft.com/office/drawing/2014/main" id="{E8A29236-621F-C7D2-940D-DE6F1A95F528}"/>
              </a:ext>
            </a:extLst>
          </p:cNvPr>
          <p:cNvPicPr preferRelativeResize="0"/>
          <p:nvPr/>
        </p:nvPicPr>
        <p:blipFill rotWithShape="1">
          <a:blip r:embed="rId4">
            <a:alphaModFix/>
          </a:blip>
          <a:srcRect t="57094"/>
          <a:stretch/>
        </p:blipFill>
        <p:spPr>
          <a:xfrm rot="10800000">
            <a:off x="2158217" y="1159013"/>
            <a:ext cx="568466" cy="244066"/>
          </a:xfrm>
          <a:prstGeom prst="rect">
            <a:avLst/>
          </a:prstGeom>
          <a:noFill/>
          <a:ln>
            <a:noFill/>
          </a:ln>
        </p:spPr>
      </p:pic>
      <p:sp>
        <p:nvSpPr>
          <p:cNvPr id="38" name="Google Shape;2019;p43">
            <a:extLst>
              <a:ext uri="{FF2B5EF4-FFF2-40B4-BE49-F238E27FC236}">
                <a16:creationId xmlns:a16="http://schemas.microsoft.com/office/drawing/2014/main" id="{7DC7A1C6-C250-C532-BB9E-63CBD90C1D9D}"/>
              </a:ext>
            </a:extLst>
          </p:cNvPr>
          <p:cNvSpPr/>
          <p:nvPr/>
        </p:nvSpPr>
        <p:spPr>
          <a:xfrm>
            <a:off x="2373685" y="1284098"/>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Rounded Rectangle 1">
            <a:extLst>
              <a:ext uri="{FF2B5EF4-FFF2-40B4-BE49-F238E27FC236}">
                <a16:creationId xmlns:a16="http://schemas.microsoft.com/office/drawing/2014/main" id="{1AB4F7C9-30AE-F4C0-3E43-C00A3C6DDD39}"/>
              </a:ext>
            </a:extLst>
          </p:cNvPr>
          <p:cNvSpPr/>
          <p:nvPr/>
        </p:nvSpPr>
        <p:spPr>
          <a:xfrm>
            <a:off x="916612" y="2662165"/>
            <a:ext cx="4568398" cy="2470023"/>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2C7644B7-4D73-5C21-77D9-D0049EA26541}"/>
              </a:ext>
            </a:extLst>
          </p:cNvPr>
          <p:cNvSpPr txBox="1"/>
          <p:nvPr/>
        </p:nvSpPr>
        <p:spPr>
          <a:xfrm>
            <a:off x="1150581" y="3440767"/>
            <a:ext cx="1079503" cy="307777"/>
          </a:xfrm>
          <a:prstGeom prst="rect">
            <a:avLst/>
          </a:prstGeom>
          <a:noFill/>
        </p:spPr>
        <p:txBody>
          <a:bodyPr wrap="square" rtlCol="0">
            <a:spAutoFit/>
          </a:bodyPr>
          <a:lstStyle/>
          <a:p>
            <a:r>
              <a:rPr lang="en-US" sz="1400" u="sng" dirty="0">
                <a:solidFill>
                  <a:schemeClr val="tx2">
                    <a:lumMod val="50000"/>
                    <a:lumOff val="50000"/>
                  </a:schemeClr>
                </a:solidFill>
              </a:rPr>
              <a:t>Design</a:t>
            </a:r>
          </a:p>
        </p:txBody>
      </p:sp>
      <p:sp>
        <p:nvSpPr>
          <p:cNvPr id="11" name="TextBox 10">
            <a:extLst>
              <a:ext uri="{FF2B5EF4-FFF2-40B4-BE49-F238E27FC236}">
                <a16:creationId xmlns:a16="http://schemas.microsoft.com/office/drawing/2014/main" id="{68CC3B4E-4183-FC6C-0E60-40BD4DB1ECD3}"/>
              </a:ext>
            </a:extLst>
          </p:cNvPr>
          <p:cNvSpPr txBox="1"/>
          <p:nvPr/>
        </p:nvSpPr>
        <p:spPr>
          <a:xfrm>
            <a:off x="4098931" y="3403390"/>
            <a:ext cx="1304901" cy="307777"/>
          </a:xfrm>
          <a:prstGeom prst="rect">
            <a:avLst/>
          </a:prstGeom>
          <a:noFill/>
        </p:spPr>
        <p:txBody>
          <a:bodyPr wrap="square" rtlCol="0">
            <a:spAutoFit/>
          </a:bodyPr>
          <a:lstStyle/>
          <a:p>
            <a:r>
              <a:rPr lang="en-US" sz="1400" u="sng" dirty="0">
                <a:solidFill>
                  <a:schemeClr val="tx2">
                    <a:lumMod val="50000"/>
                    <a:lumOff val="50000"/>
                  </a:schemeClr>
                </a:solidFill>
              </a:rPr>
              <a:t>Conditions</a:t>
            </a:r>
          </a:p>
        </p:txBody>
      </p:sp>
      <p:cxnSp>
        <p:nvCxnSpPr>
          <p:cNvPr id="20" name="Straight Connector 19">
            <a:extLst>
              <a:ext uri="{FF2B5EF4-FFF2-40B4-BE49-F238E27FC236}">
                <a16:creationId xmlns:a16="http://schemas.microsoft.com/office/drawing/2014/main" id="{594772B4-1F95-5D89-6344-B7DE1BEA91AC}"/>
              </a:ext>
            </a:extLst>
          </p:cNvPr>
          <p:cNvCxnSpPr>
            <a:cxnSpLocks/>
            <a:stCxn id="1161" idx="2"/>
          </p:cNvCxnSpPr>
          <p:nvPr/>
        </p:nvCxnSpPr>
        <p:spPr>
          <a:xfrm>
            <a:off x="2053651" y="3433666"/>
            <a:ext cx="1043019" cy="591991"/>
          </a:xfrm>
          <a:prstGeom prst="line">
            <a:avLst/>
          </a:prstGeom>
          <a:ln w="38100">
            <a:solidFill>
              <a:srgbClr val="FFD79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C95242B-C9C0-E6FD-C639-2803F44E306D}"/>
              </a:ext>
            </a:extLst>
          </p:cNvPr>
          <p:cNvCxnSpPr>
            <a:cxnSpLocks/>
            <a:stCxn id="1163" idx="2"/>
          </p:cNvCxnSpPr>
          <p:nvPr/>
        </p:nvCxnSpPr>
        <p:spPr>
          <a:xfrm flipH="1">
            <a:off x="3140777" y="3400457"/>
            <a:ext cx="1087279" cy="644698"/>
          </a:xfrm>
          <a:prstGeom prst="line">
            <a:avLst/>
          </a:prstGeom>
          <a:ln w="38100">
            <a:solidFill>
              <a:srgbClr val="8EDA73"/>
            </a:solidFill>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690D814-A1F5-6B30-C2A1-8FA3F4366B44}"/>
              </a:ext>
            </a:extLst>
          </p:cNvPr>
          <p:cNvCxnSpPr>
            <a:cxnSpLocks/>
          </p:cNvCxnSpPr>
          <p:nvPr/>
        </p:nvCxnSpPr>
        <p:spPr>
          <a:xfrm>
            <a:off x="3123848" y="4028655"/>
            <a:ext cx="13230" cy="912287"/>
          </a:xfrm>
          <a:prstGeom prst="straightConnector1">
            <a:avLst/>
          </a:prstGeom>
          <a:ln w="38100">
            <a:solidFill>
              <a:srgbClr val="EB9999"/>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9D2CCD2E-49A8-6935-9B73-B65DF9143CCF}"/>
              </a:ext>
            </a:extLst>
          </p:cNvPr>
          <p:cNvSpPr txBox="1"/>
          <p:nvPr/>
        </p:nvSpPr>
        <p:spPr>
          <a:xfrm>
            <a:off x="2390954" y="4125765"/>
            <a:ext cx="1978323" cy="307777"/>
          </a:xfrm>
          <a:prstGeom prst="rect">
            <a:avLst/>
          </a:prstGeom>
          <a:noFill/>
        </p:spPr>
        <p:txBody>
          <a:bodyPr wrap="square" rtlCol="0">
            <a:spAutoFit/>
          </a:bodyPr>
          <a:lstStyle/>
          <a:p>
            <a:r>
              <a:rPr lang="en-US" sz="1400" u="sng" dirty="0">
                <a:solidFill>
                  <a:schemeClr val="tx2">
                    <a:lumMod val="50000"/>
                    <a:lumOff val="50000"/>
                  </a:schemeClr>
                </a:solidFill>
              </a:rPr>
              <a:t>Implementation</a:t>
            </a:r>
          </a:p>
        </p:txBody>
      </p:sp>
      <p:sp>
        <p:nvSpPr>
          <p:cNvPr id="42" name="TextBox 41">
            <a:extLst>
              <a:ext uri="{FF2B5EF4-FFF2-40B4-BE49-F238E27FC236}">
                <a16:creationId xmlns:a16="http://schemas.microsoft.com/office/drawing/2014/main" id="{588D86FC-3763-841C-164C-42B200F23DA0}"/>
              </a:ext>
            </a:extLst>
          </p:cNvPr>
          <p:cNvSpPr txBox="1"/>
          <p:nvPr/>
        </p:nvSpPr>
        <p:spPr>
          <a:xfrm>
            <a:off x="5447939" y="3566847"/>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6" name="TextBox 45">
            <a:extLst>
              <a:ext uri="{FF2B5EF4-FFF2-40B4-BE49-F238E27FC236}">
                <a16:creationId xmlns:a16="http://schemas.microsoft.com/office/drawing/2014/main" id="{4C193A9A-0C32-A07A-9F54-3086B2346267}"/>
              </a:ext>
            </a:extLst>
          </p:cNvPr>
          <p:cNvSpPr txBox="1"/>
          <p:nvPr/>
        </p:nvSpPr>
        <p:spPr>
          <a:xfrm rot="10800000">
            <a:off x="523685" y="3520460"/>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8" name="Rounded Rectangle 47">
            <a:extLst>
              <a:ext uri="{FF2B5EF4-FFF2-40B4-BE49-F238E27FC236}">
                <a16:creationId xmlns:a16="http://schemas.microsoft.com/office/drawing/2014/main" id="{1DB4C6B4-7B42-7A05-5AD4-C3E5028105C1}"/>
              </a:ext>
            </a:extLst>
          </p:cNvPr>
          <p:cNvSpPr/>
          <p:nvPr/>
        </p:nvSpPr>
        <p:spPr>
          <a:xfrm>
            <a:off x="2437919" y="2273538"/>
            <a:ext cx="1532292" cy="324066"/>
          </a:xfrm>
          <a:prstGeom prst="roundRect">
            <a:avLst/>
          </a:prstGeom>
          <a:solidFill>
            <a:srgbClr val="D9E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Key Drivers ⌄</a:t>
            </a:r>
          </a:p>
        </p:txBody>
      </p:sp>
      <p:pic>
        <p:nvPicPr>
          <p:cNvPr id="49" name="Picture 2" descr="Collapse - Free arrows icons">
            <a:extLst>
              <a:ext uri="{FF2B5EF4-FFF2-40B4-BE49-F238E27FC236}">
                <a16:creationId xmlns:a16="http://schemas.microsoft.com/office/drawing/2014/main" id="{4E76E714-1985-6B90-AF63-408B77E3B4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0532" y="2568553"/>
            <a:ext cx="254520" cy="254520"/>
          </a:xfrm>
          <a:prstGeom prst="rect">
            <a:avLst/>
          </a:prstGeom>
          <a:solidFill>
            <a:schemeClr val="bg1">
              <a:lumMod val="85000"/>
            </a:schemeClr>
          </a:solidFill>
          <a:ln>
            <a:solidFill>
              <a:schemeClr val="tx1"/>
            </a:solidFill>
          </a:ln>
        </p:spPr>
      </p:pic>
      <p:cxnSp>
        <p:nvCxnSpPr>
          <p:cNvPr id="50" name="Straight Connector 49">
            <a:extLst>
              <a:ext uri="{FF2B5EF4-FFF2-40B4-BE49-F238E27FC236}">
                <a16:creationId xmlns:a16="http://schemas.microsoft.com/office/drawing/2014/main" id="{7902AC58-22C4-E6A7-1D66-24FD47D1B926}"/>
              </a:ext>
            </a:extLst>
          </p:cNvPr>
          <p:cNvCxnSpPr/>
          <p:nvPr/>
        </p:nvCxnSpPr>
        <p:spPr>
          <a:xfrm>
            <a:off x="2431203" y="2568553"/>
            <a:ext cx="1451611" cy="0"/>
          </a:xfrm>
          <a:prstGeom prst="line">
            <a:avLst/>
          </a:prstGeom>
          <a:ln>
            <a:solidFill>
              <a:srgbClr val="1A6A24"/>
            </a:solidFill>
          </a:ln>
        </p:spPr>
        <p:style>
          <a:lnRef idx="2">
            <a:schemeClr val="accent1"/>
          </a:lnRef>
          <a:fillRef idx="0">
            <a:schemeClr val="accent1"/>
          </a:fillRef>
          <a:effectRef idx="1">
            <a:schemeClr val="accent1"/>
          </a:effectRef>
          <a:fontRef idx="minor">
            <a:schemeClr val="tx1"/>
          </a:fontRef>
        </p:style>
      </p:cxnSp>
      <p:sp>
        <p:nvSpPr>
          <p:cNvPr id="51" name="Rounded Rectangular Callout 50">
            <a:extLst>
              <a:ext uri="{FF2B5EF4-FFF2-40B4-BE49-F238E27FC236}">
                <a16:creationId xmlns:a16="http://schemas.microsoft.com/office/drawing/2014/main" id="{8A382147-4F31-B4BE-196F-382B53B0547C}"/>
              </a:ext>
            </a:extLst>
          </p:cNvPr>
          <p:cNvSpPr/>
          <p:nvPr/>
        </p:nvSpPr>
        <p:spPr>
          <a:xfrm>
            <a:off x="6398761" y="2251433"/>
            <a:ext cx="1778816" cy="668653"/>
          </a:xfrm>
          <a:prstGeom prst="wedgeRoundRectCallout">
            <a:avLst>
              <a:gd name="adj1" fmla="val -114656"/>
              <a:gd name="adj2" fmla="val 3023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On hover, a collapse icon will show to bring you to the multi-data preview window view</a:t>
            </a:r>
          </a:p>
        </p:txBody>
      </p:sp>
      <p:sp>
        <p:nvSpPr>
          <p:cNvPr id="52" name="Rounded Rectangular Callout 51">
            <a:extLst>
              <a:ext uri="{FF2B5EF4-FFF2-40B4-BE49-F238E27FC236}">
                <a16:creationId xmlns:a16="http://schemas.microsoft.com/office/drawing/2014/main" id="{75E26BBB-1B45-5595-060A-275103E8EF9A}"/>
              </a:ext>
            </a:extLst>
          </p:cNvPr>
          <p:cNvSpPr/>
          <p:nvPr/>
        </p:nvSpPr>
        <p:spPr>
          <a:xfrm>
            <a:off x="5284230" y="4248002"/>
            <a:ext cx="1778816" cy="918957"/>
          </a:xfrm>
          <a:prstGeom prst="wedgeRoundRectCallout">
            <a:avLst>
              <a:gd name="adj1" fmla="val -128549"/>
              <a:gd name="adj2" fmla="val -3629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Click on “implementation”, to open  the implementation score working space</a:t>
            </a:r>
          </a:p>
        </p:txBody>
      </p:sp>
      <p:sp>
        <p:nvSpPr>
          <p:cNvPr id="53" name="Rounded Rectangular Callout 52">
            <a:extLst>
              <a:ext uri="{FF2B5EF4-FFF2-40B4-BE49-F238E27FC236}">
                <a16:creationId xmlns:a16="http://schemas.microsoft.com/office/drawing/2014/main" id="{4FCF079B-4886-31EC-3A7B-6C80B231FCCF}"/>
              </a:ext>
            </a:extLst>
          </p:cNvPr>
          <p:cNvSpPr/>
          <p:nvPr/>
        </p:nvSpPr>
        <p:spPr>
          <a:xfrm>
            <a:off x="6659094" y="3688291"/>
            <a:ext cx="1214955" cy="518726"/>
          </a:xfrm>
          <a:prstGeom prst="wedgeRoundRectCallout">
            <a:avLst>
              <a:gd name="adj1" fmla="val -127532"/>
              <a:gd name="adj2" fmla="val -1009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Toggle to next DPW</a:t>
            </a:r>
          </a:p>
        </p:txBody>
      </p:sp>
      <p:sp>
        <p:nvSpPr>
          <p:cNvPr id="54" name="Google Shape;21510;p354">
            <a:extLst>
              <a:ext uri="{FF2B5EF4-FFF2-40B4-BE49-F238E27FC236}">
                <a16:creationId xmlns:a16="http://schemas.microsoft.com/office/drawing/2014/main" id="{E205CB11-D0E6-0E1D-610D-6C29A7126503}"/>
              </a:ext>
            </a:extLst>
          </p:cNvPr>
          <p:cNvSpPr txBox="1"/>
          <p:nvPr/>
        </p:nvSpPr>
        <p:spPr>
          <a:xfrm>
            <a:off x="1673753" y="5476254"/>
            <a:ext cx="1500866"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Learning &amp; Advancement</a:t>
            </a:r>
            <a:endParaRPr sz="1400" dirty="0"/>
          </a:p>
        </p:txBody>
      </p:sp>
      <p:sp>
        <p:nvSpPr>
          <p:cNvPr id="56" name="Google Shape;21511;p354">
            <a:extLst>
              <a:ext uri="{FF2B5EF4-FFF2-40B4-BE49-F238E27FC236}">
                <a16:creationId xmlns:a16="http://schemas.microsoft.com/office/drawing/2014/main" id="{94D03337-3917-A790-2A4B-5FCA71FD0B7A}"/>
              </a:ext>
            </a:extLst>
          </p:cNvPr>
          <p:cNvSpPr txBox="1"/>
          <p:nvPr/>
        </p:nvSpPr>
        <p:spPr>
          <a:xfrm>
            <a:off x="3307992" y="5466352"/>
            <a:ext cx="1364424" cy="523220"/>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Engagement &amp; Wellbeing</a:t>
            </a:r>
            <a:endParaRPr sz="1400" dirty="0"/>
          </a:p>
        </p:txBody>
      </p:sp>
      <p:sp>
        <p:nvSpPr>
          <p:cNvPr id="57" name="Google Shape;123;p25">
            <a:extLst>
              <a:ext uri="{FF2B5EF4-FFF2-40B4-BE49-F238E27FC236}">
                <a16:creationId xmlns:a16="http://schemas.microsoft.com/office/drawing/2014/main" id="{7C17D6E2-6E78-1547-B9DE-CBC89D10702B}"/>
              </a:ext>
            </a:extLst>
          </p:cNvPr>
          <p:cNvSpPr/>
          <p:nvPr/>
        </p:nvSpPr>
        <p:spPr>
          <a:xfrm>
            <a:off x="1989798" y="5957327"/>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58" name="TextBox 57">
            <a:extLst>
              <a:ext uri="{FF2B5EF4-FFF2-40B4-BE49-F238E27FC236}">
                <a16:creationId xmlns:a16="http://schemas.microsoft.com/office/drawing/2014/main" id="{04A3B54E-0C57-22C1-060B-74C9F3BEDDDC}"/>
              </a:ext>
            </a:extLst>
          </p:cNvPr>
          <p:cNvSpPr txBox="1"/>
          <p:nvPr/>
        </p:nvSpPr>
        <p:spPr>
          <a:xfrm>
            <a:off x="2811945" y="5986635"/>
            <a:ext cx="780303"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59" name="Google Shape;122;p25">
            <a:extLst>
              <a:ext uri="{FF2B5EF4-FFF2-40B4-BE49-F238E27FC236}">
                <a16:creationId xmlns:a16="http://schemas.microsoft.com/office/drawing/2014/main" id="{38D767D6-3F58-3563-AC5A-0F23267E5ABF}"/>
              </a:ext>
            </a:extLst>
          </p:cNvPr>
          <p:cNvSpPr/>
          <p:nvPr/>
        </p:nvSpPr>
        <p:spPr>
          <a:xfrm>
            <a:off x="3558359" y="5952228"/>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grpSp>
        <p:nvGrpSpPr>
          <p:cNvPr id="60" name="Google Shape;21512;p354">
            <a:extLst>
              <a:ext uri="{FF2B5EF4-FFF2-40B4-BE49-F238E27FC236}">
                <a16:creationId xmlns:a16="http://schemas.microsoft.com/office/drawing/2014/main" id="{8D331ECF-7C45-4F70-7BA6-FC56A57EACF0}"/>
              </a:ext>
            </a:extLst>
          </p:cNvPr>
          <p:cNvGrpSpPr/>
          <p:nvPr/>
        </p:nvGrpSpPr>
        <p:grpSpPr>
          <a:xfrm>
            <a:off x="2465558" y="4839912"/>
            <a:ext cx="1583657" cy="615695"/>
            <a:chOff x="7996645" y="4997800"/>
            <a:chExt cx="1742072" cy="677281"/>
          </a:xfrm>
        </p:grpSpPr>
        <p:sp>
          <p:nvSpPr>
            <p:cNvPr id="61" name="Google Shape;21513;p354">
              <a:extLst>
                <a:ext uri="{FF2B5EF4-FFF2-40B4-BE49-F238E27FC236}">
                  <a16:creationId xmlns:a16="http://schemas.microsoft.com/office/drawing/2014/main" id="{33210F15-B276-98AC-EA30-B79558425B37}"/>
                </a:ext>
              </a:extLst>
            </p:cNvPr>
            <p:cNvSpPr txBox="1"/>
            <p:nvPr/>
          </p:nvSpPr>
          <p:spPr>
            <a:xfrm>
              <a:off x="7996645" y="5041113"/>
              <a:ext cx="1545903" cy="633968"/>
            </a:xfrm>
            <a:prstGeom prst="rect">
              <a:avLst/>
            </a:prstGeom>
            <a:noFill/>
            <a:ln>
              <a:noFill/>
            </a:ln>
          </p:spPr>
          <p:txBody>
            <a:bodyPr spcFirstLastPara="1" wrap="square" lIns="83067" tIns="41533" rIns="83067" bIns="41533" anchor="t" anchorCtr="0">
              <a:spAutoFit/>
            </a:bodyPr>
            <a:lstStyle/>
            <a:p>
              <a:r>
                <a:rPr lang="en" sz="3200" dirty="0">
                  <a:solidFill>
                    <a:srgbClr val="000000"/>
                  </a:solidFill>
                  <a:latin typeface="Arial"/>
                  <a:ea typeface="Arial"/>
                  <a:cs typeface="Arial"/>
                  <a:sym typeface="Arial"/>
                </a:rPr>
                <a:t>• • • • •               </a:t>
              </a:r>
              <a:endParaRPr dirty="0"/>
            </a:p>
          </p:txBody>
        </p:sp>
        <p:sp>
          <p:nvSpPr>
            <p:cNvPr id="1156" name="Google Shape;21514;p354">
              <a:extLst>
                <a:ext uri="{FF2B5EF4-FFF2-40B4-BE49-F238E27FC236}">
                  <a16:creationId xmlns:a16="http://schemas.microsoft.com/office/drawing/2014/main" id="{5F9F4E55-8713-70CD-B2BF-1CC5D72ED4A0}"/>
                </a:ext>
              </a:extLst>
            </p:cNvPr>
            <p:cNvSpPr txBox="1"/>
            <p:nvPr/>
          </p:nvSpPr>
          <p:spPr>
            <a:xfrm>
              <a:off x="8849517" y="4997800"/>
              <a:ext cx="889200" cy="566255"/>
            </a:xfrm>
            <a:prstGeom prst="rect">
              <a:avLst/>
            </a:prstGeom>
            <a:noFill/>
            <a:ln>
              <a:noFill/>
            </a:ln>
          </p:spPr>
          <p:txBody>
            <a:bodyPr spcFirstLastPara="1" wrap="square" lIns="83067" tIns="41533" rIns="83067" bIns="41533" anchor="t" anchorCtr="0">
              <a:spAutoFit/>
            </a:bodyPr>
            <a:lstStyle/>
            <a:p>
              <a:r>
                <a:rPr lang="en" sz="2800" dirty="0">
                  <a:solidFill>
                    <a:srgbClr val="000000"/>
                  </a:solidFill>
                  <a:latin typeface="Arial"/>
                  <a:ea typeface="Arial"/>
                  <a:cs typeface="Arial"/>
                  <a:sym typeface="Arial"/>
                </a:rPr>
                <a:t>   </a:t>
              </a:r>
              <a:r>
                <a:rPr lang="en" sz="1200" dirty="0">
                  <a:solidFill>
                    <a:srgbClr val="000000"/>
                  </a:solidFill>
                  <a:latin typeface="Arial"/>
                  <a:ea typeface="Arial"/>
                  <a:cs typeface="Arial"/>
                  <a:sym typeface="Arial"/>
                </a:rPr>
                <a:t>  </a:t>
              </a:r>
              <a:r>
                <a:rPr lang="en" sz="2000" dirty="0">
                  <a:solidFill>
                    <a:srgbClr val="000000"/>
                  </a:solidFill>
                  <a:latin typeface="Arial"/>
                  <a:ea typeface="Arial"/>
                  <a:cs typeface="Arial"/>
                  <a:sym typeface="Arial"/>
                </a:rPr>
                <a:t> ○</a:t>
              </a:r>
              <a:endParaRPr sz="2800" dirty="0"/>
            </a:p>
          </p:txBody>
        </p:sp>
      </p:grpSp>
      <p:sp>
        <p:nvSpPr>
          <p:cNvPr id="1158" name="Google Shape;21510;p354">
            <a:extLst>
              <a:ext uri="{FF2B5EF4-FFF2-40B4-BE49-F238E27FC236}">
                <a16:creationId xmlns:a16="http://schemas.microsoft.com/office/drawing/2014/main" id="{51DA149D-CC95-518C-9266-0F60D93FAD75}"/>
              </a:ext>
            </a:extLst>
          </p:cNvPr>
          <p:cNvSpPr txBox="1"/>
          <p:nvPr/>
        </p:nvSpPr>
        <p:spPr>
          <a:xfrm>
            <a:off x="2485358" y="5200792"/>
            <a:ext cx="1500866" cy="307777"/>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400" dirty="0"/>
              <a:t>Experience</a:t>
            </a:r>
            <a:endParaRPr sz="1400" dirty="0"/>
          </a:p>
        </p:txBody>
      </p:sp>
      <p:sp>
        <p:nvSpPr>
          <p:cNvPr id="1159" name="TextBox 1158">
            <a:extLst>
              <a:ext uri="{FF2B5EF4-FFF2-40B4-BE49-F238E27FC236}">
                <a16:creationId xmlns:a16="http://schemas.microsoft.com/office/drawing/2014/main" id="{D93C2246-8642-4FD8-4ACD-631FAAC16C03}"/>
              </a:ext>
            </a:extLst>
          </p:cNvPr>
          <p:cNvSpPr txBox="1"/>
          <p:nvPr/>
        </p:nvSpPr>
        <p:spPr>
          <a:xfrm rot="19305263">
            <a:off x="2817369" y="5449189"/>
            <a:ext cx="440460"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1160" name="TextBox 1159">
            <a:extLst>
              <a:ext uri="{FF2B5EF4-FFF2-40B4-BE49-F238E27FC236}">
                <a16:creationId xmlns:a16="http://schemas.microsoft.com/office/drawing/2014/main" id="{5C4E1C24-2CA1-2C2C-53B4-65BDC6E5E68A}"/>
              </a:ext>
            </a:extLst>
          </p:cNvPr>
          <p:cNvSpPr txBox="1"/>
          <p:nvPr/>
        </p:nvSpPr>
        <p:spPr>
          <a:xfrm rot="2298743">
            <a:off x="3110638" y="5480870"/>
            <a:ext cx="440460"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a:t>
            </a:r>
          </a:p>
        </p:txBody>
      </p:sp>
      <p:sp>
        <p:nvSpPr>
          <p:cNvPr id="1161" name="Rounded Rectangle 1160">
            <a:extLst>
              <a:ext uri="{FF2B5EF4-FFF2-40B4-BE49-F238E27FC236}">
                <a16:creationId xmlns:a16="http://schemas.microsoft.com/office/drawing/2014/main" id="{1D4A3538-7F56-E772-1374-0C0B7D77D820}"/>
              </a:ext>
            </a:extLst>
          </p:cNvPr>
          <p:cNvSpPr/>
          <p:nvPr/>
        </p:nvSpPr>
        <p:spPr>
          <a:xfrm>
            <a:off x="1708409" y="3095883"/>
            <a:ext cx="690484" cy="337783"/>
          </a:xfrm>
          <a:prstGeom prst="roundRect">
            <a:avLst/>
          </a:prstGeom>
          <a:solidFill>
            <a:srgbClr val="FFD79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dirty="0">
                <a:solidFill>
                  <a:srgbClr val="938120"/>
                </a:solidFill>
                <a:latin typeface="Aptos" panose="02110004020202020204"/>
              </a:rPr>
              <a:t>3</a:t>
            </a:r>
            <a:endParaRPr kumimoji="0" lang="en-US" b="0" i="0" u="none" strike="noStrike" kern="1200" cap="none" spc="0" normalizeH="0" baseline="0" noProof="0" dirty="0">
              <a:ln>
                <a:noFill/>
              </a:ln>
              <a:solidFill>
                <a:srgbClr val="938120"/>
              </a:solidFill>
              <a:effectLst/>
              <a:uLnTx/>
              <a:uFillTx/>
              <a:latin typeface="Aptos" panose="02110004020202020204"/>
              <a:ea typeface="+mn-ea"/>
              <a:cs typeface="+mn-cs"/>
            </a:endParaRPr>
          </a:p>
        </p:txBody>
      </p:sp>
      <p:sp>
        <p:nvSpPr>
          <p:cNvPr id="1163" name="Rounded Rectangle 1162">
            <a:extLst>
              <a:ext uri="{FF2B5EF4-FFF2-40B4-BE49-F238E27FC236}">
                <a16:creationId xmlns:a16="http://schemas.microsoft.com/office/drawing/2014/main" id="{FE0E6E97-A174-04E5-600A-5E94138DA4F7}"/>
              </a:ext>
            </a:extLst>
          </p:cNvPr>
          <p:cNvSpPr/>
          <p:nvPr/>
        </p:nvSpPr>
        <p:spPr>
          <a:xfrm>
            <a:off x="3882814" y="3062674"/>
            <a:ext cx="690484" cy="337783"/>
          </a:xfrm>
          <a:prstGeom prst="roundRect">
            <a:avLst/>
          </a:prstGeom>
          <a:solidFill>
            <a:srgbClr val="4EA72E">
              <a:lumMod val="60000"/>
              <a:lumOff val="4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56082"/>
                </a:solidFill>
                <a:effectLst/>
                <a:uLnTx/>
                <a:uFillTx/>
                <a:latin typeface="Aptos" panose="02110004020202020204"/>
                <a:ea typeface="+mn-ea"/>
                <a:cs typeface="+mn-cs"/>
              </a:rPr>
              <a:t>5</a:t>
            </a:r>
          </a:p>
        </p:txBody>
      </p:sp>
      <p:sp>
        <p:nvSpPr>
          <p:cNvPr id="1164" name="Rounded Rectangle 1163">
            <a:extLst>
              <a:ext uri="{FF2B5EF4-FFF2-40B4-BE49-F238E27FC236}">
                <a16:creationId xmlns:a16="http://schemas.microsoft.com/office/drawing/2014/main" id="{C72965DB-15C7-97F4-6907-7557EBBCAD17}"/>
              </a:ext>
            </a:extLst>
          </p:cNvPr>
          <p:cNvSpPr/>
          <p:nvPr/>
        </p:nvSpPr>
        <p:spPr>
          <a:xfrm>
            <a:off x="2795535" y="3809516"/>
            <a:ext cx="690484" cy="337783"/>
          </a:xfrm>
          <a:prstGeom prst="roundRect">
            <a:avLst/>
          </a:prstGeom>
          <a:solidFill>
            <a:srgbClr val="EB9B99"/>
          </a:solidFill>
          <a:ln w="19050" cap="flat" cmpd="sng" algn="ctr">
            <a:noFill/>
            <a:prstDash val="solid"/>
            <a:miter lim="800000"/>
          </a:ln>
          <a:effectLst/>
        </p:spPr>
        <p:txBody>
          <a:bodyPr rtlCol="0" anchor="ctr"/>
          <a:lstStyle/>
          <a:p>
            <a:pPr lvl="0" algn="ctr">
              <a:defRPr/>
            </a:pPr>
            <a:r>
              <a:rPr lang="en-US" dirty="0">
                <a:solidFill>
                  <a:srgbClr val="AD3834"/>
                </a:solidFill>
              </a:rPr>
              <a:t>2</a:t>
            </a:r>
            <a:endParaRPr kumimoji="0" lang="en-US" b="0" i="0" u="none" strike="noStrike" kern="1200" cap="none" spc="0" normalizeH="0" baseline="0" noProof="0" dirty="0">
              <a:ln>
                <a:noFill/>
              </a:ln>
              <a:solidFill>
                <a:srgbClr val="156082"/>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39383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9548455-C00B-F35A-2CA2-A87BE946691F}"/>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E475A96B-65BC-71E8-4271-E909B0B2E02A}"/>
              </a:ext>
            </a:extLst>
          </p:cNvPr>
          <p:cNvPicPr>
            <a:picLocks noChangeAspect="1"/>
          </p:cNvPicPr>
          <p:nvPr/>
        </p:nvPicPr>
        <p:blipFill>
          <a:blip r:embed="rId3"/>
          <a:stretch>
            <a:fillRect/>
          </a:stretch>
        </p:blipFill>
        <p:spPr>
          <a:xfrm>
            <a:off x="2838069" y="117351"/>
            <a:ext cx="941648" cy="837020"/>
          </a:xfrm>
          <a:prstGeom prst="rect">
            <a:avLst/>
          </a:prstGeom>
        </p:spPr>
      </p:pic>
      <p:sp>
        <p:nvSpPr>
          <p:cNvPr id="16" name="Google Shape;21498;p354">
            <a:extLst>
              <a:ext uri="{FF2B5EF4-FFF2-40B4-BE49-F238E27FC236}">
                <a16:creationId xmlns:a16="http://schemas.microsoft.com/office/drawing/2014/main" id="{23583446-12C8-D14B-02DA-317DC3218D30}"/>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3" name="Google Shape;21506;p354">
            <a:extLst>
              <a:ext uri="{FF2B5EF4-FFF2-40B4-BE49-F238E27FC236}">
                <a16:creationId xmlns:a16="http://schemas.microsoft.com/office/drawing/2014/main" id="{911CDDD6-7FE2-FAFC-C757-3AA91A7A47A7}"/>
              </a:ext>
            </a:extLst>
          </p:cNvPr>
          <p:cNvSpPr txBox="1"/>
          <p:nvPr/>
        </p:nvSpPr>
        <p:spPr>
          <a:xfrm>
            <a:off x="2601379" y="6205797"/>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sp>
        <p:nvSpPr>
          <p:cNvPr id="27" name="Google Shape;21509;p354">
            <a:extLst>
              <a:ext uri="{FF2B5EF4-FFF2-40B4-BE49-F238E27FC236}">
                <a16:creationId xmlns:a16="http://schemas.microsoft.com/office/drawing/2014/main" id="{9EA324A7-81FB-B937-E5FC-3246A3577667}"/>
              </a:ext>
            </a:extLst>
          </p:cNvPr>
          <p:cNvSpPr txBox="1"/>
          <p:nvPr/>
        </p:nvSpPr>
        <p:spPr>
          <a:xfrm>
            <a:off x="1760834" y="1263955"/>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28" name="Google Shape;21510;p354">
            <a:extLst>
              <a:ext uri="{FF2B5EF4-FFF2-40B4-BE49-F238E27FC236}">
                <a16:creationId xmlns:a16="http://schemas.microsoft.com/office/drawing/2014/main" id="{605275EF-D6C6-B192-CBFC-6E0DEE553779}"/>
              </a:ext>
            </a:extLst>
          </p:cNvPr>
          <p:cNvSpPr txBox="1"/>
          <p:nvPr/>
        </p:nvSpPr>
        <p:spPr>
          <a:xfrm>
            <a:off x="1673753" y="5203407"/>
            <a:ext cx="1500866" cy="461665"/>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200" dirty="0"/>
              <a:t>Learning &amp; Advancement</a:t>
            </a:r>
            <a:endParaRPr sz="1200" dirty="0"/>
          </a:p>
        </p:txBody>
      </p:sp>
      <p:sp>
        <p:nvSpPr>
          <p:cNvPr id="29" name="Google Shape;21511;p354">
            <a:extLst>
              <a:ext uri="{FF2B5EF4-FFF2-40B4-BE49-F238E27FC236}">
                <a16:creationId xmlns:a16="http://schemas.microsoft.com/office/drawing/2014/main" id="{7D5AAB40-B48F-A84A-8DB5-F3F1CAACAD61}"/>
              </a:ext>
            </a:extLst>
          </p:cNvPr>
          <p:cNvSpPr txBox="1"/>
          <p:nvPr/>
        </p:nvSpPr>
        <p:spPr>
          <a:xfrm>
            <a:off x="3307992" y="5193505"/>
            <a:ext cx="1364424" cy="461665"/>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pPr algn="ctr"/>
            <a:r>
              <a:rPr lang="en" sz="1200" dirty="0"/>
              <a:t>Engagement &amp; Wellbeing</a:t>
            </a:r>
            <a:endParaRPr sz="1200" dirty="0"/>
          </a:p>
        </p:txBody>
      </p:sp>
      <p:sp>
        <p:nvSpPr>
          <p:cNvPr id="30" name="Google Shape;123;p25">
            <a:extLst>
              <a:ext uri="{FF2B5EF4-FFF2-40B4-BE49-F238E27FC236}">
                <a16:creationId xmlns:a16="http://schemas.microsoft.com/office/drawing/2014/main" id="{5C05FE34-187F-7F46-343D-DBB6AD274743}"/>
              </a:ext>
            </a:extLst>
          </p:cNvPr>
          <p:cNvSpPr/>
          <p:nvPr/>
        </p:nvSpPr>
        <p:spPr>
          <a:xfrm>
            <a:off x="1989798" y="5665263"/>
            <a:ext cx="810277" cy="353051"/>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34" name="Google Shape;122;p25">
            <a:extLst>
              <a:ext uri="{FF2B5EF4-FFF2-40B4-BE49-F238E27FC236}">
                <a16:creationId xmlns:a16="http://schemas.microsoft.com/office/drawing/2014/main" id="{D9102134-7B41-5288-0B61-0F3A60E128D5}"/>
              </a:ext>
            </a:extLst>
          </p:cNvPr>
          <p:cNvSpPr/>
          <p:nvPr/>
        </p:nvSpPr>
        <p:spPr>
          <a:xfrm>
            <a:off x="3558359" y="5660444"/>
            <a:ext cx="810277" cy="358645"/>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sp>
        <p:nvSpPr>
          <p:cNvPr id="35" name="TextBox 34">
            <a:extLst>
              <a:ext uri="{FF2B5EF4-FFF2-40B4-BE49-F238E27FC236}">
                <a16:creationId xmlns:a16="http://schemas.microsoft.com/office/drawing/2014/main" id="{C3A76529-7A1B-D449-7FDF-181AF3DB448A}"/>
              </a:ext>
            </a:extLst>
          </p:cNvPr>
          <p:cNvSpPr txBox="1"/>
          <p:nvPr/>
        </p:nvSpPr>
        <p:spPr>
          <a:xfrm>
            <a:off x="1403431" y="1893724"/>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pic>
        <p:nvPicPr>
          <p:cNvPr id="37" name="Google Shape;2017;p43">
            <a:extLst>
              <a:ext uri="{FF2B5EF4-FFF2-40B4-BE49-F238E27FC236}">
                <a16:creationId xmlns:a16="http://schemas.microsoft.com/office/drawing/2014/main" id="{3AA349D8-8D3D-E394-34D5-043269233A54}"/>
              </a:ext>
            </a:extLst>
          </p:cNvPr>
          <p:cNvPicPr preferRelativeResize="0"/>
          <p:nvPr/>
        </p:nvPicPr>
        <p:blipFill rotWithShape="1">
          <a:blip r:embed="rId4">
            <a:alphaModFix/>
          </a:blip>
          <a:srcRect t="57094"/>
          <a:stretch/>
        </p:blipFill>
        <p:spPr>
          <a:xfrm rot="10800000">
            <a:off x="2102331" y="6126687"/>
            <a:ext cx="568466" cy="244066"/>
          </a:xfrm>
          <a:prstGeom prst="rect">
            <a:avLst/>
          </a:prstGeom>
          <a:noFill/>
          <a:ln>
            <a:noFill/>
          </a:ln>
        </p:spPr>
      </p:pic>
      <p:sp>
        <p:nvSpPr>
          <p:cNvPr id="38" name="Google Shape;2019;p43">
            <a:extLst>
              <a:ext uri="{FF2B5EF4-FFF2-40B4-BE49-F238E27FC236}">
                <a16:creationId xmlns:a16="http://schemas.microsoft.com/office/drawing/2014/main" id="{36A736EB-31ED-365F-FEB8-0794967F723F}"/>
              </a:ext>
            </a:extLst>
          </p:cNvPr>
          <p:cNvSpPr/>
          <p:nvPr/>
        </p:nvSpPr>
        <p:spPr>
          <a:xfrm>
            <a:off x="2317799" y="6251772"/>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152" name="Google Shape;21512;p354">
            <a:extLst>
              <a:ext uri="{FF2B5EF4-FFF2-40B4-BE49-F238E27FC236}">
                <a16:creationId xmlns:a16="http://schemas.microsoft.com/office/drawing/2014/main" id="{FB485B27-7ACF-FCDE-3125-B4084574D1E6}"/>
              </a:ext>
            </a:extLst>
          </p:cNvPr>
          <p:cNvGrpSpPr/>
          <p:nvPr/>
        </p:nvGrpSpPr>
        <p:grpSpPr>
          <a:xfrm>
            <a:off x="2185558" y="950894"/>
            <a:ext cx="2145556" cy="772078"/>
            <a:chOff x="7996645" y="5028910"/>
            <a:chExt cx="1773236" cy="849307"/>
          </a:xfrm>
        </p:grpSpPr>
        <p:sp>
          <p:nvSpPr>
            <p:cNvPr id="1155" name="Google Shape;21513;p354">
              <a:extLst>
                <a:ext uri="{FF2B5EF4-FFF2-40B4-BE49-F238E27FC236}">
                  <a16:creationId xmlns:a16="http://schemas.microsoft.com/office/drawing/2014/main" id="{B460E255-B4DB-5229-D6C5-C0C096348BF5}"/>
                </a:ext>
              </a:extLst>
            </p:cNvPr>
            <p:cNvSpPr txBox="1"/>
            <p:nvPr/>
          </p:nvSpPr>
          <p:spPr>
            <a:xfrm>
              <a:off x="7996645" y="5041112"/>
              <a:ext cx="1545903" cy="837105"/>
            </a:xfrm>
            <a:prstGeom prst="rect">
              <a:avLst/>
            </a:prstGeom>
            <a:noFill/>
            <a:ln>
              <a:noFill/>
            </a:ln>
          </p:spPr>
          <p:txBody>
            <a:bodyPr spcFirstLastPara="1" wrap="square" lIns="83067" tIns="41533" rIns="83067" bIns="41533" anchor="t" anchorCtr="0">
              <a:spAutoFit/>
            </a:bodyPr>
            <a:lstStyle/>
            <a:p>
              <a:r>
                <a:rPr lang="en" sz="4400" dirty="0">
                  <a:solidFill>
                    <a:srgbClr val="000000"/>
                  </a:solidFill>
                  <a:latin typeface="Arial"/>
                  <a:ea typeface="Arial"/>
                  <a:cs typeface="Arial"/>
                  <a:sym typeface="Arial"/>
                </a:rPr>
                <a:t>• • • • •               </a:t>
              </a:r>
              <a:endParaRPr sz="2800" dirty="0"/>
            </a:p>
          </p:txBody>
        </p:sp>
        <p:sp>
          <p:nvSpPr>
            <p:cNvPr id="1157" name="Google Shape;21514;p354">
              <a:extLst>
                <a:ext uri="{FF2B5EF4-FFF2-40B4-BE49-F238E27FC236}">
                  <a16:creationId xmlns:a16="http://schemas.microsoft.com/office/drawing/2014/main" id="{0317DE1E-41F7-B4DC-23C3-A800AAAECDA1}"/>
                </a:ext>
              </a:extLst>
            </p:cNvPr>
            <p:cNvSpPr txBox="1"/>
            <p:nvPr/>
          </p:nvSpPr>
          <p:spPr>
            <a:xfrm>
              <a:off x="8880681" y="5028910"/>
              <a:ext cx="889200" cy="701680"/>
            </a:xfrm>
            <a:prstGeom prst="rect">
              <a:avLst/>
            </a:prstGeom>
            <a:noFill/>
            <a:ln>
              <a:noFill/>
            </a:ln>
          </p:spPr>
          <p:txBody>
            <a:bodyPr spcFirstLastPara="1" wrap="square" lIns="83067" tIns="41533" rIns="83067" bIns="41533" anchor="t" anchorCtr="0">
              <a:spAutoFit/>
            </a:bodyPr>
            <a:lstStyle/>
            <a:p>
              <a:r>
                <a:rPr lang="en" sz="3600" dirty="0">
                  <a:solidFill>
                    <a:srgbClr val="000000"/>
                  </a:solidFill>
                  <a:latin typeface="Arial"/>
                  <a:ea typeface="Arial"/>
                  <a:cs typeface="Arial"/>
                  <a:sym typeface="Arial"/>
                </a:rPr>
                <a:t>   </a:t>
              </a:r>
              <a:r>
                <a:rPr lang="en" sz="1600" dirty="0">
                  <a:solidFill>
                    <a:srgbClr val="000000"/>
                  </a:solidFill>
                  <a:latin typeface="Arial"/>
                  <a:ea typeface="Arial"/>
                  <a:cs typeface="Arial"/>
                  <a:sym typeface="Arial"/>
                </a:rPr>
                <a:t>  </a:t>
              </a:r>
              <a:r>
                <a:rPr lang="en" sz="2800" dirty="0">
                  <a:solidFill>
                    <a:srgbClr val="000000"/>
                  </a:solidFill>
                  <a:latin typeface="Arial"/>
                  <a:ea typeface="Arial"/>
                  <a:cs typeface="Arial"/>
                  <a:sym typeface="Arial"/>
                </a:rPr>
                <a:t> ○</a:t>
              </a:r>
              <a:endParaRPr sz="3600" dirty="0"/>
            </a:p>
          </p:txBody>
        </p:sp>
      </p:grpSp>
      <p:sp>
        <p:nvSpPr>
          <p:cNvPr id="1166" name="Rounded Rectangle 1165">
            <a:extLst>
              <a:ext uri="{FF2B5EF4-FFF2-40B4-BE49-F238E27FC236}">
                <a16:creationId xmlns:a16="http://schemas.microsoft.com/office/drawing/2014/main" id="{F1BC0764-BAFF-FBA7-CA43-8B70539EC2B8}"/>
              </a:ext>
            </a:extLst>
          </p:cNvPr>
          <p:cNvSpPr/>
          <p:nvPr/>
        </p:nvSpPr>
        <p:spPr>
          <a:xfrm>
            <a:off x="2627300" y="4347447"/>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69" name="Rounded Rectangle 1168">
            <a:extLst>
              <a:ext uri="{FF2B5EF4-FFF2-40B4-BE49-F238E27FC236}">
                <a16:creationId xmlns:a16="http://schemas.microsoft.com/office/drawing/2014/main" id="{C0246665-5D7A-97CF-97D0-2008F9910DB5}"/>
              </a:ext>
            </a:extLst>
          </p:cNvPr>
          <p:cNvSpPr/>
          <p:nvPr/>
        </p:nvSpPr>
        <p:spPr>
          <a:xfrm>
            <a:off x="1176102" y="3443215"/>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76" name="Rounded Rectangle 1175">
            <a:extLst>
              <a:ext uri="{FF2B5EF4-FFF2-40B4-BE49-F238E27FC236}">
                <a16:creationId xmlns:a16="http://schemas.microsoft.com/office/drawing/2014/main" id="{FC274CA6-AACB-C538-B468-4242C10F2FD1}"/>
              </a:ext>
            </a:extLst>
          </p:cNvPr>
          <p:cNvSpPr/>
          <p:nvPr/>
        </p:nvSpPr>
        <p:spPr>
          <a:xfrm>
            <a:off x="2633521" y="3454721"/>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78" name="Rounded Rectangle 1177">
            <a:extLst>
              <a:ext uri="{FF2B5EF4-FFF2-40B4-BE49-F238E27FC236}">
                <a16:creationId xmlns:a16="http://schemas.microsoft.com/office/drawing/2014/main" id="{AEB7A84B-3E68-38F6-15BF-EDA46B28F551}"/>
              </a:ext>
            </a:extLst>
          </p:cNvPr>
          <p:cNvSpPr/>
          <p:nvPr/>
        </p:nvSpPr>
        <p:spPr>
          <a:xfrm>
            <a:off x="4124360" y="3447150"/>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79" name="Google Shape;21518;p354">
            <a:extLst>
              <a:ext uri="{FF2B5EF4-FFF2-40B4-BE49-F238E27FC236}">
                <a16:creationId xmlns:a16="http://schemas.microsoft.com/office/drawing/2014/main" id="{5D4132BF-9FEF-DCA3-3AD9-F3D195B831E0}"/>
              </a:ext>
            </a:extLst>
          </p:cNvPr>
          <p:cNvSpPr txBox="1"/>
          <p:nvPr/>
        </p:nvSpPr>
        <p:spPr>
          <a:xfrm>
            <a:off x="2700276" y="3350420"/>
            <a:ext cx="1234712" cy="191599"/>
          </a:xfrm>
          <a:prstGeom prst="rect">
            <a:avLst/>
          </a:prstGeom>
          <a:noFill/>
          <a:ln>
            <a:noFill/>
          </a:ln>
        </p:spPr>
        <p:txBody>
          <a:bodyPr spcFirstLastPara="1" wrap="square" lIns="83067" tIns="41533" rIns="83067" bIns="41533" anchor="t" anchorCtr="0">
            <a:spAutoFit/>
          </a:bodyPr>
          <a:lstStyle/>
          <a:p>
            <a:pPr algn="ctr"/>
            <a:r>
              <a:rPr lang="en" sz="700" b="1" u="sng" dirty="0">
                <a:solidFill>
                  <a:srgbClr val="7F7F7F"/>
                </a:solidFill>
              </a:rPr>
              <a:t>Key Elements</a:t>
            </a:r>
            <a:endParaRPr sz="700" u="sng" dirty="0"/>
          </a:p>
        </p:txBody>
      </p:sp>
      <p:sp>
        <p:nvSpPr>
          <p:cNvPr id="1182" name="TextBox 1181">
            <a:extLst>
              <a:ext uri="{FF2B5EF4-FFF2-40B4-BE49-F238E27FC236}">
                <a16:creationId xmlns:a16="http://schemas.microsoft.com/office/drawing/2014/main" id="{1835C425-D08B-9A09-FE74-BCE1CBF82640}"/>
              </a:ext>
            </a:extLst>
          </p:cNvPr>
          <p:cNvSpPr txBox="1"/>
          <p:nvPr/>
        </p:nvSpPr>
        <p:spPr>
          <a:xfrm>
            <a:off x="4136159" y="3350420"/>
            <a:ext cx="1255824" cy="191599"/>
          </a:xfrm>
          <a:prstGeom prst="rect">
            <a:avLst/>
          </a:prstGeom>
          <a:noFill/>
          <a:ln>
            <a:noFill/>
          </a:ln>
        </p:spPr>
        <p:txBody>
          <a:bodyPr spcFirstLastPara="1" wrap="square" lIns="83067" tIns="41533" rIns="83067" bIns="41533" anchor="t" anchorCtr="0">
            <a:spAutoFit/>
          </a:bodyPr>
          <a:lstStyle>
            <a:defPPr>
              <a:defRPr lang="en-US"/>
            </a:defPPr>
            <a:lvl1pPr algn="ctr">
              <a:defRPr sz="727" b="1">
                <a:solidFill>
                  <a:srgbClr val="7F7F7F"/>
                </a:solidFill>
              </a:defRPr>
            </a:lvl1pPr>
          </a:lstStyle>
          <a:p>
            <a:r>
              <a:rPr lang="en-US" sz="700" dirty="0"/>
              <a:t>Embedded Locations</a:t>
            </a:r>
          </a:p>
        </p:txBody>
      </p:sp>
      <p:sp>
        <p:nvSpPr>
          <p:cNvPr id="1185" name="Google Shape;21537;p354">
            <a:extLst>
              <a:ext uri="{FF2B5EF4-FFF2-40B4-BE49-F238E27FC236}">
                <a16:creationId xmlns:a16="http://schemas.microsoft.com/office/drawing/2014/main" id="{2F8336CD-BE18-3369-B9DA-F2A8C30184FF}"/>
              </a:ext>
            </a:extLst>
          </p:cNvPr>
          <p:cNvSpPr txBox="1"/>
          <p:nvPr/>
        </p:nvSpPr>
        <p:spPr>
          <a:xfrm>
            <a:off x="1245058" y="3500295"/>
            <a:ext cx="962685" cy="608951"/>
          </a:xfrm>
          <a:prstGeom prst="rect">
            <a:avLst/>
          </a:prstGeom>
          <a:noFill/>
          <a:ln>
            <a:noFill/>
          </a:ln>
        </p:spPr>
        <p:txBody>
          <a:bodyPr spcFirstLastPara="1" wrap="square" lIns="112400" tIns="56167" rIns="112400" bIns="56167" anchor="t" anchorCtr="0">
            <a:spAutoFit/>
          </a:bodyPr>
          <a:lstStyle/>
          <a:p>
            <a:pPr>
              <a:lnSpc>
                <a:spcPct val="115000"/>
              </a:lnSpc>
            </a:pPr>
            <a:r>
              <a:rPr lang="en" sz="700" dirty="0"/>
              <a:t>Student</a:t>
            </a:r>
          </a:p>
          <a:p>
            <a:pPr marL="58738" indent="-58738">
              <a:lnSpc>
                <a:spcPct val="115000"/>
              </a:lnSpc>
              <a:buFont typeface="Arial" panose="020B0604020202020204" pitchFamily="34" charset="0"/>
              <a:buChar char="•"/>
            </a:pPr>
            <a:r>
              <a:rPr lang="en" sz="700" dirty="0"/>
              <a:t>COMP 3 Projects</a:t>
            </a:r>
          </a:p>
          <a:p>
            <a:pPr>
              <a:lnSpc>
                <a:spcPct val="115000"/>
              </a:lnSpc>
            </a:pPr>
            <a:r>
              <a:rPr lang="en" sz="700" dirty="0"/>
              <a:t>Adult</a:t>
            </a:r>
          </a:p>
          <a:p>
            <a:pPr marL="171450" indent="-171450">
              <a:lnSpc>
                <a:spcPct val="115000"/>
              </a:lnSpc>
              <a:buFont typeface="Arial" panose="020B0604020202020204" pitchFamily="34" charset="0"/>
              <a:buChar char="•"/>
            </a:pPr>
            <a:r>
              <a:rPr lang="en" sz="700" dirty="0"/>
              <a:t>Adult SEL</a:t>
            </a:r>
          </a:p>
        </p:txBody>
      </p:sp>
      <p:sp>
        <p:nvSpPr>
          <p:cNvPr id="1186" name="Google Shape;21538;p354">
            <a:extLst>
              <a:ext uri="{FF2B5EF4-FFF2-40B4-BE49-F238E27FC236}">
                <a16:creationId xmlns:a16="http://schemas.microsoft.com/office/drawing/2014/main" id="{3026106D-CEE7-9CB6-4E03-0E599B253804}"/>
              </a:ext>
            </a:extLst>
          </p:cNvPr>
          <p:cNvSpPr txBox="1"/>
          <p:nvPr/>
        </p:nvSpPr>
        <p:spPr>
          <a:xfrm>
            <a:off x="2683912" y="3532069"/>
            <a:ext cx="1058954" cy="361191"/>
          </a:xfrm>
          <a:prstGeom prst="rect">
            <a:avLst/>
          </a:prstGeom>
          <a:noFill/>
          <a:ln>
            <a:noFill/>
          </a:ln>
        </p:spPr>
        <p:txBody>
          <a:bodyPr spcFirstLastPara="1" wrap="square" lIns="112400" tIns="56167" rIns="112400" bIns="56167" anchor="t" anchorCtr="0">
            <a:spAutoFit/>
          </a:bodyPr>
          <a:lstStyle/>
          <a:p>
            <a:pPr marL="58738" indent="-58738">
              <a:lnSpc>
                <a:spcPct val="115000"/>
              </a:lnSpc>
              <a:buFont typeface="Arial" panose="020B0604020202020204" pitchFamily="34" charset="0"/>
              <a:buChar char="•"/>
            </a:pPr>
            <a:r>
              <a:rPr lang="en" sz="700" u="sng" dirty="0"/>
              <a:t>Tech Stations in Classroom</a:t>
            </a:r>
            <a:endParaRPr sz="700" u="sng" dirty="0"/>
          </a:p>
        </p:txBody>
      </p:sp>
      <p:sp>
        <p:nvSpPr>
          <p:cNvPr id="1188" name="Google Shape;21520;p354">
            <a:extLst>
              <a:ext uri="{FF2B5EF4-FFF2-40B4-BE49-F238E27FC236}">
                <a16:creationId xmlns:a16="http://schemas.microsoft.com/office/drawing/2014/main" id="{33BEAD82-F980-A840-CAC0-8BBC162B038B}"/>
              </a:ext>
            </a:extLst>
          </p:cNvPr>
          <p:cNvSpPr txBox="1"/>
          <p:nvPr/>
        </p:nvSpPr>
        <p:spPr>
          <a:xfrm>
            <a:off x="2777929" y="4252314"/>
            <a:ext cx="1050847" cy="191599"/>
          </a:xfrm>
          <a:prstGeom prst="rect">
            <a:avLst/>
          </a:prstGeom>
          <a:noFill/>
          <a:ln>
            <a:noFill/>
          </a:ln>
        </p:spPr>
        <p:txBody>
          <a:bodyPr spcFirstLastPara="1" wrap="square" lIns="83067" tIns="41533" rIns="83067" bIns="41533" anchor="t" anchorCtr="0">
            <a:spAutoFit/>
          </a:bodyPr>
          <a:lstStyle/>
          <a:p>
            <a:pPr algn="ctr"/>
            <a:r>
              <a:rPr lang="en" sz="700" b="1" dirty="0">
                <a:solidFill>
                  <a:srgbClr val="7F7F7F"/>
                </a:solidFill>
              </a:rPr>
              <a:t>Key Drivers</a:t>
            </a:r>
            <a:endParaRPr sz="1200" dirty="0"/>
          </a:p>
        </p:txBody>
      </p:sp>
      <p:sp>
        <p:nvSpPr>
          <p:cNvPr id="1189" name="Google Shape;21516;p354">
            <a:extLst>
              <a:ext uri="{FF2B5EF4-FFF2-40B4-BE49-F238E27FC236}">
                <a16:creationId xmlns:a16="http://schemas.microsoft.com/office/drawing/2014/main" id="{653CBAC7-5B29-2C94-8507-88DB6E2624F1}"/>
              </a:ext>
            </a:extLst>
          </p:cNvPr>
          <p:cNvSpPr txBox="1"/>
          <p:nvPr/>
        </p:nvSpPr>
        <p:spPr>
          <a:xfrm>
            <a:off x="1249709" y="3346571"/>
            <a:ext cx="1122465" cy="191599"/>
          </a:xfrm>
          <a:prstGeom prst="rect">
            <a:avLst/>
          </a:prstGeom>
          <a:noFill/>
          <a:ln>
            <a:noFill/>
          </a:ln>
        </p:spPr>
        <p:txBody>
          <a:bodyPr spcFirstLastPara="1" wrap="square" lIns="83067" tIns="41533" rIns="83067" bIns="41533" anchor="t" anchorCtr="0">
            <a:spAutoFit/>
          </a:bodyPr>
          <a:lstStyle/>
          <a:p>
            <a:pPr algn="ctr"/>
            <a:r>
              <a:rPr lang="en" sz="700" b="1" dirty="0">
                <a:solidFill>
                  <a:srgbClr val="7F7F7F"/>
                </a:solidFill>
              </a:rPr>
              <a:t>Subcomponents</a:t>
            </a:r>
            <a:endParaRPr sz="700" dirty="0"/>
          </a:p>
        </p:txBody>
      </p:sp>
      <p:sp>
        <p:nvSpPr>
          <p:cNvPr id="1191" name="TextBox 1190">
            <a:extLst>
              <a:ext uri="{FF2B5EF4-FFF2-40B4-BE49-F238E27FC236}">
                <a16:creationId xmlns:a16="http://schemas.microsoft.com/office/drawing/2014/main" id="{D8983AB1-9067-2F3C-AFE5-19FDBAEF5D55}"/>
              </a:ext>
            </a:extLst>
          </p:cNvPr>
          <p:cNvSpPr txBox="1"/>
          <p:nvPr/>
        </p:nvSpPr>
        <p:spPr>
          <a:xfrm>
            <a:off x="2609783" y="4370370"/>
            <a:ext cx="410690" cy="184666"/>
          </a:xfrm>
          <a:prstGeom prst="rect">
            <a:avLst/>
          </a:prstGeom>
          <a:noFill/>
        </p:spPr>
        <p:txBody>
          <a:bodyPr wrap="none" rtlCol="0">
            <a:spAutoFit/>
          </a:bodyPr>
          <a:lstStyle/>
          <a:p>
            <a:pPr algn="ctr">
              <a:buClrTx/>
              <a:buFontTx/>
              <a:buNone/>
              <a:defRPr/>
            </a:pPr>
            <a:r>
              <a:rPr lang="en-US" sz="600" u="sng" kern="1200" dirty="0">
                <a:solidFill>
                  <a:srgbClr val="001F5F"/>
                </a:solidFill>
                <a:latin typeface="Aptos" panose="02110004020202020204"/>
                <a:ea typeface="+mn-ea"/>
                <a:cs typeface="+mn-cs"/>
              </a:rPr>
              <a:t>Design</a:t>
            </a:r>
          </a:p>
        </p:txBody>
      </p:sp>
      <p:sp>
        <p:nvSpPr>
          <p:cNvPr id="1192" name="TextBox 1191">
            <a:extLst>
              <a:ext uri="{FF2B5EF4-FFF2-40B4-BE49-F238E27FC236}">
                <a16:creationId xmlns:a16="http://schemas.microsoft.com/office/drawing/2014/main" id="{A3B57089-2324-3287-DE0C-FCF037623A3D}"/>
              </a:ext>
            </a:extLst>
          </p:cNvPr>
          <p:cNvSpPr txBox="1"/>
          <p:nvPr/>
        </p:nvSpPr>
        <p:spPr>
          <a:xfrm>
            <a:off x="3380494" y="4365842"/>
            <a:ext cx="545342" cy="184666"/>
          </a:xfrm>
          <a:prstGeom prst="rect">
            <a:avLst/>
          </a:prstGeom>
          <a:noFill/>
        </p:spPr>
        <p:txBody>
          <a:bodyPr wrap="none" rtlCol="0">
            <a:spAutoFit/>
          </a:bodyPr>
          <a:lstStyle/>
          <a:p>
            <a:pPr>
              <a:buClrTx/>
              <a:buFontTx/>
              <a:buNone/>
            </a:pPr>
            <a:r>
              <a:rPr lang="en-US" sz="600" u="sng" kern="1200" dirty="0">
                <a:solidFill>
                  <a:srgbClr val="001F5F"/>
                </a:solidFill>
                <a:latin typeface="Aptos" panose="02110004020202020204"/>
                <a:ea typeface="+mn-ea"/>
                <a:cs typeface="+mn-cs"/>
              </a:rPr>
              <a:t>Conditions</a:t>
            </a:r>
          </a:p>
        </p:txBody>
      </p:sp>
      <p:cxnSp>
        <p:nvCxnSpPr>
          <p:cNvPr id="1193" name="Straight Connector 1192">
            <a:extLst>
              <a:ext uri="{FF2B5EF4-FFF2-40B4-BE49-F238E27FC236}">
                <a16:creationId xmlns:a16="http://schemas.microsoft.com/office/drawing/2014/main" id="{5F97727B-AF82-40AA-C289-8B2C350F9AD3}"/>
              </a:ext>
            </a:extLst>
          </p:cNvPr>
          <p:cNvCxnSpPr>
            <a:cxnSpLocks/>
          </p:cNvCxnSpPr>
          <p:nvPr/>
        </p:nvCxnSpPr>
        <p:spPr>
          <a:xfrm>
            <a:off x="2876832" y="4542845"/>
            <a:ext cx="349625" cy="109725"/>
          </a:xfrm>
          <a:prstGeom prst="line">
            <a:avLst/>
          </a:prstGeom>
          <a:noFill/>
          <a:ln w="19050" cap="flat" cmpd="sng" algn="ctr">
            <a:solidFill>
              <a:srgbClr val="8EDA73"/>
            </a:solidFill>
            <a:prstDash val="solid"/>
            <a:miter lim="800000"/>
          </a:ln>
          <a:effectLst/>
        </p:spPr>
      </p:cxnSp>
      <p:cxnSp>
        <p:nvCxnSpPr>
          <p:cNvPr id="1194" name="Straight Connector 1193">
            <a:extLst>
              <a:ext uri="{FF2B5EF4-FFF2-40B4-BE49-F238E27FC236}">
                <a16:creationId xmlns:a16="http://schemas.microsoft.com/office/drawing/2014/main" id="{3A67B862-2CDE-12E3-C5D9-CE5A27A241B7}"/>
              </a:ext>
            </a:extLst>
          </p:cNvPr>
          <p:cNvCxnSpPr>
            <a:cxnSpLocks/>
          </p:cNvCxnSpPr>
          <p:nvPr/>
        </p:nvCxnSpPr>
        <p:spPr>
          <a:xfrm flipV="1">
            <a:off x="3257604" y="4548905"/>
            <a:ext cx="336182" cy="106893"/>
          </a:xfrm>
          <a:prstGeom prst="line">
            <a:avLst/>
          </a:prstGeom>
          <a:noFill/>
          <a:ln w="19050" cap="flat" cmpd="sng" algn="ctr">
            <a:solidFill>
              <a:srgbClr val="FFD791"/>
            </a:solidFill>
            <a:prstDash val="solid"/>
            <a:miter lim="800000"/>
          </a:ln>
          <a:effectLst/>
        </p:spPr>
      </p:cxnSp>
      <p:cxnSp>
        <p:nvCxnSpPr>
          <p:cNvPr id="1195" name="Straight Arrow Connector 1194">
            <a:extLst>
              <a:ext uri="{FF2B5EF4-FFF2-40B4-BE49-F238E27FC236}">
                <a16:creationId xmlns:a16="http://schemas.microsoft.com/office/drawing/2014/main" id="{A7E75DEC-716C-22C2-A6E3-8E2CCAD2F459}"/>
              </a:ext>
            </a:extLst>
          </p:cNvPr>
          <p:cNvCxnSpPr>
            <a:cxnSpLocks/>
          </p:cNvCxnSpPr>
          <p:nvPr/>
        </p:nvCxnSpPr>
        <p:spPr>
          <a:xfrm>
            <a:off x="3235425" y="4664094"/>
            <a:ext cx="0" cy="213617"/>
          </a:xfrm>
          <a:prstGeom prst="straightConnector1">
            <a:avLst/>
          </a:prstGeom>
          <a:noFill/>
          <a:ln w="19050" cap="flat" cmpd="sng" algn="ctr">
            <a:solidFill>
              <a:srgbClr val="EB9A99"/>
            </a:solidFill>
            <a:prstDash val="solid"/>
            <a:miter lim="800000"/>
            <a:tailEnd type="triangle"/>
          </a:ln>
          <a:effectLst/>
        </p:spPr>
      </p:cxnSp>
      <p:sp>
        <p:nvSpPr>
          <p:cNvPr id="1196" name="TextBox 1195">
            <a:extLst>
              <a:ext uri="{FF2B5EF4-FFF2-40B4-BE49-F238E27FC236}">
                <a16:creationId xmlns:a16="http://schemas.microsoft.com/office/drawing/2014/main" id="{CB752012-C4AC-2BA2-31AD-B013F3ECC466}"/>
              </a:ext>
            </a:extLst>
          </p:cNvPr>
          <p:cNvSpPr txBox="1"/>
          <p:nvPr/>
        </p:nvSpPr>
        <p:spPr>
          <a:xfrm>
            <a:off x="2900976" y="4640167"/>
            <a:ext cx="713657" cy="184666"/>
          </a:xfrm>
          <a:prstGeom prst="rect">
            <a:avLst/>
          </a:prstGeom>
          <a:noFill/>
          <a:ln>
            <a:noFill/>
          </a:ln>
        </p:spPr>
        <p:txBody>
          <a:bodyPr wrap="none" rtlCol="0">
            <a:spAutoFit/>
          </a:bodyPr>
          <a:lstStyle/>
          <a:p>
            <a:pPr>
              <a:buClrTx/>
              <a:buFontTx/>
              <a:buNone/>
            </a:pPr>
            <a:r>
              <a:rPr lang="en-US" sz="600" u="sng" kern="1200" dirty="0">
                <a:solidFill>
                  <a:srgbClr val="001F5F"/>
                </a:solidFill>
                <a:latin typeface="Aptos" panose="02110004020202020204"/>
                <a:ea typeface="+mn-ea"/>
                <a:cs typeface="+mn-cs"/>
              </a:rPr>
              <a:t>Implementation</a:t>
            </a:r>
          </a:p>
        </p:txBody>
      </p:sp>
      <p:sp>
        <p:nvSpPr>
          <p:cNvPr id="1197" name="Rounded Rectangle 1196">
            <a:extLst>
              <a:ext uri="{FF2B5EF4-FFF2-40B4-BE49-F238E27FC236}">
                <a16:creationId xmlns:a16="http://schemas.microsoft.com/office/drawing/2014/main" id="{5102070F-1826-546B-C141-710BF1DCF58C}"/>
              </a:ext>
            </a:extLst>
          </p:cNvPr>
          <p:cNvSpPr/>
          <p:nvPr/>
        </p:nvSpPr>
        <p:spPr>
          <a:xfrm>
            <a:off x="3482126" y="4519354"/>
            <a:ext cx="150268" cy="107627"/>
          </a:xfrm>
          <a:prstGeom prst="roundRect">
            <a:avLst/>
          </a:prstGeom>
          <a:solidFill>
            <a:srgbClr val="FFD79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dirty="0">
                <a:solidFill>
                  <a:srgbClr val="938120"/>
                </a:solidFill>
                <a:latin typeface="Aptos" panose="02110004020202020204"/>
              </a:rPr>
              <a:t>3</a:t>
            </a:r>
            <a:endParaRPr kumimoji="0" lang="en-US" sz="900" b="0" i="0" u="none" strike="noStrike" kern="1200" cap="none" spc="0" normalizeH="0" baseline="0" noProof="0" dirty="0">
              <a:ln>
                <a:noFill/>
              </a:ln>
              <a:solidFill>
                <a:srgbClr val="938120"/>
              </a:solidFill>
              <a:effectLst/>
              <a:uLnTx/>
              <a:uFillTx/>
              <a:latin typeface="Aptos" panose="02110004020202020204"/>
              <a:ea typeface="+mn-ea"/>
              <a:cs typeface="+mn-cs"/>
            </a:endParaRPr>
          </a:p>
        </p:txBody>
      </p:sp>
      <p:sp>
        <p:nvSpPr>
          <p:cNvPr id="1198" name="Rounded Rectangle 1197">
            <a:extLst>
              <a:ext uri="{FF2B5EF4-FFF2-40B4-BE49-F238E27FC236}">
                <a16:creationId xmlns:a16="http://schemas.microsoft.com/office/drawing/2014/main" id="{F4AA5DA5-A7B6-DC28-FF26-5825404786DE}"/>
              </a:ext>
            </a:extLst>
          </p:cNvPr>
          <p:cNvSpPr/>
          <p:nvPr/>
        </p:nvSpPr>
        <p:spPr>
          <a:xfrm>
            <a:off x="2857502" y="4523181"/>
            <a:ext cx="150268" cy="107627"/>
          </a:xfrm>
          <a:prstGeom prst="roundRect">
            <a:avLst/>
          </a:prstGeom>
          <a:solidFill>
            <a:srgbClr val="4EA72E">
              <a:lumMod val="60000"/>
              <a:lumOff val="4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156082"/>
                </a:solidFill>
                <a:effectLst/>
                <a:uLnTx/>
                <a:uFillTx/>
                <a:latin typeface="Aptos" panose="02110004020202020204"/>
                <a:ea typeface="+mn-ea"/>
                <a:cs typeface="+mn-cs"/>
              </a:rPr>
              <a:t>5</a:t>
            </a:r>
          </a:p>
        </p:txBody>
      </p:sp>
      <p:sp>
        <p:nvSpPr>
          <p:cNvPr id="1199" name="Rounded Rectangle 1198">
            <a:extLst>
              <a:ext uri="{FF2B5EF4-FFF2-40B4-BE49-F238E27FC236}">
                <a16:creationId xmlns:a16="http://schemas.microsoft.com/office/drawing/2014/main" id="{5489E053-8461-48F6-2C54-8DCDC72B10FF}"/>
              </a:ext>
            </a:extLst>
          </p:cNvPr>
          <p:cNvSpPr/>
          <p:nvPr/>
        </p:nvSpPr>
        <p:spPr>
          <a:xfrm>
            <a:off x="3165435" y="4595939"/>
            <a:ext cx="150268" cy="97843"/>
          </a:xfrm>
          <a:prstGeom prst="roundRect">
            <a:avLst/>
          </a:prstGeom>
          <a:solidFill>
            <a:srgbClr val="EA9A99"/>
          </a:solidFill>
          <a:ln w="19050" cap="flat" cmpd="sng" algn="ctr">
            <a:noFill/>
            <a:prstDash val="solid"/>
            <a:miter lim="800000"/>
          </a:ln>
          <a:effectLst/>
        </p:spPr>
        <p:txBody>
          <a:bodyPr rtlCol="0" anchor="ctr"/>
          <a:lstStyle/>
          <a:p>
            <a:pPr algn="ctr">
              <a:buClrTx/>
              <a:buFontTx/>
              <a:buNone/>
            </a:pPr>
            <a:r>
              <a:rPr lang="en-US" sz="900" dirty="0">
                <a:solidFill>
                  <a:srgbClr val="AD3834"/>
                </a:solidFill>
              </a:rPr>
              <a:t>2</a:t>
            </a:r>
          </a:p>
        </p:txBody>
      </p:sp>
      <p:sp>
        <p:nvSpPr>
          <p:cNvPr id="1200" name="Rounded Rectangle 1199">
            <a:extLst>
              <a:ext uri="{FF2B5EF4-FFF2-40B4-BE49-F238E27FC236}">
                <a16:creationId xmlns:a16="http://schemas.microsoft.com/office/drawing/2014/main" id="{5B4FAD37-07A8-CA6E-D64D-D13DA13F3F7C}"/>
              </a:ext>
            </a:extLst>
          </p:cNvPr>
          <p:cNvSpPr/>
          <p:nvPr/>
        </p:nvSpPr>
        <p:spPr>
          <a:xfrm>
            <a:off x="3162926" y="4870168"/>
            <a:ext cx="150268" cy="107627"/>
          </a:xfrm>
          <a:prstGeom prst="roundRect">
            <a:avLst/>
          </a:prstGeom>
          <a:solidFill>
            <a:srgbClr val="FFD79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dirty="0">
                <a:solidFill>
                  <a:srgbClr val="938120"/>
                </a:solidFill>
                <a:latin typeface="Aptos" panose="02110004020202020204"/>
              </a:rPr>
              <a:t>3</a:t>
            </a:r>
            <a:endParaRPr kumimoji="0" lang="en-US" sz="900" b="0" i="0" u="none" strike="noStrike" kern="1200" cap="none" spc="0" normalizeH="0" baseline="0" noProof="0" dirty="0">
              <a:ln>
                <a:noFill/>
              </a:ln>
              <a:solidFill>
                <a:srgbClr val="938120"/>
              </a:solidFill>
              <a:effectLst/>
              <a:uLnTx/>
              <a:uFillTx/>
              <a:latin typeface="Aptos" panose="02110004020202020204"/>
              <a:ea typeface="+mn-ea"/>
              <a:cs typeface="+mn-cs"/>
            </a:endParaRPr>
          </a:p>
        </p:txBody>
      </p:sp>
      <p:sp>
        <p:nvSpPr>
          <p:cNvPr id="1201" name="TextBox 1200">
            <a:extLst>
              <a:ext uri="{FF2B5EF4-FFF2-40B4-BE49-F238E27FC236}">
                <a16:creationId xmlns:a16="http://schemas.microsoft.com/office/drawing/2014/main" id="{33FD9854-630B-EE36-046D-A44BB1226767}"/>
              </a:ext>
            </a:extLst>
          </p:cNvPr>
          <p:cNvSpPr txBox="1"/>
          <p:nvPr/>
        </p:nvSpPr>
        <p:spPr>
          <a:xfrm>
            <a:off x="2978051" y="4930092"/>
            <a:ext cx="550151" cy="184666"/>
          </a:xfrm>
          <a:prstGeom prst="rect">
            <a:avLst/>
          </a:prstGeom>
          <a:noFill/>
          <a:ln>
            <a:noFill/>
          </a:ln>
        </p:spPr>
        <p:txBody>
          <a:bodyPr wrap="none" rtlCol="0">
            <a:spAutoFit/>
          </a:bodyPr>
          <a:lstStyle/>
          <a:p>
            <a:pPr>
              <a:buClrTx/>
              <a:buFontTx/>
              <a:buNone/>
            </a:pPr>
            <a:r>
              <a:rPr lang="en-US" sz="600" u="sng" kern="1200" dirty="0">
                <a:solidFill>
                  <a:srgbClr val="001F5F"/>
                </a:solidFill>
                <a:latin typeface="Aptos" panose="02110004020202020204"/>
                <a:ea typeface="+mn-ea"/>
                <a:cs typeface="+mn-cs"/>
              </a:rPr>
              <a:t>Experience</a:t>
            </a:r>
          </a:p>
        </p:txBody>
      </p:sp>
      <p:sp>
        <p:nvSpPr>
          <p:cNvPr id="1206" name="Google Shape;21537;p354">
            <a:extLst>
              <a:ext uri="{FF2B5EF4-FFF2-40B4-BE49-F238E27FC236}">
                <a16:creationId xmlns:a16="http://schemas.microsoft.com/office/drawing/2014/main" id="{5CBB18E3-86C0-7CBF-34A9-1B8C0686D92A}"/>
              </a:ext>
            </a:extLst>
          </p:cNvPr>
          <p:cNvSpPr txBox="1"/>
          <p:nvPr/>
        </p:nvSpPr>
        <p:spPr>
          <a:xfrm>
            <a:off x="4159649" y="3502006"/>
            <a:ext cx="1141071" cy="237311"/>
          </a:xfrm>
          <a:prstGeom prst="rect">
            <a:avLst/>
          </a:prstGeom>
          <a:noFill/>
          <a:ln>
            <a:noFill/>
          </a:ln>
        </p:spPr>
        <p:txBody>
          <a:bodyPr spcFirstLastPara="1" wrap="square" lIns="112400" tIns="56167" rIns="112400" bIns="56167" anchor="t" anchorCtr="0">
            <a:spAutoFit/>
          </a:bodyPr>
          <a:lstStyle/>
          <a:p>
            <a:pPr marL="171450" indent="-171450">
              <a:lnSpc>
                <a:spcPct val="115000"/>
              </a:lnSpc>
              <a:buFont typeface="Arial" panose="020B0604020202020204" pitchFamily="34" charset="0"/>
              <a:buChar char="•"/>
            </a:pPr>
            <a:r>
              <a:rPr lang="en-US" sz="700" dirty="0"/>
              <a:t>STEM Courses</a:t>
            </a:r>
            <a:endParaRPr lang="en" sz="700" dirty="0"/>
          </a:p>
        </p:txBody>
      </p:sp>
      <p:sp>
        <p:nvSpPr>
          <p:cNvPr id="1212" name="Rounded Rectangle 1211">
            <a:extLst>
              <a:ext uri="{FF2B5EF4-FFF2-40B4-BE49-F238E27FC236}">
                <a16:creationId xmlns:a16="http://schemas.microsoft.com/office/drawing/2014/main" id="{2231960F-48B5-8BE5-046E-0D7E5983F743}"/>
              </a:ext>
            </a:extLst>
          </p:cNvPr>
          <p:cNvSpPr/>
          <p:nvPr/>
        </p:nvSpPr>
        <p:spPr>
          <a:xfrm>
            <a:off x="2618547" y="2516575"/>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13" name="Rounded Rectangle 1212">
            <a:extLst>
              <a:ext uri="{FF2B5EF4-FFF2-40B4-BE49-F238E27FC236}">
                <a16:creationId xmlns:a16="http://schemas.microsoft.com/office/drawing/2014/main" id="{4CF7759C-DF5C-0860-76C0-1B89191D37B0}"/>
              </a:ext>
            </a:extLst>
          </p:cNvPr>
          <p:cNvSpPr/>
          <p:nvPr/>
        </p:nvSpPr>
        <p:spPr>
          <a:xfrm>
            <a:off x="1198970" y="2534535"/>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14" name="Google Shape;21518;p354">
            <a:extLst>
              <a:ext uri="{FF2B5EF4-FFF2-40B4-BE49-F238E27FC236}">
                <a16:creationId xmlns:a16="http://schemas.microsoft.com/office/drawing/2014/main" id="{1F5A9967-7DBC-48A2-FE66-757F45016BED}"/>
              </a:ext>
            </a:extLst>
          </p:cNvPr>
          <p:cNvSpPr txBox="1"/>
          <p:nvPr/>
        </p:nvSpPr>
        <p:spPr>
          <a:xfrm>
            <a:off x="1256500" y="2438289"/>
            <a:ext cx="1122465" cy="191599"/>
          </a:xfrm>
          <a:prstGeom prst="rect">
            <a:avLst/>
          </a:prstGeom>
          <a:noFill/>
          <a:ln>
            <a:noFill/>
          </a:ln>
        </p:spPr>
        <p:txBody>
          <a:bodyPr spcFirstLastPara="1" wrap="square" lIns="83067" tIns="41533" rIns="83067" bIns="41533" anchor="t" anchorCtr="0">
            <a:spAutoFit/>
          </a:bodyPr>
          <a:lstStyle/>
          <a:p>
            <a:pPr algn="ctr"/>
            <a:r>
              <a:rPr lang="en" sz="700" b="1" dirty="0">
                <a:solidFill>
                  <a:srgbClr val="7F7F7F"/>
                </a:solidFill>
              </a:rPr>
              <a:t>Leaps &amp; DPs</a:t>
            </a:r>
            <a:endParaRPr sz="700" dirty="0"/>
          </a:p>
        </p:txBody>
      </p:sp>
      <p:sp>
        <p:nvSpPr>
          <p:cNvPr id="1215" name="Google Shape;21536;p354">
            <a:extLst>
              <a:ext uri="{FF2B5EF4-FFF2-40B4-BE49-F238E27FC236}">
                <a16:creationId xmlns:a16="http://schemas.microsoft.com/office/drawing/2014/main" id="{E054ED87-72F7-1AEC-4543-32BD81B3C7C5}"/>
              </a:ext>
            </a:extLst>
          </p:cNvPr>
          <p:cNvSpPr txBox="1"/>
          <p:nvPr/>
        </p:nvSpPr>
        <p:spPr>
          <a:xfrm>
            <a:off x="2691735" y="2585391"/>
            <a:ext cx="875168" cy="608951"/>
          </a:xfrm>
          <a:prstGeom prst="rect">
            <a:avLst/>
          </a:prstGeom>
          <a:noFill/>
          <a:ln>
            <a:noFill/>
          </a:ln>
        </p:spPr>
        <p:txBody>
          <a:bodyPr spcFirstLastPara="1" wrap="square" lIns="112400" tIns="56167" rIns="112400" bIns="56167" anchor="t" anchorCtr="0">
            <a:spAutoFit/>
          </a:bodyPr>
          <a:lstStyle/>
          <a:p>
            <a:pPr marL="58738" indent="-58738">
              <a:lnSpc>
                <a:spcPct val="115000"/>
              </a:lnSpc>
              <a:buFont typeface="Arial" panose="020B0604020202020204" pitchFamily="34" charset="0"/>
              <a:buChar char="•"/>
            </a:pPr>
            <a:r>
              <a:rPr lang="en-US" sz="700" dirty="0"/>
              <a:t>Algebra</a:t>
            </a:r>
          </a:p>
          <a:p>
            <a:pPr marL="58738" indent="-58738">
              <a:lnSpc>
                <a:spcPct val="115000"/>
              </a:lnSpc>
              <a:buFont typeface="Arial" panose="020B0604020202020204" pitchFamily="34" charset="0"/>
              <a:buChar char="•"/>
            </a:pPr>
            <a:r>
              <a:rPr lang="en-US" sz="700" dirty="0"/>
              <a:t>Calculus</a:t>
            </a:r>
          </a:p>
          <a:p>
            <a:pPr marL="58738" indent="-58738">
              <a:lnSpc>
                <a:spcPct val="115000"/>
              </a:lnSpc>
              <a:buFont typeface="Arial" panose="020B0604020202020204" pitchFamily="34" charset="0"/>
              <a:buChar char="•"/>
            </a:pPr>
            <a:r>
              <a:rPr lang="en-US" sz="700" u="sng" dirty="0"/>
              <a:t>Geometry</a:t>
            </a:r>
          </a:p>
          <a:p>
            <a:pPr marL="58738" indent="-58738">
              <a:lnSpc>
                <a:spcPct val="115000"/>
              </a:lnSpc>
              <a:buFont typeface="Arial" panose="020B0604020202020204" pitchFamily="34" charset="0"/>
              <a:buChar char="•"/>
            </a:pPr>
            <a:r>
              <a:rPr lang="en-US" sz="700" dirty="0"/>
              <a:t>Math Block</a:t>
            </a:r>
            <a:endParaRPr sz="700" dirty="0"/>
          </a:p>
        </p:txBody>
      </p:sp>
      <p:sp>
        <p:nvSpPr>
          <p:cNvPr id="1216" name="Google Shape;21507;p354">
            <a:extLst>
              <a:ext uri="{FF2B5EF4-FFF2-40B4-BE49-F238E27FC236}">
                <a16:creationId xmlns:a16="http://schemas.microsoft.com/office/drawing/2014/main" id="{DBC50B4D-637E-7367-A147-DB2082AA95C2}"/>
              </a:ext>
            </a:extLst>
          </p:cNvPr>
          <p:cNvSpPr txBox="1"/>
          <p:nvPr/>
        </p:nvSpPr>
        <p:spPr>
          <a:xfrm>
            <a:off x="2699403" y="2418668"/>
            <a:ext cx="1085199" cy="191599"/>
          </a:xfrm>
          <a:prstGeom prst="rect">
            <a:avLst/>
          </a:prstGeom>
          <a:noFill/>
          <a:ln>
            <a:noFill/>
          </a:ln>
        </p:spPr>
        <p:txBody>
          <a:bodyPr spcFirstLastPara="1" wrap="square" lIns="83067" tIns="41533" rIns="83067" bIns="41533" anchor="t" anchorCtr="0">
            <a:spAutoFit/>
          </a:bodyPr>
          <a:lstStyle/>
          <a:p>
            <a:pPr algn="ctr"/>
            <a:r>
              <a:rPr lang="en" sz="700" b="1" dirty="0">
                <a:solidFill>
                  <a:srgbClr val="7F7F7F"/>
                </a:solidFill>
              </a:rPr>
              <a:t>Targeted Outcomes</a:t>
            </a:r>
            <a:endParaRPr sz="1200" dirty="0"/>
          </a:p>
        </p:txBody>
      </p:sp>
      <p:sp>
        <p:nvSpPr>
          <p:cNvPr id="1217" name="Google Shape;21536;p354">
            <a:extLst>
              <a:ext uri="{FF2B5EF4-FFF2-40B4-BE49-F238E27FC236}">
                <a16:creationId xmlns:a16="http://schemas.microsoft.com/office/drawing/2014/main" id="{F72650AF-F733-0DF0-FFEE-857B6681DC95}"/>
              </a:ext>
            </a:extLst>
          </p:cNvPr>
          <p:cNvSpPr txBox="1"/>
          <p:nvPr/>
        </p:nvSpPr>
        <p:spPr>
          <a:xfrm>
            <a:off x="1257441" y="2590988"/>
            <a:ext cx="1107358" cy="608951"/>
          </a:xfrm>
          <a:prstGeom prst="rect">
            <a:avLst/>
          </a:prstGeom>
          <a:noFill/>
          <a:ln>
            <a:noFill/>
          </a:ln>
        </p:spPr>
        <p:txBody>
          <a:bodyPr spcFirstLastPara="1" wrap="square" lIns="112400" tIns="56167" rIns="112400" bIns="56167" anchor="t" anchorCtr="0">
            <a:spAutoFit/>
          </a:bodyPr>
          <a:lstStyle/>
          <a:p>
            <a:pPr marL="58738" indent="-58738">
              <a:lnSpc>
                <a:spcPct val="115000"/>
              </a:lnSpc>
              <a:buFont typeface="Arial" panose="020B0604020202020204" pitchFamily="34" charset="0"/>
              <a:buChar char="•"/>
            </a:pPr>
            <a:r>
              <a:rPr lang="en-US" sz="700" dirty="0"/>
              <a:t>Customization</a:t>
            </a:r>
          </a:p>
          <a:p>
            <a:pPr marL="58738" indent="-58738">
              <a:lnSpc>
                <a:spcPct val="115000"/>
              </a:lnSpc>
              <a:buFont typeface="Arial" panose="020B0604020202020204" pitchFamily="34" charset="0"/>
              <a:buChar char="•"/>
            </a:pPr>
            <a:r>
              <a:rPr lang="en-US" sz="700" dirty="0"/>
              <a:t>Agency</a:t>
            </a:r>
          </a:p>
          <a:p>
            <a:pPr marL="58738" indent="-58738">
              <a:lnSpc>
                <a:spcPct val="115000"/>
              </a:lnSpc>
              <a:buFont typeface="Arial" panose="020B0604020202020204" pitchFamily="34" charset="0"/>
              <a:buChar char="•"/>
            </a:pPr>
            <a:r>
              <a:rPr lang="en-US" sz="700" dirty="0"/>
              <a:t>High expectation and rigorous learning</a:t>
            </a:r>
          </a:p>
        </p:txBody>
      </p:sp>
      <p:sp>
        <p:nvSpPr>
          <p:cNvPr id="1218" name="Rounded Rectangle 1217">
            <a:extLst>
              <a:ext uri="{FF2B5EF4-FFF2-40B4-BE49-F238E27FC236}">
                <a16:creationId xmlns:a16="http://schemas.microsoft.com/office/drawing/2014/main" id="{DCABE352-E1E5-9255-DB1C-2F96CFBE5499}"/>
              </a:ext>
            </a:extLst>
          </p:cNvPr>
          <p:cNvSpPr/>
          <p:nvPr/>
        </p:nvSpPr>
        <p:spPr>
          <a:xfrm>
            <a:off x="4127922" y="2521972"/>
            <a:ext cx="1255824" cy="757779"/>
          </a:xfrm>
          <a:prstGeom prst="roundRect">
            <a:avLst/>
          </a:prstGeom>
          <a:solidFill>
            <a:srgbClr val="B5DFA8"/>
          </a:solidFill>
          <a:ln w="76200">
            <a:solidFill>
              <a:srgbClr val="C9EB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19" name="Google Shape;21516;p354">
            <a:extLst>
              <a:ext uri="{FF2B5EF4-FFF2-40B4-BE49-F238E27FC236}">
                <a16:creationId xmlns:a16="http://schemas.microsoft.com/office/drawing/2014/main" id="{35155070-2131-8D99-1D04-BEC5C6456027}"/>
              </a:ext>
            </a:extLst>
          </p:cNvPr>
          <p:cNvSpPr txBox="1"/>
          <p:nvPr/>
        </p:nvSpPr>
        <p:spPr>
          <a:xfrm>
            <a:off x="4260442" y="2433912"/>
            <a:ext cx="1020423" cy="191599"/>
          </a:xfrm>
          <a:prstGeom prst="rect">
            <a:avLst/>
          </a:prstGeom>
          <a:noFill/>
          <a:ln>
            <a:noFill/>
          </a:ln>
        </p:spPr>
        <p:txBody>
          <a:bodyPr spcFirstLastPara="1" wrap="square" lIns="83067" tIns="41533" rIns="83067" bIns="41533" anchor="t" anchorCtr="0">
            <a:spAutoFit/>
          </a:bodyPr>
          <a:lstStyle/>
          <a:p>
            <a:pPr algn="ctr"/>
            <a:r>
              <a:rPr lang="en" sz="700" b="1" dirty="0">
                <a:solidFill>
                  <a:srgbClr val="7F7F7F"/>
                </a:solidFill>
              </a:rPr>
              <a:t>Targeted Learners</a:t>
            </a:r>
            <a:endParaRPr sz="1200" dirty="0"/>
          </a:p>
        </p:txBody>
      </p:sp>
      <p:sp>
        <p:nvSpPr>
          <p:cNvPr id="1220" name="Google Shape;21537;p354">
            <a:extLst>
              <a:ext uri="{FF2B5EF4-FFF2-40B4-BE49-F238E27FC236}">
                <a16:creationId xmlns:a16="http://schemas.microsoft.com/office/drawing/2014/main" id="{76856CA6-1720-497E-1507-31EC99A44025}"/>
              </a:ext>
            </a:extLst>
          </p:cNvPr>
          <p:cNvSpPr txBox="1"/>
          <p:nvPr/>
        </p:nvSpPr>
        <p:spPr>
          <a:xfrm>
            <a:off x="4169602" y="2577199"/>
            <a:ext cx="1141071" cy="608951"/>
          </a:xfrm>
          <a:prstGeom prst="rect">
            <a:avLst/>
          </a:prstGeom>
          <a:noFill/>
          <a:ln>
            <a:noFill/>
          </a:ln>
        </p:spPr>
        <p:txBody>
          <a:bodyPr spcFirstLastPara="1" wrap="square" lIns="112400" tIns="56167" rIns="112400" bIns="56167" anchor="t" anchorCtr="0">
            <a:spAutoFit/>
          </a:bodyPr>
          <a:lstStyle/>
          <a:p>
            <a:pPr>
              <a:lnSpc>
                <a:spcPct val="115000"/>
              </a:lnSpc>
            </a:pPr>
            <a:r>
              <a:rPr lang="en" sz="700" dirty="0"/>
              <a:t>High performance-based initiation, with prior </a:t>
            </a:r>
            <a:r>
              <a:rPr lang="en-US" sz="700" dirty="0"/>
              <a:t>knowledge of Algebraic concepts</a:t>
            </a:r>
            <a:endParaRPr lang="en" sz="700" dirty="0"/>
          </a:p>
        </p:txBody>
      </p:sp>
    </p:spTree>
    <p:extLst>
      <p:ext uri="{BB962C8B-B14F-4D97-AF65-F5344CB8AC3E}">
        <p14:creationId xmlns:p14="http://schemas.microsoft.com/office/powerpoint/2010/main" val="3971893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1060BD-E1E9-6EC9-3F9D-CB41E2C28D51}"/>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F7359E91-449F-9C43-39AC-EFFDA002F933}"/>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4D946E4A-1140-3C40-0692-27943FB936AE}"/>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3" name="Google Shape;21506;p354">
            <a:extLst>
              <a:ext uri="{FF2B5EF4-FFF2-40B4-BE49-F238E27FC236}">
                <a16:creationId xmlns:a16="http://schemas.microsoft.com/office/drawing/2014/main" id="{8A7C003F-BF37-1FF0-1AAC-C762720DCB63}"/>
              </a:ext>
            </a:extLst>
          </p:cNvPr>
          <p:cNvSpPr txBox="1"/>
          <p:nvPr/>
        </p:nvSpPr>
        <p:spPr>
          <a:xfrm>
            <a:off x="2604134" y="6261106"/>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sp>
        <p:nvSpPr>
          <p:cNvPr id="27" name="Google Shape;21509;p354">
            <a:extLst>
              <a:ext uri="{FF2B5EF4-FFF2-40B4-BE49-F238E27FC236}">
                <a16:creationId xmlns:a16="http://schemas.microsoft.com/office/drawing/2014/main" id="{67A33C05-255E-C755-A2F5-2F8DE9963CDD}"/>
              </a:ext>
            </a:extLst>
          </p:cNvPr>
          <p:cNvSpPr txBox="1"/>
          <p:nvPr/>
        </p:nvSpPr>
        <p:spPr>
          <a:xfrm>
            <a:off x="1760834"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28" name="Google Shape;21510;p354">
            <a:extLst>
              <a:ext uri="{FF2B5EF4-FFF2-40B4-BE49-F238E27FC236}">
                <a16:creationId xmlns:a16="http://schemas.microsoft.com/office/drawing/2014/main" id="{E1A75421-5C5A-245B-0497-21FD6C3EE2F5}"/>
              </a:ext>
            </a:extLst>
          </p:cNvPr>
          <p:cNvSpPr txBox="1"/>
          <p:nvPr/>
        </p:nvSpPr>
        <p:spPr>
          <a:xfrm>
            <a:off x="1648671" y="5242985"/>
            <a:ext cx="1364424" cy="338554"/>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r>
              <a:rPr lang="en" sz="1600" dirty="0"/>
              <a:t>Outcomes</a:t>
            </a:r>
            <a:endParaRPr sz="1600" dirty="0"/>
          </a:p>
        </p:txBody>
      </p:sp>
      <p:sp>
        <p:nvSpPr>
          <p:cNvPr id="29" name="Google Shape;21511;p354">
            <a:extLst>
              <a:ext uri="{FF2B5EF4-FFF2-40B4-BE49-F238E27FC236}">
                <a16:creationId xmlns:a16="http://schemas.microsoft.com/office/drawing/2014/main" id="{378A3084-6CD1-729D-F977-6A7CEF5B9D80}"/>
              </a:ext>
            </a:extLst>
          </p:cNvPr>
          <p:cNvSpPr txBox="1"/>
          <p:nvPr/>
        </p:nvSpPr>
        <p:spPr>
          <a:xfrm>
            <a:off x="3603281" y="5242415"/>
            <a:ext cx="1240385" cy="338554"/>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r>
              <a:rPr lang="en" sz="1600" dirty="0"/>
              <a:t>Experience</a:t>
            </a:r>
            <a:endParaRPr sz="1600" dirty="0"/>
          </a:p>
        </p:txBody>
      </p:sp>
      <p:sp>
        <p:nvSpPr>
          <p:cNvPr id="30" name="Google Shape;123;p25">
            <a:extLst>
              <a:ext uri="{FF2B5EF4-FFF2-40B4-BE49-F238E27FC236}">
                <a16:creationId xmlns:a16="http://schemas.microsoft.com/office/drawing/2014/main" id="{E0290457-6281-057C-F9B1-9E799C698F1A}"/>
              </a:ext>
            </a:extLst>
          </p:cNvPr>
          <p:cNvSpPr/>
          <p:nvPr/>
        </p:nvSpPr>
        <p:spPr>
          <a:xfrm>
            <a:off x="1793857" y="5593429"/>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32" name="TextBox 31">
            <a:extLst>
              <a:ext uri="{FF2B5EF4-FFF2-40B4-BE49-F238E27FC236}">
                <a16:creationId xmlns:a16="http://schemas.microsoft.com/office/drawing/2014/main" id="{E61F6988-AD83-621D-C42C-D40008C2A046}"/>
              </a:ext>
            </a:extLst>
          </p:cNvPr>
          <p:cNvSpPr txBox="1"/>
          <p:nvPr/>
        </p:nvSpPr>
        <p:spPr>
          <a:xfrm>
            <a:off x="2552967" y="5664496"/>
            <a:ext cx="1520589"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 Performance ---</a:t>
            </a:r>
          </a:p>
        </p:txBody>
      </p:sp>
      <p:sp>
        <p:nvSpPr>
          <p:cNvPr id="34" name="Google Shape;122;p25">
            <a:extLst>
              <a:ext uri="{FF2B5EF4-FFF2-40B4-BE49-F238E27FC236}">
                <a16:creationId xmlns:a16="http://schemas.microsoft.com/office/drawing/2014/main" id="{C5C785D6-9EB1-797F-B3EF-17D71D6D175B}"/>
              </a:ext>
            </a:extLst>
          </p:cNvPr>
          <p:cNvSpPr/>
          <p:nvPr/>
        </p:nvSpPr>
        <p:spPr>
          <a:xfrm>
            <a:off x="3754304" y="5606992"/>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sp>
        <p:nvSpPr>
          <p:cNvPr id="35" name="TextBox 34">
            <a:extLst>
              <a:ext uri="{FF2B5EF4-FFF2-40B4-BE49-F238E27FC236}">
                <a16:creationId xmlns:a16="http://schemas.microsoft.com/office/drawing/2014/main" id="{E871E8EE-0726-EA47-F390-3BE876A682B9}"/>
              </a:ext>
            </a:extLst>
          </p:cNvPr>
          <p:cNvSpPr txBox="1"/>
          <p:nvPr/>
        </p:nvSpPr>
        <p:spPr>
          <a:xfrm>
            <a:off x="1403431"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pic>
        <p:nvPicPr>
          <p:cNvPr id="37" name="Google Shape;2017;p43">
            <a:extLst>
              <a:ext uri="{FF2B5EF4-FFF2-40B4-BE49-F238E27FC236}">
                <a16:creationId xmlns:a16="http://schemas.microsoft.com/office/drawing/2014/main" id="{BB2EAFD1-EEE5-697B-D32C-267C071BC74D}"/>
              </a:ext>
            </a:extLst>
          </p:cNvPr>
          <p:cNvPicPr preferRelativeResize="0"/>
          <p:nvPr/>
        </p:nvPicPr>
        <p:blipFill rotWithShape="1">
          <a:blip r:embed="rId4">
            <a:alphaModFix/>
          </a:blip>
          <a:srcRect t="57094"/>
          <a:stretch/>
        </p:blipFill>
        <p:spPr>
          <a:xfrm rot="10800000">
            <a:off x="2105086" y="6181996"/>
            <a:ext cx="568466" cy="244066"/>
          </a:xfrm>
          <a:prstGeom prst="rect">
            <a:avLst/>
          </a:prstGeom>
          <a:noFill/>
          <a:ln>
            <a:noFill/>
          </a:ln>
        </p:spPr>
      </p:pic>
      <p:sp>
        <p:nvSpPr>
          <p:cNvPr id="38" name="Google Shape;2019;p43">
            <a:extLst>
              <a:ext uri="{FF2B5EF4-FFF2-40B4-BE49-F238E27FC236}">
                <a16:creationId xmlns:a16="http://schemas.microsoft.com/office/drawing/2014/main" id="{E0DF2D19-4B15-C1AB-64CA-13B41FBE9995}"/>
              </a:ext>
            </a:extLst>
          </p:cNvPr>
          <p:cNvSpPr/>
          <p:nvPr/>
        </p:nvSpPr>
        <p:spPr>
          <a:xfrm>
            <a:off x="2320554" y="6307081"/>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152" name="Google Shape;21512;p354">
            <a:extLst>
              <a:ext uri="{FF2B5EF4-FFF2-40B4-BE49-F238E27FC236}">
                <a16:creationId xmlns:a16="http://schemas.microsoft.com/office/drawing/2014/main" id="{6DAAFA19-2369-4DD3-FA99-66EA005AC6BB}"/>
              </a:ext>
            </a:extLst>
          </p:cNvPr>
          <p:cNvGrpSpPr/>
          <p:nvPr/>
        </p:nvGrpSpPr>
        <p:grpSpPr>
          <a:xfrm>
            <a:off x="2383518" y="980389"/>
            <a:ext cx="1583657" cy="615695"/>
            <a:chOff x="7996645" y="4997800"/>
            <a:chExt cx="1742072" cy="677281"/>
          </a:xfrm>
        </p:grpSpPr>
        <p:sp>
          <p:nvSpPr>
            <p:cNvPr id="1155" name="Google Shape;21513;p354">
              <a:extLst>
                <a:ext uri="{FF2B5EF4-FFF2-40B4-BE49-F238E27FC236}">
                  <a16:creationId xmlns:a16="http://schemas.microsoft.com/office/drawing/2014/main" id="{1806E70E-5E5C-7CE2-D0A0-42231E6A0561}"/>
                </a:ext>
              </a:extLst>
            </p:cNvPr>
            <p:cNvSpPr txBox="1"/>
            <p:nvPr/>
          </p:nvSpPr>
          <p:spPr>
            <a:xfrm>
              <a:off x="7996645" y="5041113"/>
              <a:ext cx="1545903" cy="633968"/>
            </a:xfrm>
            <a:prstGeom prst="rect">
              <a:avLst/>
            </a:prstGeom>
            <a:noFill/>
            <a:ln>
              <a:noFill/>
            </a:ln>
          </p:spPr>
          <p:txBody>
            <a:bodyPr spcFirstLastPara="1" wrap="square" lIns="83067" tIns="41533" rIns="83067" bIns="41533" anchor="t" anchorCtr="0">
              <a:spAutoFit/>
            </a:bodyPr>
            <a:lstStyle/>
            <a:p>
              <a:r>
                <a:rPr lang="en" sz="3200" dirty="0">
                  <a:solidFill>
                    <a:srgbClr val="000000"/>
                  </a:solidFill>
                  <a:latin typeface="Arial"/>
                  <a:ea typeface="Arial"/>
                  <a:cs typeface="Arial"/>
                  <a:sym typeface="Arial"/>
                </a:rPr>
                <a:t>• • • • •               </a:t>
              </a:r>
              <a:endParaRPr dirty="0"/>
            </a:p>
          </p:txBody>
        </p:sp>
        <p:sp>
          <p:nvSpPr>
            <p:cNvPr id="1157" name="Google Shape;21514;p354">
              <a:extLst>
                <a:ext uri="{FF2B5EF4-FFF2-40B4-BE49-F238E27FC236}">
                  <a16:creationId xmlns:a16="http://schemas.microsoft.com/office/drawing/2014/main" id="{50CD3E96-CC67-63C1-34A5-FE8893405ACA}"/>
                </a:ext>
              </a:extLst>
            </p:cNvPr>
            <p:cNvSpPr txBox="1"/>
            <p:nvPr/>
          </p:nvSpPr>
          <p:spPr>
            <a:xfrm>
              <a:off x="8849517" y="4997800"/>
              <a:ext cx="889200" cy="566255"/>
            </a:xfrm>
            <a:prstGeom prst="rect">
              <a:avLst/>
            </a:prstGeom>
            <a:noFill/>
            <a:ln>
              <a:noFill/>
            </a:ln>
          </p:spPr>
          <p:txBody>
            <a:bodyPr spcFirstLastPara="1" wrap="square" lIns="83067" tIns="41533" rIns="83067" bIns="41533" anchor="t" anchorCtr="0">
              <a:spAutoFit/>
            </a:bodyPr>
            <a:lstStyle/>
            <a:p>
              <a:r>
                <a:rPr lang="en" sz="2800" dirty="0">
                  <a:solidFill>
                    <a:srgbClr val="000000"/>
                  </a:solidFill>
                  <a:latin typeface="Arial"/>
                  <a:ea typeface="Arial"/>
                  <a:cs typeface="Arial"/>
                  <a:sym typeface="Arial"/>
                </a:rPr>
                <a:t>   </a:t>
              </a:r>
              <a:r>
                <a:rPr lang="en" sz="1200" dirty="0">
                  <a:solidFill>
                    <a:srgbClr val="000000"/>
                  </a:solidFill>
                  <a:latin typeface="Arial"/>
                  <a:ea typeface="Arial"/>
                  <a:cs typeface="Arial"/>
                  <a:sym typeface="Arial"/>
                </a:rPr>
                <a:t>  </a:t>
              </a:r>
              <a:r>
                <a:rPr lang="en" sz="2000" dirty="0">
                  <a:solidFill>
                    <a:srgbClr val="000000"/>
                  </a:solidFill>
                  <a:latin typeface="Arial"/>
                  <a:ea typeface="Arial"/>
                  <a:cs typeface="Arial"/>
                  <a:sym typeface="Arial"/>
                </a:rPr>
                <a:t> ○</a:t>
              </a:r>
              <a:endParaRPr sz="2800" dirty="0"/>
            </a:p>
          </p:txBody>
        </p:sp>
      </p:grpSp>
      <p:sp>
        <p:nvSpPr>
          <p:cNvPr id="2" name="Rounded Rectangle 1">
            <a:extLst>
              <a:ext uri="{FF2B5EF4-FFF2-40B4-BE49-F238E27FC236}">
                <a16:creationId xmlns:a16="http://schemas.microsoft.com/office/drawing/2014/main" id="{76AFE9A1-F490-EBF7-459A-DA4152F689F9}"/>
              </a:ext>
            </a:extLst>
          </p:cNvPr>
          <p:cNvSpPr/>
          <p:nvPr/>
        </p:nvSpPr>
        <p:spPr>
          <a:xfrm>
            <a:off x="916612" y="2662165"/>
            <a:ext cx="4568398" cy="2470023"/>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A92B3729-A65B-5F94-F200-BC3A6DF585F2}"/>
              </a:ext>
            </a:extLst>
          </p:cNvPr>
          <p:cNvSpPr txBox="1"/>
          <p:nvPr/>
        </p:nvSpPr>
        <p:spPr>
          <a:xfrm>
            <a:off x="1512046" y="3013009"/>
            <a:ext cx="1436818" cy="400110"/>
          </a:xfrm>
          <a:prstGeom prst="rect">
            <a:avLst/>
          </a:prstGeom>
          <a:noFill/>
        </p:spPr>
        <p:txBody>
          <a:bodyPr wrap="square" rtlCol="0">
            <a:spAutoFit/>
          </a:bodyPr>
          <a:lstStyle/>
          <a:p>
            <a:r>
              <a:rPr lang="en-US" sz="2000" u="sng" dirty="0">
                <a:solidFill>
                  <a:schemeClr val="tx2">
                    <a:lumMod val="50000"/>
                    <a:lumOff val="50000"/>
                  </a:schemeClr>
                </a:solidFill>
              </a:rPr>
              <a:t>Design</a:t>
            </a:r>
          </a:p>
        </p:txBody>
      </p:sp>
      <p:sp>
        <p:nvSpPr>
          <p:cNvPr id="11" name="TextBox 10">
            <a:extLst>
              <a:ext uri="{FF2B5EF4-FFF2-40B4-BE49-F238E27FC236}">
                <a16:creationId xmlns:a16="http://schemas.microsoft.com/office/drawing/2014/main" id="{BCC51F3E-6E79-F188-1E05-0B12C39B2FED}"/>
              </a:ext>
            </a:extLst>
          </p:cNvPr>
          <p:cNvSpPr txBox="1"/>
          <p:nvPr/>
        </p:nvSpPr>
        <p:spPr>
          <a:xfrm>
            <a:off x="3359992" y="2994799"/>
            <a:ext cx="2043504" cy="400110"/>
          </a:xfrm>
          <a:prstGeom prst="rect">
            <a:avLst/>
          </a:prstGeom>
          <a:noFill/>
        </p:spPr>
        <p:txBody>
          <a:bodyPr wrap="square" rtlCol="0">
            <a:spAutoFit/>
          </a:bodyPr>
          <a:lstStyle/>
          <a:p>
            <a:r>
              <a:rPr lang="en-US" sz="2000" u="sng" dirty="0">
                <a:solidFill>
                  <a:schemeClr val="tx2">
                    <a:lumMod val="50000"/>
                    <a:lumOff val="50000"/>
                  </a:schemeClr>
                </a:solidFill>
              </a:rPr>
              <a:t>Conditions</a:t>
            </a:r>
          </a:p>
        </p:txBody>
      </p:sp>
      <p:cxnSp>
        <p:nvCxnSpPr>
          <p:cNvPr id="20" name="Straight Connector 19">
            <a:extLst>
              <a:ext uri="{FF2B5EF4-FFF2-40B4-BE49-F238E27FC236}">
                <a16:creationId xmlns:a16="http://schemas.microsoft.com/office/drawing/2014/main" id="{67076777-8DA4-9834-6B17-4D001B22B88F}"/>
              </a:ext>
            </a:extLst>
          </p:cNvPr>
          <p:cNvCxnSpPr>
            <a:cxnSpLocks/>
            <a:stCxn id="6" idx="2"/>
          </p:cNvCxnSpPr>
          <p:nvPr/>
        </p:nvCxnSpPr>
        <p:spPr>
          <a:xfrm>
            <a:off x="2230455" y="3413119"/>
            <a:ext cx="906623" cy="657651"/>
          </a:xfrm>
          <a:prstGeom prst="line">
            <a:avLst/>
          </a:prstGeom>
          <a:ln w="38100">
            <a:solidFill>
              <a:srgbClr val="C9D213"/>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E3EC637-8781-5A48-6D32-686B0F441D8E}"/>
              </a:ext>
            </a:extLst>
          </p:cNvPr>
          <p:cNvCxnSpPr>
            <a:cxnSpLocks/>
            <a:stCxn id="11" idx="2"/>
          </p:cNvCxnSpPr>
          <p:nvPr/>
        </p:nvCxnSpPr>
        <p:spPr>
          <a:xfrm flipH="1">
            <a:off x="3137078" y="3394909"/>
            <a:ext cx="1244666" cy="675861"/>
          </a:xfrm>
          <a:prstGeom prst="line">
            <a:avLst/>
          </a:prstGeom>
          <a:ln w="38100">
            <a:solidFill>
              <a:srgbClr val="8EDA73"/>
            </a:solidFill>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1E7F7FC2-EF50-32DC-35D7-481753B27961}"/>
              </a:ext>
            </a:extLst>
          </p:cNvPr>
          <p:cNvCxnSpPr>
            <a:cxnSpLocks/>
          </p:cNvCxnSpPr>
          <p:nvPr/>
        </p:nvCxnSpPr>
        <p:spPr>
          <a:xfrm>
            <a:off x="3123848" y="4028655"/>
            <a:ext cx="13230" cy="912287"/>
          </a:xfrm>
          <a:prstGeom prst="straightConnector1">
            <a:avLst/>
          </a:prstGeom>
          <a:ln w="38100">
            <a:solidFill>
              <a:srgbClr val="EB9999"/>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42551764-94E1-2CF3-39CC-6BADB2B62031}"/>
              </a:ext>
            </a:extLst>
          </p:cNvPr>
          <p:cNvSpPr txBox="1"/>
          <p:nvPr/>
        </p:nvSpPr>
        <p:spPr>
          <a:xfrm>
            <a:off x="2147916" y="4070770"/>
            <a:ext cx="1978323" cy="400110"/>
          </a:xfrm>
          <a:prstGeom prst="rect">
            <a:avLst/>
          </a:prstGeom>
          <a:noFill/>
        </p:spPr>
        <p:txBody>
          <a:bodyPr wrap="square" rtlCol="0">
            <a:spAutoFit/>
          </a:bodyPr>
          <a:lstStyle/>
          <a:p>
            <a:r>
              <a:rPr lang="en-US" sz="2000" u="sng" dirty="0">
                <a:solidFill>
                  <a:schemeClr val="tx2">
                    <a:lumMod val="50000"/>
                    <a:lumOff val="50000"/>
                  </a:schemeClr>
                </a:solidFill>
              </a:rPr>
              <a:t>Implementation</a:t>
            </a:r>
          </a:p>
        </p:txBody>
      </p:sp>
      <p:sp>
        <p:nvSpPr>
          <p:cNvPr id="33" name="TextBox 32">
            <a:extLst>
              <a:ext uri="{FF2B5EF4-FFF2-40B4-BE49-F238E27FC236}">
                <a16:creationId xmlns:a16="http://schemas.microsoft.com/office/drawing/2014/main" id="{FBBABB50-50B1-BFFE-B3D6-D4B2530645B0}"/>
              </a:ext>
            </a:extLst>
          </p:cNvPr>
          <p:cNvSpPr txBox="1"/>
          <p:nvPr/>
        </p:nvSpPr>
        <p:spPr>
          <a:xfrm>
            <a:off x="4651518" y="3188326"/>
            <a:ext cx="375424" cy="276999"/>
          </a:xfrm>
          <a:prstGeom prst="rect">
            <a:avLst/>
          </a:prstGeom>
          <a:noFill/>
        </p:spPr>
        <p:txBody>
          <a:bodyPr wrap="none" rtlCol="0">
            <a:spAutoFit/>
          </a:bodyPr>
          <a:lstStyle/>
          <a:p>
            <a:r>
              <a:rPr lang="en-US" sz="1200" dirty="0">
                <a:solidFill>
                  <a:schemeClr val="tx1"/>
                </a:solidFill>
              </a:rPr>
              <a:t>5H</a:t>
            </a:r>
            <a:endParaRPr lang="en-US" sz="2800" dirty="0">
              <a:solidFill>
                <a:schemeClr val="tx1"/>
              </a:solidFill>
            </a:endParaRPr>
          </a:p>
        </p:txBody>
      </p:sp>
      <p:sp>
        <p:nvSpPr>
          <p:cNvPr id="36" name="TextBox 35">
            <a:extLst>
              <a:ext uri="{FF2B5EF4-FFF2-40B4-BE49-F238E27FC236}">
                <a16:creationId xmlns:a16="http://schemas.microsoft.com/office/drawing/2014/main" id="{7CF49FF1-F269-C9D8-9D50-A99748B8442F}"/>
              </a:ext>
            </a:extLst>
          </p:cNvPr>
          <p:cNvSpPr txBox="1"/>
          <p:nvPr/>
        </p:nvSpPr>
        <p:spPr>
          <a:xfrm>
            <a:off x="4663578" y="2985251"/>
            <a:ext cx="340158" cy="276999"/>
          </a:xfrm>
          <a:prstGeom prst="rect">
            <a:avLst/>
          </a:prstGeom>
          <a:noFill/>
        </p:spPr>
        <p:txBody>
          <a:bodyPr wrap="none" rtlCol="0">
            <a:spAutoFit/>
          </a:bodyPr>
          <a:lstStyle/>
          <a:p>
            <a:r>
              <a:rPr lang="en-US" sz="1200" dirty="0">
                <a:solidFill>
                  <a:schemeClr val="tx1"/>
                </a:solidFill>
              </a:rPr>
              <a:t>2T</a:t>
            </a:r>
            <a:endParaRPr lang="en-US" sz="2800" dirty="0">
              <a:solidFill>
                <a:schemeClr val="tx1"/>
              </a:solidFill>
            </a:endParaRPr>
          </a:p>
        </p:txBody>
      </p:sp>
      <p:cxnSp>
        <p:nvCxnSpPr>
          <p:cNvPr id="39" name="Straight Connector 38">
            <a:extLst>
              <a:ext uri="{FF2B5EF4-FFF2-40B4-BE49-F238E27FC236}">
                <a16:creationId xmlns:a16="http://schemas.microsoft.com/office/drawing/2014/main" id="{34BDEE49-FF69-4114-91E9-BF3AE18AC46A}"/>
              </a:ext>
            </a:extLst>
          </p:cNvPr>
          <p:cNvCxnSpPr/>
          <p:nvPr/>
        </p:nvCxnSpPr>
        <p:spPr>
          <a:xfrm flipH="1">
            <a:off x="4773264" y="3212634"/>
            <a:ext cx="97821" cy="0"/>
          </a:xfrm>
          <a:prstGeom prst="line">
            <a:avLst/>
          </a:prstGeom>
          <a:ln>
            <a:solidFill>
              <a:schemeClr val="tx1"/>
            </a:solidFill>
          </a:ln>
        </p:spPr>
        <p:style>
          <a:lnRef idx="1">
            <a:schemeClr val="accent2"/>
          </a:lnRef>
          <a:fillRef idx="0">
            <a:schemeClr val="accent2"/>
          </a:fillRef>
          <a:effectRef idx="0">
            <a:schemeClr val="accent2"/>
          </a:effectRef>
          <a:fontRef idx="minor">
            <a:schemeClr val="tx1"/>
          </a:fontRef>
        </p:style>
      </p:cxnSp>
      <p:pic>
        <p:nvPicPr>
          <p:cNvPr id="40" name="Graphic 39" descr="Flag with solid fill">
            <a:extLst>
              <a:ext uri="{FF2B5EF4-FFF2-40B4-BE49-F238E27FC236}">
                <a16:creationId xmlns:a16="http://schemas.microsoft.com/office/drawing/2014/main" id="{8535F593-7ED2-7B3F-AD04-032AC07042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84402" y="3113816"/>
            <a:ext cx="213243" cy="213243"/>
          </a:xfrm>
          <a:prstGeom prst="rect">
            <a:avLst/>
          </a:prstGeom>
        </p:spPr>
      </p:pic>
      <p:pic>
        <p:nvPicPr>
          <p:cNvPr id="41" name="Graphic 40" descr="Flag with solid fill">
            <a:extLst>
              <a:ext uri="{FF2B5EF4-FFF2-40B4-BE49-F238E27FC236}">
                <a16:creationId xmlns:a16="http://schemas.microsoft.com/office/drawing/2014/main" id="{5FB65078-6499-FF7B-1BEE-B62CBBE5DC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53651" y="4157514"/>
            <a:ext cx="213243" cy="213243"/>
          </a:xfrm>
          <a:prstGeom prst="rect">
            <a:avLst/>
          </a:prstGeom>
        </p:spPr>
      </p:pic>
      <p:sp>
        <p:nvSpPr>
          <p:cNvPr id="42" name="TextBox 41">
            <a:extLst>
              <a:ext uri="{FF2B5EF4-FFF2-40B4-BE49-F238E27FC236}">
                <a16:creationId xmlns:a16="http://schemas.microsoft.com/office/drawing/2014/main" id="{1195EE7C-2701-F863-AB3E-610E631AE035}"/>
              </a:ext>
            </a:extLst>
          </p:cNvPr>
          <p:cNvSpPr txBox="1"/>
          <p:nvPr/>
        </p:nvSpPr>
        <p:spPr>
          <a:xfrm>
            <a:off x="5447939" y="3566847"/>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6" name="TextBox 45">
            <a:extLst>
              <a:ext uri="{FF2B5EF4-FFF2-40B4-BE49-F238E27FC236}">
                <a16:creationId xmlns:a16="http://schemas.microsoft.com/office/drawing/2014/main" id="{1B8ACA23-8EE7-8558-3FC7-263B0E11AF7F}"/>
              </a:ext>
            </a:extLst>
          </p:cNvPr>
          <p:cNvSpPr txBox="1"/>
          <p:nvPr/>
        </p:nvSpPr>
        <p:spPr>
          <a:xfrm rot="10800000">
            <a:off x="523685" y="3520460"/>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8" name="Rounded Rectangle 47">
            <a:extLst>
              <a:ext uri="{FF2B5EF4-FFF2-40B4-BE49-F238E27FC236}">
                <a16:creationId xmlns:a16="http://schemas.microsoft.com/office/drawing/2014/main" id="{774AFAFE-1157-2C73-9DEB-1798E1C107C1}"/>
              </a:ext>
            </a:extLst>
          </p:cNvPr>
          <p:cNvSpPr/>
          <p:nvPr/>
        </p:nvSpPr>
        <p:spPr>
          <a:xfrm>
            <a:off x="2437919" y="2273538"/>
            <a:ext cx="1532292" cy="324066"/>
          </a:xfrm>
          <a:prstGeom prst="roundRect">
            <a:avLst/>
          </a:prstGeom>
          <a:solidFill>
            <a:srgbClr val="D9E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Key Drivers ⌄</a:t>
            </a:r>
          </a:p>
        </p:txBody>
      </p:sp>
      <p:pic>
        <p:nvPicPr>
          <p:cNvPr id="49" name="Picture 2" descr="Collapse - Free arrows icons">
            <a:extLst>
              <a:ext uri="{FF2B5EF4-FFF2-40B4-BE49-F238E27FC236}">
                <a16:creationId xmlns:a16="http://schemas.microsoft.com/office/drawing/2014/main" id="{597F4A72-5A8B-6BA1-88F0-53ECDD987E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70532" y="2568553"/>
            <a:ext cx="254520" cy="254520"/>
          </a:xfrm>
          <a:prstGeom prst="rect">
            <a:avLst/>
          </a:prstGeom>
          <a:solidFill>
            <a:schemeClr val="bg1">
              <a:lumMod val="85000"/>
            </a:schemeClr>
          </a:solidFill>
          <a:ln>
            <a:solidFill>
              <a:schemeClr val="tx1"/>
            </a:solidFill>
          </a:ln>
        </p:spPr>
      </p:pic>
      <p:cxnSp>
        <p:nvCxnSpPr>
          <p:cNvPr id="50" name="Straight Connector 49">
            <a:extLst>
              <a:ext uri="{FF2B5EF4-FFF2-40B4-BE49-F238E27FC236}">
                <a16:creationId xmlns:a16="http://schemas.microsoft.com/office/drawing/2014/main" id="{CFCAC556-806D-CB72-3454-A5B3127E0260}"/>
              </a:ext>
            </a:extLst>
          </p:cNvPr>
          <p:cNvCxnSpPr/>
          <p:nvPr/>
        </p:nvCxnSpPr>
        <p:spPr>
          <a:xfrm>
            <a:off x="2431203" y="2568553"/>
            <a:ext cx="1451611" cy="0"/>
          </a:xfrm>
          <a:prstGeom prst="line">
            <a:avLst/>
          </a:prstGeom>
          <a:ln>
            <a:solidFill>
              <a:srgbClr val="1A6A24"/>
            </a:solidFill>
          </a:ln>
        </p:spPr>
        <p:style>
          <a:lnRef idx="2">
            <a:schemeClr val="accent1"/>
          </a:lnRef>
          <a:fillRef idx="0">
            <a:schemeClr val="accent1"/>
          </a:fillRef>
          <a:effectRef idx="1">
            <a:schemeClr val="accent1"/>
          </a:effectRef>
          <a:fontRef idx="minor">
            <a:schemeClr val="tx1"/>
          </a:fontRef>
        </p:style>
      </p:cxnSp>
      <p:sp>
        <p:nvSpPr>
          <p:cNvPr id="51" name="Rounded Rectangular Callout 50">
            <a:extLst>
              <a:ext uri="{FF2B5EF4-FFF2-40B4-BE49-F238E27FC236}">
                <a16:creationId xmlns:a16="http://schemas.microsoft.com/office/drawing/2014/main" id="{63698823-8FE0-8370-7D85-D2EDF86D83A3}"/>
              </a:ext>
            </a:extLst>
          </p:cNvPr>
          <p:cNvSpPr/>
          <p:nvPr/>
        </p:nvSpPr>
        <p:spPr>
          <a:xfrm>
            <a:off x="6398761" y="2251433"/>
            <a:ext cx="1778816" cy="668653"/>
          </a:xfrm>
          <a:prstGeom prst="wedgeRoundRectCallout">
            <a:avLst>
              <a:gd name="adj1" fmla="val -114656"/>
              <a:gd name="adj2" fmla="val 3023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On hover, a collapse icon will show to bring you to the multi-data preview window view</a:t>
            </a:r>
          </a:p>
        </p:txBody>
      </p:sp>
      <p:sp>
        <p:nvSpPr>
          <p:cNvPr id="52" name="Rounded Rectangular Callout 51">
            <a:extLst>
              <a:ext uri="{FF2B5EF4-FFF2-40B4-BE49-F238E27FC236}">
                <a16:creationId xmlns:a16="http://schemas.microsoft.com/office/drawing/2014/main" id="{AD2E13C9-9CCE-EF9D-1DC0-FC5C2B7D029D}"/>
              </a:ext>
            </a:extLst>
          </p:cNvPr>
          <p:cNvSpPr/>
          <p:nvPr/>
        </p:nvSpPr>
        <p:spPr>
          <a:xfrm>
            <a:off x="5284230" y="4248002"/>
            <a:ext cx="1778816" cy="918957"/>
          </a:xfrm>
          <a:prstGeom prst="wedgeRoundRectCallout">
            <a:avLst>
              <a:gd name="adj1" fmla="val -128549"/>
              <a:gd name="adj2" fmla="val -3629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Click on “implementation”, to open  the implementation score working space</a:t>
            </a:r>
          </a:p>
        </p:txBody>
      </p:sp>
      <p:sp>
        <p:nvSpPr>
          <p:cNvPr id="53" name="Rounded Rectangular Callout 52">
            <a:extLst>
              <a:ext uri="{FF2B5EF4-FFF2-40B4-BE49-F238E27FC236}">
                <a16:creationId xmlns:a16="http://schemas.microsoft.com/office/drawing/2014/main" id="{0FD5C52C-FA3F-F156-4E6C-EFF6C7994FE4}"/>
              </a:ext>
            </a:extLst>
          </p:cNvPr>
          <p:cNvSpPr/>
          <p:nvPr/>
        </p:nvSpPr>
        <p:spPr>
          <a:xfrm>
            <a:off x="6659094" y="3688291"/>
            <a:ext cx="1214955" cy="518726"/>
          </a:xfrm>
          <a:prstGeom prst="wedgeRoundRectCallout">
            <a:avLst>
              <a:gd name="adj1" fmla="val -127532"/>
              <a:gd name="adj2" fmla="val -1009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Toggle to next DPW</a:t>
            </a:r>
          </a:p>
        </p:txBody>
      </p:sp>
    </p:spTree>
    <p:extLst>
      <p:ext uri="{BB962C8B-B14F-4D97-AF65-F5344CB8AC3E}">
        <p14:creationId xmlns:p14="http://schemas.microsoft.com/office/powerpoint/2010/main" val="237906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F53F14-8F2E-0365-DFC0-C8EAF02E5396}"/>
            </a:ext>
          </a:extLst>
        </p:cNvPr>
        <p:cNvGrpSpPr/>
        <p:nvPr/>
      </p:nvGrpSpPr>
      <p:grpSpPr>
        <a:xfrm>
          <a:off x="0" y="0"/>
          <a:ext cx="0" cy="0"/>
          <a:chOff x="0" y="0"/>
          <a:chExt cx="0" cy="0"/>
        </a:xfrm>
      </p:grpSpPr>
      <p:pic>
        <p:nvPicPr>
          <p:cNvPr id="55" name="Picture 54" descr="A diagram of different types of learning&#10;&#10;Description automatically generated">
            <a:extLst>
              <a:ext uri="{FF2B5EF4-FFF2-40B4-BE49-F238E27FC236}">
                <a16:creationId xmlns:a16="http://schemas.microsoft.com/office/drawing/2014/main" id="{BD057138-B4D9-B5DE-FC27-1186AD089B18}"/>
              </a:ext>
            </a:extLst>
          </p:cNvPr>
          <p:cNvPicPr>
            <a:picLocks noChangeAspect="1"/>
          </p:cNvPicPr>
          <p:nvPr/>
        </p:nvPicPr>
        <p:blipFill>
          <a:blip r:embed="rId3"/>
          <a:stretch>
            <a:fillRect/>
          </a:stretch>
        </p:blipFill>
        <p:spPr>
          <a:xfrm>
            <a:off x="2812656" y="84768"/>
            <a:ext cx="941648" cy="837020"/>
          </a:xfrm>
          <a:prstGeom prst="rect">
            <a:avLst/>
          </a:prstGeom>
        </p:spPr>
      </p:pic>
      <p:sp>
        <p:nvSpPr>
          <p:cNvPr id="16" name="Google Shape;21498;p354">
            <a:extLst>
              <a:ext uri="{FF2B5EF4-FFF2-40B4-BE49-F238E27FC236}">
                <a16:creationId xmlns:a16="http://schemas.microsoft.com/office/drawing/2014/main" id="{848D5E49-09AD-C9E4-B727-6A4DA71E6C5A}"/>
              </a:ext>
            </a:extLst>
          </p:cNvPr>
          <p:cNvSpPr/>
          <p:nvPr/>
        </p:nvSpPr>
        <p:spPr>
          <a:xfrm>
            <a:off x="509884" y="1121540"/>
            <a:ext cx="5356000" cy="5356000"/>
          </a:xfrm>
          <a:prstGeom prst="octagon">
            <a:avLst>
              <a:gd name="adj" fmla="val 29289"/>
            </a:avLst>
          </a:prstGeom>
          <a:solidFill>
            <a:srgbClr val="D9EAD4"/>
          </a:solidFill>
          <a:ln w="13025" cap="flat" cmpd="sng">
            <a:solidFill>
              <a:srgbClr val="082836"/>
            </a:solidFill>
            <a:prstDash val="solid"/>
            <a:miter lim="800000"/>
            <a:headEnd type="none" w="sm" len="sm"/>
            <a:tailEnd type="none" w="sm" len="sm"/>
          </a:ln>
        </p:spPr>
        <p:txBody>
          <a:bodyPr spcFirstLastPara="1" wrap="square" lIns="83067" tIns="41533" rIns="83067" bIns="41533" anchor="ctr" anchorCtr="0">
            <a:noAutofit/>
          </a:bodyPr>
          <a:lstStyle/>
          <a:p>
            <a:pPr algn="ctr"/>
            <a:endParaRPr sz="1696">
              <a:solidFill>
                <a:srgbClr val="FFFFFF"/>
              </a:solidFill>
              <a:latin typeface="Arial"/>
              <a:ea typeface="Arial"/>
              <a:cs typeface="Arial"/>
              <a:sym typeface="Arial"/>
            </a:endParaRPr>
          </a:p>
        </p:txBody>
      </p:sp>
      <p:sp>
        <p:nvSpPr>
          <p:cNvPr id="23" name="Google Shape;21506;p354">
            <a:extLst>
              <a:ext uri="{FF2B5EF4-FFF2-40B4-BE49-F238E27FC236}">
                <a16:creationId xmlns:a16="http://schemas.microsoft.com/office/drawing/2014/main" id="{424A3BDA-EA67-8E4B-BE20-3444FBD85F0E}"/>
              </a:ext>
            </a:extLst>
          </p:cNvPr>
          <p:cNvSpPr txBox="1"/>
          <p:nvPr/>
        </p:nvSpPr>
        <p:spPr>
          <a:xfrm>
            <a:off x="2604134" y="6261106"/>
            <a:ext cx="1751536" cy="236868"/>
          </a:xfrm>
          <a:prstGeom prst="rect">
            <a:avLst/>
          </a:prstGeom>
          <a:noFill/>
          <a:ln>
            <a:noFill/>
          </a:ln>
        </p:spPr>
        <p:txBody>
          <a:bodyPr spcFirstLastPara="1" wrap="square" lIns="83067" tIns="41533" rIns="83067" bIns="41533" anchor="t" anchorCtr="0">
            <a:spAutoFit/>
          </a:bodyPr>
          <a:lstStyle/>
          <a:p>
            <a:pPr algn="ctr">
              <a:lnSpc>
                <a:spcPct val="71428"/>
              </a:lnSpc>
            </a:pPr>
            <a:r>
              <a:rPr lang="en" sz="1332" u="sng" dirty="0"/>
              <a:t>Craft (Month 3 of 6) </a:t>
            </a:r>
            <a:r>
              <a:rPr lang="en-US" sz="1200" b="1" dirty="0"/>
              <a:t>⌄</a:t>
            </a:r>
            <a:endParaRPr sz="1332" u="sng" dirty="0"/>
          </a:p>
        </p:txBody>
      </p:sp>
      <p:sp>
        <p:nvSpPr>
          <p:cNvPr id="27" name="Google Shape;21509;p354">
            <a:extLst>
              <a:ext uri="{FF2B5EF4-FFF2-40B4-BE49-F238E27FC236}">
                <a16:creationId xmlns:a16="http://schemas.microsoft.com/office/drawing/2014/main" id="{DC4AFC30-8500-2B25-20AB-DFC0936649EC}"/>
              </a:ext>
            </a:extLst>
          </p:cNvPr>
          <p:cNvSpPr txBox="1"/>
          <p:nvPr/>
        </p:nvSpPr>
        <p:spPr>
          <a:xfrm>
            <a:off x="1760834" y="1322947"/>
            <a:ext cx="2979402" cy="668653"/>
          </a:xfrm>
          <a:prstGeom prst="rect">
            <a:avLst/>
          </a:prstGeom>
          <a:noFill/>
          <a:ln>
            <a:noFill/>
          </a:ln>
        </p:spPr>
        <p:txBody>
          <a:bodyPr spcFirstLastPara="1" wrap="square" lIns="83067" tIns="41533" rIns="83067" bIns="41533" anchor="t" anchorCtr="0">
            <a:spAutoFit/>
          </a:bodyPr>
          <a:lstStyle/>
          <a:p>
            <a:pPr algn="ctr">
              <a:spcBef>
                <a:spcPts val="1200"/>
              </a:spcBef>
            </a:pPr>
            <a:r>
              <a:rPr lang="en" sz="2800" dirty="0">
                <a:solidFill>
                  <a:schemeClr val="accent3"/>
                </a:solidFill>
              </a:rPr>
              <a:t>Math</a:t>
            </a:r>
            <a:endParaRPr sz="4400" dirty="0">
              <a:solidFill>
                <a:schemeClr val="accent3"/>
              </a:solidFill>
            </a:endParaRPr>
          </a:p>
        </p:txBody>
      </p:sp>
      <p:sp>
        <p:nvSpPr>
          <p:cNvPr id="28" name="Google Shape;21510;p354">
            <a:extLst>
              <a:ext uri="{FF2B5EF4-FFF2-40B4-BE49-F238E27FC236}">
                <a16:creationId xmlns:a16="http://schemas.microsoft.com/office/drawing/2014/main" id="{D3F7008D-2676-2025-379B-49984A61A7C9}"/>
              </a:ext>
            </a:extLst>
          </p:cNvPr>
          <p:cNvSpPr txBox="1"/>
          <p:nvPr/>
        </p:nvSpPr>
        <p:spPr>
          <a:xfrm>
            <a:off x="1648671" y="5242985"/>
            <a:ext cx="1364424" cy="338554"/>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r>
              <a:rPr lang="en" sz="1600" dirty="0"/>
              <a:t>Outcomes</a:t>
            </a:r>
            <a:endParaRPr sz="1600" dirty="0"/>
          </a:p>
        </p:txBody>
      </p:sp>
      <p:sp>
        <p:nvSpPr>
          <p:cNvPr id="29" name="Google Shape;21511;p354">
            <a:extLst>
              <a:ext uri="{FF2B5EF4-FFF2-40B4-BE49-F238E27FC236}">
                <a16:creationId xmlns:a16="http://schemas.microsoft.com/office/drawing/2014/main" id="{DFC0B39A-B350-0098-7084-548A99998DE6}"/>
              </a:ext>
            </a:extLst>
          </p:cNvPr>
          <p:cNvSpPr txBox="1"/>
          <p:nvPr/>
        </p:nvSpPr>
        <p:spPr>
          <a:xfrm>
            <a:off x="3603281" y="5242415"/>
            <a:ext cx="1240385" cy="338554"/>
          </a:xfrm>
          <a:prstGeom prst="rect">
            <a:avLst/>
          </a:prstGeom>
          <a:noFill/>
        </p:spPr>
        <p:txBody>
          <a:bodyPr wrap="square" rtlCol="0">
            <a:spAutoFit/>
          </a:bodyPr>
          <a:lstStyle>
            <a:defPPr>
              <a:defRPr lang="en-US"/>
            </a:defPPr>
            <a:lvl1pPr>
              <a:defRPr sz="2000" u="sng">
                <a:solidFill>
                  <a:schemeClr val="tx2">
                    <a:lumMod val="50000"/>
                    <a:lumOff val="50000"/>
                  </a:schemeClr>
                </a:solidFill>
              </a:defRPr>
            </a:lvl1pPr>
          </a:lstStyle>
          <a:p>
            <a:r>
              <a:rPr lang="en" sz="1600" dirty="0"/>
              <a:t>Experience</a:t>
            </a:r>
            <a:endParaRPr sz="1600" dirty="0"/>
          </a:p>
        </p:txBody>
      </p:sp>
      <p:sp>
        <p:nvSpPr>
          <p:cNvPr id="30" name="Google Shape;123;p25">
            <a:extLst>
              <a:ext uri="{FF2B5EF4-FFF2-40B4-BE49-F238E27FC236}">
                <a16:creationId xmlns:a16="http://schemas.microsoft.com/office/drawing/2014/main" id="{1559EB7A-0984-6E5B-0131-8EB7FFB82227}"/>
              </a:ext>
            </a:extLst>
          </p:cNvPr>
          <p:cNvSpPr/>
          <p:nvPr/>
        </p:nvSpPr>
        <p:spPr>
          <a:xfrm>
            <a:off x="1793857" y="5593429"/>
            <a:ext cx="810277" cy="388356"/>
          </a:xfrm>
          <a:prstGeom prst="rect">
            <a:avLst/>
          </a:prstGeom>
          <a:solidFill>
            <a:srgbClr val="EA9999"/>
          </a:solidFill>
          <a:ln>
            <a:noFill/>
          </a:ln>
        </p:spPr>
        <p:txBody>
          <a:bodyPr spcFirstLastPara="1" wrap="square" lIns="0" tIns="0" rIns="0" bIns="0" anchor="ctr" anchorCtr="0">
            <a:noAutofit/>
          </a:bodyPr>
          <a:lstStyle/>
          <a:p>
            <a:pPr algn="ctr"/>
            <a:r>
              <a:rPr lang="en" sz="2400" dirty="0">
                <a:solidFill>
                  <a:schemeClr val="dk2"/>
                </a:solidFill>
                <a:latin typeface="Open Sans"/>
                <a:ea typeface="Open Sans"/>
                <a:cs typeface="Open Sans"/>
                <a:sym typeface="Open Sans"/>
              </a:rPr>
              <a:t>2</a:t>
            </a:r>
            <a:endParaRPr sz="2400" dirty="0">
              <a:solidFill>
                <a:schemeClr val="dk2"/>
              </a:solidFill>
              <a:latin typeface="Open Sans"/>
              <a:ea typeface="Open Sans"/>
              <a:cs typeface="Open Sans"/>
              <a:sym typeface="Open Sans"/>
            </a:endParaRPr>
          </a:p>
        </p:txBody>
      </p:sp>
      <p:sp>
        <p:nvSpPr>
          <p:cNvPr id="32" name="TextBox 31">
            <a:extLst>
              <a:ext uri="{FF2B5EF4-FFF2-40B4-BE49-F238E27FC236}">
                <a16:creationId xmlns:a16="http://schemas.microsoft.com/office/drawing/2014/main" id="{6A7133F9-EF04-3B08-C614-C372C90F0550}"/>
              </a:ext>
            </a:extLst>
          </p:cNvPr>
          <p:cNvSpPr txBox="1"/>
          <p:nvPr/>
        </p:nvSpPr>
        <p:spPr>
          <a:xfrm>
            <a:off x="2552967" y="5664496"/>
            <a:ext cx="1520589" cy="246221"/>
          </a:xfrm>
          <a:prstGeom prst="rect">
            <a:avLst/>
          </a:prstGeom>
          <a:noFill/>
        </p:spPr>
        <p:txBody>
          <a:bodyPr wrap="square" rtlCol="0">
            <a:spAutoFit/>
          </a:bodyPr>
          <a:lstStyle>
            <a:defPPr>
              <a:defRPr lang="en-US"/>
            </a:defPPr>
            <a:lvl1pPr>
              <a:defRPr sz="500" b="1">
                <a:solidFill>
                  <a:schemeClr val="tx1">
                    <a:lumMod val="50000"/>
                    <a:lumOff val="50000"/>
                  </a:schemeClr>
                </a:solidFill>
              </a:defRPr>
            </a:lvl1pPr>
          </a:lstStyle>
          <a:p>
            <a:r>
              <a:rPr lang="en-US" sz="1000" dirty="0"/>
              <a:t>--- Performance ---</a:t>
            </a:r>
          </a:p>
        </p:txBody>
      </p:sp>
      <p:sp>
        <p:nvSpPr>
          <p:cNvPr id="34" name="Google Shape;122;p25">
            <a:extLst>
              <a:ext uri="{FF2B5EF4-FFF2-40B4-BE49-F238E27FC236}">
                <a16:creationId xmlns:a16="http://schemas.microsoft.com/office/drawing/2014/main" id="{CA252E5F-EA2F-3D35-7350-0AD70EACB3E4}"/>
              </a:ext>
            </a:extLst>
          </p:cNvPr>
          <p:cNvSpPr/>
          <p:nvPr/>
        </p:nvSpPr>
        <p:spPr>
          <a:xfrm>
            <a:off x="3754304" y="5606992"/>
            <a:ext cx="810277" cy="394510"/>
          </a:xfrm>
          <a:prstGeom prst="rect">
            <a:avLst/>
          </a:prstGeom>
          <a:solidFill>
            <a:srgbClr val="FFFF00"/>
          </a:solidFill>
          <a:ln>
            <a:noFill/>
          </a:ln>
        </p:spPr>
        <p:txBody>
          <a:bodyPr spcFirstLastPara="1" wrap="square" lIns="75975" tIns="75975" rIns="75975" bIns="75975" anchor="ctr" anchorCtr="0">
            <a:noAutofit/>
          </a:bodyPr>
          <a:lstStyle/>
          <a:p>
            <a:pPr algn="ctr"/>
            <a:r>
              <a:rPr lang="en" sz="2400" dirty="0">
                <a:solidFill>
                  <a:schemeClr val="dk2"/>
                </a:solidFill>
                <a:latin typeface="Open Sans"/>
                <a:ea typeface="Open Sans"/>
                <a:cs typeface="Open Sans"/>
                <a:sym typeface="Open Sans"/>
              </a:rPr>
              <a:t>3</a:t>
            </a:r>
            <a:endParaRPr sz="2400" dirty="0">
              <a:solidFill>
                <a:schemeClr val="dk2"/>
              </a:solidFill>
              <a:latin typeface="Open Sans"/>
              <a:ea typeface="Open Sans"/>
              <a:cs typeface="Open Sans"/>
              <a:sym typeface="Open Sans"/>
            </a:endParaRPr>
          </a:p>
        </p:txBody>
      </p:sp>
      <p:sp>
        <p:nvSpPr>
          <p:cNvPr id="35" name="TextBox 34">
            <a:extLst>
              <a:ext uri="{FF2B5EF4-FFF2-40B4-BE49-F238E27FC236}">
                <a16:creationId xmlns:a16="http://schemas.microsoft.com/office/drawing/2014/main" id="{1F037C84-622F-C2C5-B353-C1ED335BFC39}"/>
              </a:ext>
            </a:extLst>
          </p:cNvPr>
          <p:cNvSpPr txBox="1"/>
          <p:nvPr/>
        </p:nvSpPr>
        <p:spPr>
          <a:xfrm>
            <a:off x="1403431" y="1982212"/>
            <a:ext cx="3656501" cy="238270"/>
          </a:xfrm>
          <a:prstGeom prst="rect">
            <a:avLst/>
          </a:prstGeom>
          <a:noFill/>
        </p:spPr>
        <p:txBody>
          <a:bodyPr wrap="square" rtlCol="0">
            <a:spAutoFit/>
          </a:bodyPr>
          <a:lstStyle/>
          <a:p>
            <a:pPr algn="ctr">
              <a:lnSpc>
                <a:spcPts val="1000"/>
              </a:lnSpc>
            </a:pPr>
            <a:r>
              <a:rPr lang="en-US" sz="1400" b="1" dirty="0">
                <a:latin typeface="+mj-lt"/>
              </a:rPr>
              <a:t>STEM: </a:t>
            </a:r>
            <a:r>
              <a:rPr lang="en-US" sz="1400" dirty="0">
                <a:latin typeface="+mj-lt"/>
              </a:rPr>
              <a:t>Algebra, Calculus</a:t>
            </a:r>
            <a:endParaRPr lang="en-US" sz="1400" b="1" dirty="0">
              <a:latin typeface="+mj-lt"/>
            </a:endParaRPr>
          </a:p>
        </p:txBody>
      </p:sp>
      <p:pic>
        <p:nvPicPr>
          <p:cNvPr id="37" name="Google Shape;2017;p43">
            <a:extLst>
              <a:ext uri="{FF2B5EF4-FFF2-40B4-BE49-F238E27FC236}">
                <a16:creationId xmlns:a16="http://schemas.microsoft.com/office/drawing/2014/main" id="{7EF4B22C-75CC-2DB9-B0C8-2AEFBD576A8F}"/>
              </a:ext>
            </a:extLst>
          </p:cNvPr>
          <p:cNvPicPr preferRelativeResize="0"/>
          <p:nvPr/>
        </p:nvPicPr>
        <p:blipFill rotWithShape="1">
          <a:blip r:embed="rId4">
            <a:alphaModFix/>
          </a:blip>
          <a:srcRect t="57094"/>
          <a:stretch/>
        </p:blipFill>
        <p:spPr>
          <a:xfrm rot="10800000">
            <a:off x="2105086" y="6181996"/>
            <a:ext cx="568466" cy="244066"/>
          </a:xfrm>
          <a:prstGeom prst="rect">
            <a:avLst/>
          </a:prstGeom>
          <a:noFill/>
          <a:ln>
            <a:noFill/>
          </a:ln>
        </p:spPr>
      </p:pic>
      <p:sp>
        <p:nvSpPr>
          <p:cNvPr id="38" name="Google Shape;2019;p43">
            <a:extLst>
              <a:ext uri="{FF2B5EF4-FFF2-40B4-BE49-F238E27FC236}">
                <a16:creationId xmlns:a16="http://schemas.microsoft.com/office/drawing/2014/main" id="{CB2FFC06-3FEE-4488-EF32-98A4A0FB7829}"/>
              </a:ext>
            </a:extLst>
          </p:cNvPr>
          <p:cNvSpPr/>
          <p:nvPr/>
        </p:nvSpPr>
        <p:spPr>
          <a:xfrm>
            <a:off x="2320554" y="6307081"/>
            <a:ext cx="135160" cy="132895"/>
          </a:xfrm>
          <a:prstGeom prst="ellipse">
            <a:avLst/>
          </a:prstGeom>
          <a:solidFill>
            <a:srgbClr val="8CD872"/>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152" name="Google Shape;21512;p354">
            <a:extLst>
              <a:ext uri="{FF2B5EF4-FFF2-40B4-BE49-F238E27FC236}">
                <a16:creationId xmlns:a16="http://schemas.microsoft.com/office/drawing/2014/main" id="{2EB3B1FE-3B91-ABAE-5A67-685A6518D001}"/>
              </a:ext>
            </a:extLst>
          </p:cNvPr>
          <p:cNvGrpSpPr/>
          <p:nvPr/>
        </p:nvGrpSpPr>
        <p:grpSpPr>
          <a:xfrm>
            <a:off x="2383518" y="980389"/>
            <a:ext cx="1583657" cy="615695"/>
            <a:chOff x="7996645" y="4997800"/>
            <a:chExt cx="1742072" cy="677281"/>
          </a:xfrm>
        </p:grpSpPr>
        <p:sp>
          <p:nvSpPr>
            <p:cNvPr id="1155" name="Google Shape;21513;p354">
              <a:extLst>
                <a:ext uri="{FF2B5EF4-FFF2-40B4-BE49-F238E27FC236}">
                  <a16:creationId xmlns:a16="http://schemas.microsoft.com/office/drawing/2014/main" id="{C54B4A73-F562-CEED-0C3E-2BC197574CA9}"/>
                </a:ext>
              </a:extLst>
            </p:cNvPr>
            <p:cNvSpPr txBox="1"/>
            <p:nvPr/>
          </p:nvSpPr>
          <p:spPr>
            <a:xfrm>
              <a:off x="7996645" y="5041113"/>
              <a:ext cx="1545903" cy="633968"/>
            </a:xfrm>
            <a:prstGeom prst="rect">
              <a:avLst/>
            </a:prstGeom>
            <a:noFill/>
            <a:ln>
              <a:noFill/>
            </a:ln>
          </p:spPr>
          <p:txBody>
            <a:bodyPr spcFirstLastPara="1" wrap="square" lIns="83067" tIns="41533" rIns="83067" bIns="41533" anchor="t" anchorCtr="0">
              <a:spAutoFit/>
            </a:bodyPr>
            <a:lstStyle/>
            <a:p>
              <a:r>
                <a:rPr lang="en" sz="3200" dirty="0">
                  <a:solidFill>
                    <a:srgbClr val="000000"/>
                  </a:solidFill>
                  <a:latin typeface="Arial"/>
                  <a:ea typeface="Arial"/>
                  <a:cs typeface="Arial"/>
                  <a:sym typeface="Arial"/>
                </a:rPr>
                <a:t>• • • • •               </a:t>
              </a:r>
              <a:endParaRPr dirty="0"/>
            </a:p>
          </p:txBody>
        </p:sp>
        <p:sp>
          <p:nvSpPr>
            <p:cNvPr id="1157" name="Google Shape;21514;p354">
              <a:extLst>
                <a:ext uri="{FF2B5EF4-FFF2-40B4-BE49-F238E27FC236}">
                  <a16:creationId xmlns:a16="http://schemas.microsoft.com/office/drawing/2014/main" id="{6EA78E17-10BE-1791-A79B-B46E5C951BFD}"/>
                </a:ext>
              </a:extLst>
            </p:cNvPr>
            <p:cNvSpPr txBox="1"/>
            <p:nvPr/>
          </p:nvSpPr>
          <p:spPr>
            <a:xfrm>
              <a:off x="8849517" y="4997800"/>
              <a:ext cx="889200" cy="566255"/>
            </a:xfrm>
            <a:prstGeom prst="rect">
              <a:avLst/>
            </a:prstGeom>
            <a:noFill/>
            <a:ln>
              <a:noFill/>
            </a:ln>
          </p:spPr>
          <p:txBody>
            <a:bodyPr spcFirstLastPara="1" wrap="square" lIns="83067" tIns="41533" rIns="83067" bIns="41533" anchor="t" anchorCtr="0">
              <a:spAutoFit/>
            </a:bodyPr>
            <a:lstStyle/>
            <a:p>
              <a:r>
                <a:rPr lang="en" sz="2800">
                  <a:solidFill>
                    <a:srgbClr val="000000"/>
                  </a:solidFill>
                  <a:latin typeface="Arial"/>
                  <a:ea typeface="Arial"/>
                  <a:cs typeface="Arial"/>
                  <a:sym typeface="Arial"/>
                </a:rPr>
                <a:t>   </a:t>
              </a:r>
              <a:r>
                <a:rPr lang="en" sz="1200">
                  <a:solidFill>
                    <a:srgbClr val="000000"/>
                  </a:solidFill>
                  <a:latin typeface="Arial"/>
                  <a:ea typeface="Arial"/>
                  <a:cs typeface="Arial"/>
                  <a:sym typeface="Arial"/>
                </a:rPr>
                <a:t>  </a:t>
              </a:r>
              <a:r>
                <a:rPr lang="en" sz="2000">
                  <a:solidFill>
                    <a:srgbClr val="000000"/>
                  </a:solidFill>
                  <a:latin typeface="Arial"/>
                  <a:ea typeface="Arial"/>
                  <a:cs typeface="Arial"/>
                  <a:sym typeface="Arial"/>
                </a:rPr>
                <a:t> ○</a:t>
              </a:r>
              <a:endParaRPr sz="2800"/>
            </a:p>
          </p:txBody>
        </p:sp>
      </p:grpSp>
      <p:sp>
        <p:nvSpPr>
          <p:cNvPr id="2" name="Rounded Rectangle 1">
            <a:extLst>
              <a:ext uri="{FF2B5EF4-FFF2-40B4-BE49-F238E27FC236}">
                <a16:creationId xmlns:a16="http://schemas.microsoft.com/office/drawing/2014/main" id="{00D6E91A-3E11-06D1-667B-967F5DAC0FF8}"/>
              </a:ext>
            </a:extLst>
          </p:cNvPr>
          <p:cNvSpPr/>
          <p:nvPr/>
        </p:nvSpPr>
        <p:spPr>
          <a:xfrm>
            <a:off x="916612" y="2662165"/>
            <a:ext cx="4568398" cy="2470023"/>
          </a:xfrm>
          <a:prstGeom prst="roundRect">
            <a:avLst/>
          </a:prstGeom>
          <a:solidFill>
            <a:srgbClr val="B5DDA8"/>
          </a:solidFill>
          <a:ln w="76200">
            <a:solidFill>
              <a:srgbClr val="D0EF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TextBox 41">
            <a:extLst>
              <a:ext uri="{FF2B5EF4-FFF2-40B4-BE49-F238E27FC236}">
                <a16:creationId xmlns:a16="http://schemas.microsoft.com/office/drawing/2014/main" id="{B427B1F8-6311-80D0-30DA-F17EAF18332F}"/>
              </a:ext>
            </a:extLst>
          </p:cNvPr>
          <p:cNvSpPr txBox="1"/>
          <p:nvPr/>
        </p:nvSpPr>
        <p:spPr>
          <a:xfrm>
            <a:off x="5447939" y="3566847"/>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6" name="TextBox 45">
            <a:extLst>
              <a:ext uri="{FF2B5EF4-FFF2-40B4-BE49-F238E27FC236}">
                <a16:creationId xmlns:a16="http://schemas.microsoft.com/office/drawing/2014/main" id="{B8B6D17B-7FEF-F152-AAD2-8C362324ABE1}"/>
              </a:ext>
            </a:extLst>
          </p:cNvPr>
          <p:cNvSpPr txBox="1"/>
          <p:nvPr/>
        </p:nvSpPr>
        <p:spPr>
          <a:xfrm rot="10800000">
            <a:off x="523685" y="3520460"/>
            <a:ext cx="292261" cy="584775"/>
          </a:xfrm>
          <a:prstGeom prst="rect">
            <a:avLst/>
          </a:prstGeom>
          <a:noFill/>
        </p:spPr>
        <p:txBody>
          <a:bodyPr wrap="square" rtlCol="0">
            <a:spAutoFit/>
          </a:bodyPr>
          <a:lstStyle/>
          <a:p>
            <a:r>
              <a:rPr lang="en-US" sz="3200" b="0" i="0" dirty="0">
                <a:solidFill>
                  <a:srgbClr val="424242"/>
                </a:solidFill>
                <a:effectLst/>
                <a:latin typeface="Arial Unicode MS" panose="020B0604020202020204" pitchFamily="34" charset="-128"/>
                <a:ea typeface="Arial Unicode MS" panose="020B0604020202020204" pitchFamily="34" charset="-128"/>
              </a:rPr>
              <a:t>►</a:t>
            </a:r>
            <a:endParaRPr lang="en-US" sz="3200" dirty="0"/>
          </a:p>
        </p:txBody>
      </p:sp>
      <p:sp>
        <p:nvSpPr>
          <p:cNvPr id="48" name="Rounded Rectangle 47">
            <a:extLst>
              <a:ext uri="{FF2B5EF4-FFF2-40B4-BE49-F238E27FC236}">
                <a16:creationId xmlns:a16="http://schemas.microsoft.com/office/drawing/2014/main" id="{2FFBAB6E-7325-6CF4-7C68-16DF8AAE3EA8}"/>
              </a:ext>
            </a:extLst>
          </p:cNvPr>
          <p:cNvSpPr/>
          <p:nvPr/>
        </p:nvSpPr>
        <p:spPr>
          <a:xfrm>
            <a:off x="2437919" y="2273538"/>
            <a:ext cx="1532292" cy="324066"/>
          </a:xfrm>
          <a:prstGeom prst="roundRect">
            <a:avLst/>
          </a:prstGeom>
          <a:solidFill>
            <a:srgbClr val="D9E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Description⌄</a:t>
            </a:r>
          </a:p>
        </p:txBody>
      </p:sp>
      <p:cxnSp>
        <p:nvCxnSpPr>
          <p:cNvPr id="50" name="Straight Connector 49">
            <a:extLst>
              <a:ext uri="{FF2B5EF4-FFF2-40B4-BE49-F238E27FC236}">
                <a16:creationId xmlns:a16="http://schemas.microsoft.com/office/drawing/2014/main" id="{D42DF631-F3B2-6265-F65F-448469F1A8BF}"/>
              </a:ext>
            </a:extLst>
          </p:cNvPr>
          <p:cNvCxnSpPr/>
          <p:nvPr/>
        </p:nvCxnSpPr>
        <p:spPr>
          <a:xfrm>
            <a:off x="2431203" y="2568553"/>
            <a:ext cx="1451611" cy="0"/>
          </a:xfrm>
          <a:prstGeom prst="line">
            <a:avLst/>
          </a:prstGeom>
          <a:ln>
            <a:solidFill>
              <a:srgbClr val="1A6A24"/>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2B7BDAD1-432F-3CE6-6C38-F99435D85BA9}"/>
              </a:ext>
            </a:extLst>
          </p:cNvPr>
          <p:cNvSpPr txBox="1"/>
          <p:nvPr/>
        </p:nvSpPr>
        <p:spPr>
          <a:xfrm>
            <a:off x="1051065" y="2816501"/>
            <a:ext cx="4396874" cy="2192908"/>
          </a:xfrm>
          <a:prstGeom prst="rect">
            <a:avLst/>
          </a:prstGeom>
          <a:noFill/>
        </p:spPr>
        <p:txBody>
          <a:bodyPr wrap="square" rtlCol="0">
            <a:spAutoFit/>
          </a:bodyPr>
          <a:lstStyle/>
          <a:p>
            <a:r>
              <a:rPr lang="en-US" sz="1050" b="1" dirty="0"/>
              <a:t>The Math Course</a:t>
            </a:r>
            <a:r>
              <a:rPr lang="en-US" sz="1050" dirty="0"/>
              <a:t> is designed to help students—often in middle or early high school—develop a clearer understanding of the pathways, expectations, and opportunities available in higher education. The course introduces students to different types of colleges and universities, admissions requirements, and financial aid options while also giving them the chance to explore majors, careers, and campus life.</a:t>
            </a:r>
          </a:p>
          <a:p>
            <a:endParaRPr lang="en-US" sz="1050" dirty="0"/>
          </a:p>
          <a:p>
            <a:r>
              <a:rPr lang="en-US" sz="1050" dirty="0"/>
              <a:t>Beyond simply providing information, a college exposure course focuses on building the skills and mindsets students need to see themselves as “college-capable.” The course aims to demystify higher education, expand students’ sense of what is possible, and motivate them to take concrete steps—academically and personally—toward their postsecondary goals.</a:t>
            </a:r>
          </a:p>
        </p:txBody>
      </p:sp>
    </p:spTree>
    <p:extLst>
      <p:ext uri="{BB962C8B-B14F-4D97-AF65-F5344CB8AC3E}">
        <p14:creationId xmlns:p14="http://schemas.microsoft.com/office/powerpoint/2010/main" val="2557766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28979</TotalTime>
  <Words>2375</Words>
  <Application>Microsoft Macintosh PowerPoint</Application>
  <PresentationFormat>Widescreen</PresentationFormat>
  <Paragraphs>606</Paragraphs>
  <Slides>23</Slides>
  <Notes>22</Notes>
  <HiddenSlides>6</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Arial Unicode MS</vt:lpstr>
      <vt:lpstr>Open Sans</vt:lpstr>
      <vt:lpstr>Play</vt:lpstr>
      <vt:lpstr>Office Theme</vt:lpstr>
      <vt:lpstr>Ring Component “Full Views”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Steven Denowitz</dc:creator>
  <cp:lastModifiedBy>Steven Denowitz</cp:lastModifiedBy>
  <cp:revision>7</cp:revision>
  <dcterms:created xsi:type="dcterms:W3CDTF">2026-03-10T17:41:46Z</dcterms:created>
  <dcterms:modified xsi:type="dcterms:W3CDTF">2026-04-20T23:09:00Z</dcterms:modified>
</cp:coreProperties>
</file>